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0" d="100"/>
          <a:sy n="80" d="100"/>
        </p:scale>
        <p:origin x="754"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96210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0.png"/><Relationship Id="rId7"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10" Type="http://schemas.openxmlformats.org/officeDocument/2006/relationships/image" Target="../media/image26.png"/><Relationship Id="rId4" Type="http://schemas.openxmlformats.org/officeDocument/2006/relationships/image" Target="../media/image21.png"/><Relationship Id="rId9"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28.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33.png"/><Relationship Id="rId11" Type="http://schemas.openxmlformats.org/officeDocument/2006/relationships/image" Target="../media/image36.png"/><Relationship Id="rId5" Type="http://schemas.openxmlformats.org/officeDocument/2006/relationships/image" Target="../media/image32.png"/><Relationship Id="rId10" Type="http://schemas.openxmlformats.org/officeDocument/2006/relationships/image" Target="../media/image35.png"/><Relationship Id="rId4" Type="http://schemas.openxmlformats.org/officeDocument/2006/relationships/image" Target="../media/image31.png"/><Relationship Id="rId9"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39.png"/><Relationship Id="rId4"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63A"/>
        </a:solidFill>
        <a:effectLst/>
      </p:bgPr>
    </p:bg>
    <p:spTree>
      <p:nvGrpSpPr>
        <p:cNvPr id="1" name=""/>
        <p:cNvGrpSpPr/>
        <p:nvPr/>
      </p:nvGrpSpPr>
      <p:grpSpPr>
        <a:xfrm>
          <a:off x="0" y="0"/>
          <a:ext cx="0" cy="0"/>
          <a:chOff x="0" y="0"/>
          <a:chExt cx="0" cy="0"/>
        </a:xfrm>
      </p:grpSpPr>
      <p:sp>
        <p:nvSpPr>
          <p:cNvPr id="2" name="Shape 0"/>
          <p:cNvSpPr/>
          <p:nvPr/>
        </p:nvSpPr>
        <p:spPr>
          <a:xfrm>
            <a:off x="-1463040" y="-1280160"/>
            <a:ext cx="3840480" cy="3840480"/>
          </a:xfrm>
          <a:prstGeom prst="ellipse">
            <a:avLst/>
          </a:prstGeom>
          <a:solidFill>
            <a:srgbClr val="5B4FE9">
              <a:alpha val="22000"/>
            </a:srgbClr>
          </a:solidFill>
          <a:ln/>
        </p:spPr>
      </p:sp>
      <p:sp>
        <p:nvSpPr>
          <p:cNvPr id="3" name="Shape 1"/>
          <p:cNvSpPr/>
          <p:nvPr/>
        </p:nvSpPr>
        <p:spPr>
          <a:xfrm>
            <a:off x="9692640" y="4206240"/>
            <a:ext cx="4206240" cy="4206240"/>
          </a:xfrm>
          <a:prstGeom prst="ellipse">
            <a:avLst/>
          </a:prstGeom>
          <a:solidFill>
            <a:srgbClr val="00D9C0">
              <a:alpha val="16000"/>
            </a:srgbClr>
          </a:solidFill>
          <a:ln/>
        </p:spPr>
      </p:sp>
      <p:sp>
        <p:nvSpPr>
          <p:cNvPr id="4" name="Shape 2"/>
          <p:cNvSpPr/>
          <p:nvPr/>
        </p:nvSpPr>
        <p:spPr>
          <a:xfrm>
            <a:off x="8778240" y="-1645920"/>
            <a:ext cx="2194560" cy="2194560"/>
          </a:xfrm>
          <a:prstGeom prst="ellipse">
            <a:avLst/>
          </a:prstGeom>
          <a:solidFill>
            <a:srgbClr val="00D9C0">
              <a:alpha val="12000"/>
            </a:srgbClr>
          </a:solidFill>
          <a:ln/>
        </p:spPr>
      </p:sp>
      <p:sp>
        <p:nvSpPr>
          <p:cNvPr id="5" name="Shape 3"/>
          <p:cNvSpPr/>
          <p:nvPr/>
        </p:nvSpPr>
        <p:spPr>
          <a:xfrm>
            <a:off x="5319065" y="822960"/>
            <a:ext cx="1554480" cy="1554480"/>
          </a:xfrm>
          <a:prstGeom prst="ellipse">
            <a:avLst/>
          </a:prstGeom>
          <a:solidFill>
            <a:srgbClr val="5B4FE9"/>
          </a:solidFill>
          <a:ln/>
          <a:effectLst>
            <a:outerShdw blurRad="76200" dist="25400" dir="5400000" algn="bl" rotWithShape="0">
              <a:srgbClr val="14163A">
                <a:alpha val="25000"/>
              </a:srgbClr>
            </a:outerShdw>
          </a:effectLst>
        </p:spPr>
      </p:sp>
      <p:pic>
        <p:nvPicPr>
          <p:cNvPr id="6" name="Image 0" descr="preencoded.png"/>
          <p:cNvPicPr>
            <a:picLocks noChangeAspect="1"/>
          </p:cNvPicPr>
          <p:nvPr/>
        </p:nvPicPr>
        <p:blipFill>
          <a:blip r:embed="rId3"/>
          <a:stretch>
            <a:fillRect/>
          </a:stretch>
        </p:blipFill>
        <p:spPr>
          <a:xfrm>
            <a:off x="5707685" y="1211580"/>
            <a:ext cx="777240" cy="777240"/>
          </a:xfrm>
          <a:prstGeom prst="rect">
            <a:avLst/>
          </a:prstGeom>
        </p:spPr>
      </p:pic>
      <p:sp>
        <p:nvSpPr>
          <p:cNvPr id="7" name="Text 4"/>
          <p:cNvSpPr txBox="1"/>
          <p:nvPr/>
        </p:nvSpPr>
        <p:spPr>
          <a:xfrm>
            <a:off x="0" y="2514600"/>
            <a:ext cx="12191695" cy="960120"/>
          </a:xfrm>
          <a:prstGeom prst="rect">
            <a:avLst/>
          </a:prstGeom>
          <a:noFill/>
          <a:ln/>
        </p:spPr>
        <p:txBody>
          <a:bodyPr wrap="square" rtlCol="0" anchor="ctr"/>
          <a:lstStyle/>
          <a:p>
            <a:pPr marL="0" indent="0" algn="ctr">
              <a:buNone/>
            </a:pPr>
            <a:r>
              <a:rPr lang="en-US" sz="5800" b="1" kern="0" spc="200" dirty="0">
                <a:solidFill>
                  <a:srgbClr val="FFFFFF"/>
                </a:solidFill>
                <a:latin typeface="Cambria" pitchFamily="34" charset="0"/>
                <a:ea typeface="Cambria" pitchFamily="34" charset="-122"/>
                <a:cs typeface="Cambria" pitchFamily="34" charset="-120"/>
              </a:rPr>
              <a:t>MEMORY OS</a:t>
            </a:r>
            <a:endParaRPr lang="en-US" sz="5800" dirty="0"/>
          </a:p>
        </p:txBody>
      </p:sp>
      <p:sp>
        <p:nvSpPr>
          <p:cNvPr id="8" name="Text 5"/>
          <p:cNvSpPr txBox="1"/>
          <p:nvPr/>
        </p:nvSpPr>
        <p:spPr>
          <a:xfrm>
            <a:off x="914400" y="3456432"/>
            <a:ext cx="10360152" cy="457200"/>
          </a:xfrm>
          <a:prstGeom prst="rect">
            <a:avLst/>
          </a:prstGeom>
          <a:noFill/>
          <a:ln/>
        </p:spPr>
        <p:txBody>
          <a:bodyPr wrap="square" rtlCol="0" anchor="ctr"/>
          <a:lstStyle/>
          <a:p>
            <a:pPr marL="0" indent="0" algn="ctr">
              <a:buNone/>
            </a:pPr>
            <a:r>
              <a:rPr lang="en-US" sz="1900" i="1" dirty="0">
                <a:solidFill>
                  <a:srgbClr val="00D9C0"/>
                </a:solidFill>
                <a:latin typeface="Calibri" pitchFamily="34" charset="0"/>
                <a:ea typeface="Calibri" pitchFamily="34" charset="-122"/>
                <a:cs typeface="Calibri" pitchFamily="34" charset="-120"/>
              </a:rPr>
              <a:t>An AI Assistant with Evolving Long-Term Memory</a:t>
            </a:r>
            <a:endParaRPr lang="en-US" sz="1900" dirty="0"/>
          </a:p>
        </p:txBody>
      </p:sp>
      <p:sp>
        <p:nvSpPr>
          <p:cNvPr id="9" name="Text 6"/>
          <p:cNvSpPr txBox="1"/>
          <p:nvPr/>
        </p:nvSpPr>
        <p:spPr>
          <a:xfrm>
            <a:off x="1984248" y="3977640"/>
            <a:ext cx="8229600" cy="457200"/>
          </a:xfrm>
          <a:prstGeom prst="rect">
            <a:avLst/>
          </a:prstGeom>
          <a:noFill/>
          <a:ln/>
        </p:spPr>
        <p:txBody>
          <a:bodyPr wrap="square" rtlCol="0" anchor="ctr"/>
          <a:lstStyle/>
          <a:p>
            <a:pPr marL="0" indent="0" algn="ctr">
              <a:buNone/>
            </a:pPr>
            <a:r>
              <a:rPr lang="en-US" sz="1300" dirty="0">
                <a:solidFill>
                  <a:srgbClr val="CADCFC"/>
                </a:solidFill>
                <a:latin typeface="Calibri" pitchFamily="34" charset="0"/>
                <a:ea typeface="Calibri" pitchFamily="34" charset="-122"/>
                <a:cs typeface="Calibri" pitchFamily="34" charset="-120"/>
              </a:rPr>
              <a:t>A persistent, self-updating memory system for intelligent and personalized conversations</a:t>
            </a:r>
            <a:endParaRPr lang="en-US" sz="1300" dirty="0"/>
          </a:p>
        </p:txBody>
      </p:sp>
      <p:sp>
        <p:nvSpPr>
          <p:cNvPr id="10" name="Shape 7"/>
          <p:cNvSpPr/>
          <p:nvPr/>
        </p:nvSpPr>
        <p:spPr>
          <a:xfrm>
            <a:off x="2657704" y="5769161"/>
            <a:ext cx="1737360" cy="457200"/>
          </a:xfrm>
          <a:prstGeom prst="roundRect">
            <a:avLst>
              <a:gd name="adj" fmla="val 50000"/>
            </a:avLst>
          </a:prstGeom>
          <a:solidFill>
            <a:srgbClr val="FFFFFF">
              <a:alpha val="12000"/>
            </a:srgbClr>
          </a:solidFill>
          <a:ln w="9525">
            <a:solidFill>
              <a:srgbClr val="00D9C0">
                <a:alpha val="60000"/>
              </a:srgbClr>
            </a:solidFill>
            <a:prstDash val="solid"/>
          </a:ln>
        </p:spPr>
      </p:sp>
      <p:sp>
        <p:nvSpPr>
          <p:cNvPr id="12" name="Shape 9"/>
          <p:cNvSpPr/>
          <p:nvPr/>
        </p:nvSpPr>
        <p:spPr>
          <a:xfrm>
            <a:off x="5225796" y="5806440"/>
            <a:ext cx="1737360" cy="457200"/>
          </a:xfrm>
          <a:prstGeom prst="roundRect">
            <a:avLst>
              <a:gd name="adj" fmla="val 50000"/>
            </a:avLst>
          </a:prstGeom>
          <a:solidFill>
            <a:srgbClr val="FFFFFF">
              <a:alpha val="12000"/>
            </a:srgbClr>
          </a:solidFill>
          <a:ln w="9525">
            <a:solidFill>
              <a:srgbClr val="00D9C0">
                <a:alpha val="60000"/>
              </a:srgbClr>
            </a:solidFill>
            <a:prstDash val="solid"/>
          </a:ln>
        </p:spPr>
        <p:txBody>
          <a:bodyPr/>
          <a:lstStyle/>
          <a:p>
            <a:endParaRPr lang="en-US" dirty="0"/>
          </a:p>
        </p:txBody>
      </p:sp>
      <p:sp>
        <p:nvSpPr>
          <p:cNvPr id="13" name="Text 10"/>
          <p:cNvSpPr txBox="1"/>
          <p:nvPr/>
        </p:nvSpPr>
        <p:spPr>
          <a:xfrm>
            <a:off x="5341468" y="5769161"/>
            <a:ext cx="1737360" cy="457200"/>
          </a:xfrm>
          <a:prstGeom prst="rect">
            <a:avLst/>
          </a:prstGeom>
          <a:noFill/>
          <a:ln/>
        </p:spPr>
        <p:txBody>
          <a:bodyPr wrap="square" rtlCol="0" anchor="ctr"/>
          <a:lstStyle/>
          <a:p>
            <a:pPr marL="0" indent="0" algn="ctr">
              <a:buNone/>
            </a:pPr>
            <a:endParaRPr lang="en-US" sz="1150" dirty="0"/>
          </a:p>
        </p:txBody>
      </p:sp>
      <p:sp>
        <p:nvSpPr>
          <p:cNvPr id="14" name="Shape 11"/>
          <p:cNvSpPr/>
          <p:nvPr/>
        </p:nvSpPr>
        <p:spPr>
          <a:xfrm>
            <a:off x="7909560" y="5781900"/>
            <a:ext cx="1737360" cy="457200"/>
          </a:xfrm>
          <a:prstGeom prst="roundRect">
            <a:avLst>
              <a:gd name="adj" fmla="val 50000"/>
            </a:avLst>
          </a:prstGeom>
          <a:solidFill>
            <a:srgbClr val="FFFFFF">
              <a:alpha val="12000"/>
            </a:srgbClr>
          </a:solidFill>
          <a:ln w="9525">
            <a:solidFill>
              <a:srgbClr val="00D9C0">
                <a:alpha val="60000"/>
              </a:srgbClr>
            </a:solidFill>
            <a:prstDash val="solid"/>
          </a:ln>
        </p:spPr>
      </p:sp>
      <p:sp>
        <p:nvSpPr>
          <p:cNvPr id="18" name="Text 15"/>
          <p:cNvSpPr txBox="1"/>
          <p:nvPr/>
        </p:nvSpPr>
        <p:spPr>
          <a:xfrm>
            <a:off x="0" y="5440680"/>
            <a:ext cx="12191695" cy="274320"/>
          </a:xfrm>
          <a:prstGeom prst="rect">
            <a:avLst/>
          </a:prstGeom>
          <a:noFill/>
          <a:ln/>
        </p:spPr>
        <p:txBody>
          <a:bodyPr wrap="square" rtlCol="0" anchor="ctr"/>
          <a:lstStyle/>
          <a:p>
            <a:pPr marL="0" indent="0" algn="ctr">
              <a:buNone/>
            </a:pPr>
            <a:r>
              <a:rPr lang="en-US" sz="1050" b="1" kern="0" spc="300" dirty="0">
                <a:solidFill>
                  <a:srgbClr val="6B6F9E"/>
                </a:solidFill>
                <a:latin typeface="Calibri" pitchFamily="34" charset="0"/>
                <a:ea typeface="Calibri" pitchFamily="34" charset="-122"/>
                <a:cs typeface="Calibri" pitchFamily="34" charset="-120"/>
              </a:rPr>
              <a:t>TEAM - MUJIWARA</a:t>
            </a:r>
            <a:endParaRPr lang="en-US" sz="1050" dirty="0"/>
          </a:p>
        </p:txBody>
      </p:sp>
      <p:sp>
        <p:nvSpPr>
          <p:cNvPr id="19" name="TextBox 18">
            <a:extLst>
              <a:ext uri="{FF2B5EF4-FFF2-40B4-BE49-F238E27FC236}">
                <a16:creationId xmlns:a16="http://schemas.microsoft.com/office/drawing/2014/main" id="{7A5B090B-B028-AA52-2C10-AFEA508B1370}"/>
              </a:ext>
            </a:extLst>
          </p:cNvPr>
          <p:cNvSpPr txBox="1"/>
          <p:nvPr/>
        </p:nvSpPr>
        <p:spPr>
          <a:xfrm>
            <a:off x="2805725" y="5806440"/>
            <a:ext cx="1461477" cy="461665"/>
          </a:xfrm>
          <a:prstGeom prst="rect">
            <a:avLst/>
          </a:prstGeom>
          <a:noFill/>
        </p:spPr>
        <p:txBody>
          <a:bodyPr wrap="square" rtlCol="0">
            <a:spAutoFit/>
          </a:bodyPr>
          <a:lstStyle/>
          <a:p>
            <a:pPr algn="ctr"/>
            <a:r>
              <a:rPr lang="en-US" sz="1200" dirty="0">
                <a:solidFill>
                  <a:schemeClr val="bg1"/>
                </a:solidFill>
              </a:rPr>
              <a:t>S Naga Sai Rohith</a:t>
            </a:r>
          </a:p>
          <a:p>
            <a:pPr algn="ctr"/>
            <a:r>
              <a:rPr lang="en-US" sz="1200" dirty="0">
                <a:solidFill>
                  <a:schemeClr val="bg1"/>
                </a:solidFill>
              </a:rPr>
              <a:t>25BCE1293</a:t>
            </a:r>
          </a:p>
        </p:txBody>
      </p:sp>
      <p:sp>
        <p:nvSpPr>
          <p:cNvPr id="21" name="TextBox 20">
            <a:extLst>
              <a:ext uri="{FF2B5EF4-FFF2-40B4-BE49-F238E27FC236}">
                <a16:creationId xmlns:a16="http://schemas.microsoft.com/office/drawing/2014/main" id="{5ADC3F0C-BF5D-2068-3D34-E97D6DDF0A55}"/>
              </a:ext>
            </a:extLst>
          </p:cNvPr>
          <p:cNvSpPr txBox="1"/>
          <p:nvPr/>
        </p:nvSpPr>
        <p:spPr>
          <a:xfrm>
            <a:off x="5319065" y="5839254"/>
            <a:ext cx="1461477" cy="461665"/>
          </a:xfrm>
          <a:prstGeom prst="rect">
            <a:avLst/>
          </a:prstGeom>
          <a:noFill/>
        </p:spPr>
        <p:txBody>
          <a:bodyPr wrap="square" rtlCol="0">
            <a:spAutoFit/>
          </a:bodyPr>
          <a:lstStyle/>
          <a:p>
            <a:pPr algn="ctr"/>
            <a:r>
              <a:rPr lang="en-US" sz="1200" dirty="0">
                <a:solidFill>
                  <a:schemeClr val="bg1"/>
                </a:solidFill>
              </a:rPr>
              <a:t>Syed Muzakkir</a:t>
            </a:r>
          </a:p>
          <a:p>
            <a:pPr algn="ctr"/>
            <a:r>
              <a:rPr lang="en-US" sz="1200" dirty="0">
                <a:solidFill>
                  <a:schemeClr val="bg1"/>
                </a:solidFill>
              </a:rPr>
              <a:t>25BCE1522</a:t>
            </a:r>
          </a:p>
        </p:txBody>
      </p:sp>
      <p:sp>
        <p:nvSpPr>
          <p:cNvPr id="23" name="TextBox 22">
            <a:extLst>
              <a:ext uri="{FF2B5EF4-FFF2-40B4-BE49-F238E27FC236}">
                <a16:creationId xmlns:a16="http://schemas.microsoft.com/office/drawing/2014/main" id="{2EE892D8-92D6-68A1-DAFD-333A48FCBED1}"/>
              </a:ext>
            </a:extLst>
          </p:cNvPr>
          <p:cNvSpPr txBox="1"/>
          <p:nvPr/>
        </p:nvSpPr>
        <p:spPr>
          <a:xfrm>
            <a:off x="7679721" y="5808863"/>
            <a:ext cx="2197037" cy="461665"/>
          </a:xfrm>
          <a:prstGeom prst="rect">
            <a:avLst/>
          </a:prstGeom>
          <a:noFill/>
        </p:spPr>
        <p:txBody>
          <a:bodyPr wrap="square" rtlCol="0">
            <a:spAutoFit/>
          </a:bodyPr>
          <a:lstStyle/>
          <a:p>
            <a:pPr algn="ctr"/>
            <a:r>
              <a:rPr lang="en-US" sz="1200" dirty="0">
                <a:solidFill>
                  <a:schemeClr val="bg1"/>
                </a:solidFill>
              </a:rPr>
              <a:t>M Venkata </a:t>
            </a:r>
            <a:r>
              <a:rPr lang="en-US" sz="1200" dirty="0" err="1">
                <a:solidFill>
                  <a:schemeClr val="bg1"/>
                </a:solidFill>
              </a:rPr>
              <a:t>Bhaswanth</a:t>
            </a:r>
            <a:r>
              <a:rPr lang="en-US" sz="1200" dirty="0">
                <a:solidFill>
                  <a:schemeClr val="bg1"/>
                </a:solidFill>
              </a:rPr>
              <a:t> Reddy</a:t>
            </a:r>
          </a:p>
          <a:p>
            <a:pPr algn="ctr"/>
            <a:r>
              <a:rPr lang="en-US" sz="1200" dirty="0">
                <a:solidFill>
                  <a:schemeClr val="bg1"/>
                </a:solidFill>
              </a:rPr>
              <a:t>25BCE1434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6FC"/>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rtlCol="0" anchor="ctr"/>
          <a:lstStyle/>
          <a:p>
            <a:pPr marL="0" indent="0">
              <a:buNone/>
            </a:pPr>
            <a:r>
              <a:rPr lang="en-US" sz="1250" b="1" kern="0" spc="200" dirty="0">
                <a:solidFill>
                  <a:srgbClr val="5B4FE9"/>
                </a:solidFill>
                <a:latin typeface="Calibri" pitchFamily="34" charset="0"/>
                <a:ea typeface="Calibri" pitchFamily="34" charset="-122"/>
                <a:cs typeface="Calibri" pitchFamily="34" charset="-120"/>
              </a:rPr>
              <a:t>PROBLEM STATEMENT</a:t>
            </a:r>
            <a:endParaRPr lang="en-US" sz="1250" dirty="0"/>
          </a:p>
        </p:txBody>
      </p:sp>
      <p:sp>
        <p:nvSpPr>
          <p:cNvPr id="3" name="Text 1"/>
          <p:cNvSpPr txBox="1"/>
          <p:nvPr/>
        </p:nvSpPr>
        <p:spPr>
          <a:xfrm>
            <a:off x="548640" y="566928"/>
            <a:ext cx="10515600" cy="640080"/>
          </a:xfrm>
          <a:prstGeom prst="rect">
            <a:avLst/>
          </a:prstGeom>
          <a:noFill/>
          <a:ln/>
        </p:spPr>
        <p:txBody>
          <a:bodyPr wrap="square" rtlCol="0" anchor="ctr"/>
          <a:lstStyle/>
          <a:p>
            <a:pPr marL="0" indent="0">
              <a:buNone/>
            </a:pPr>
            <a:r>
              <a:rPr lang="en-US" sz="3000" b="1" dirty="0">
                <a:solidFill>
                  <a:srgbClr val="14163A"/>
                </a:solidFill>
                <a:latin typeface="Cambria" pitchFamily="34" charset="0"/>
                <a:ea typeface="Cambria" pitchFamily="34" charset="-122"/>
                <a:cs typeface="Cambria" pitchFamily="34" charset="-120"/>
              </a:rPr>
              <a:t>The Problem</a:t>
            </a:r>
            <a:endParaRPr lang="en-US" sz="3000" dirty="0"/>
          </a:p>
        </p:txBody>
      </p:sp>
      <p:sp>
        <p:nvSpPr>
          <p:cNvPr id="4" name="Text 2"/>
          <p:cNvSpPr txBox="1"/>
          <p:nvPr/>
        </p:nvSpPr>
        <p:spPr>
          <a:xfrm>
            <a:off x="548640" y="1298448"/>
            <a:ext cx="6400800" cy="502920"/>
          </a:xfrm>
          <a:prstGeom prst="rect">
            <a:avLst/>
          </a:prstGeom>
          <a:noFill/>
          <a:ln/>
        </p:spPr>
        <p:txBody>
          <a:bodyPr wrap="square" rtlCol="0" anchor="ctr"/>
          <a:lstStyle/>
          <a:p>
            <a:pPr marL="0" indent="0">
              <a:buNone/>
            </a:pPr>
            <a:r>
              <a:rPr lang="en-US" sz="1300" dirty="0">
                <a:solidFill>
                  <a:srgbClr val="6B6F9E"/>
                </a:solidFill>
                <a:latin typeface="Calibri" pitchFamily="34" charset="0"/>
                <a:ea typeface="Calibri" pitchFamily="34" charset="-122"/>
                <a:cs typeface="Calibri" pitchFamily="34" charset="-120"/>
              </a:rPr>
              <a:t>Traditional AI assistants are often limited by session-based conversations and basic retrieval. They struggle to:</a:t>
            </a:r>
            <a:endParaRPr lang="en-US" sz="1300" dirty="0"/>
          </a:p>
        </p:txBody>
      </p:sp>
      <p:sp>
        <p:nvSpPr>
          <p:cNvPr id="5" name="Shape 3"/>
          <p:cNvSpPr/>
          <p:nvPr/>
        </p:nvSpPr>
        <p:spPr>
          <a:xfrm>
            <a:off x="585216" y="1993392"/>
            <a:ext cx="384048" cy="384048"/>
          </a:xfrm>
          <a:prstGeom prst="ellipse">
            <a:avLst/>
          </a:prstGeom>
          <a:solidFill>
            <a:srgbClr val="FDE7E6"/>
          </a:solidFill>
          <a:ln/>
        </p:spPr>
      </p:sp>
      <p:pic>
        <p:nvPicPr>
          <p:cNvPr id="6" name="Image 0" descr="preencoded.png"/>
          <p:cNvPicPr>
            <a:picLocks noChangeAspect="1"/>
          </p:cNvPicPr>
          <p:nvPr/>
        </p:nvPicPr>
        <p:blipFill>
          <a:blip r:embed="rId3"/>
          <a:stretch>
            <a:fillRect/>
          </a:stretch>
        </p:blipFill>
        <p:spPr>
          <a:xfrm>
            <a:off x="681228" y="2089404"/>
            <a:ext cx="192024" cy="192024"/>
          </a:xfrm>
          <a:prstGeom prst="rect">
            <a:avLst/>
          </a:prstGeom>
        </p:spPr>
      </p:pic>
      <p:sp>
        <p:nvSpPr>
          <p:cNvPr id="7" name="Text 4"/>
          <p:cNvSpPr txBox="1"/>
          <p:nvPr/>
        </p:nvSpPr>
        <p:spPr>
          <a:xfrm>
            <a:off x="1143000" y="1965960"/>
            <a:ext cx="5394960" cy="438912"/>
          </a:xfrm>
          <a:prstGeom prst="rect">
            <a:avLst/>
          </a:prstGeom>
          <a:noFill/>
          <a:ln/>
        </p:spPr>
        <p:txBody>
          <a:bodyPr wrap="square" rtlCol="0" anchor="ctr"/>
          <a:lstStyle/>
          <a:p>
            <a:pPr marL="0" indent="0">
              <a:buNone/>
            </a:pPr>
            <a:r>
              <a:rPr lang="en-US" sz="1300" dirty="0">
                <a:solidFill>
                  <a:srgbClr val="14163A"/>
                </a:solidFill>
                <a:latin typeface="Calibri" pitchFamily="34" charset="0"/>
                <a:ea typeface="Calibri" pitchFamily="34" charset="-122"/>
                <a:cs typeface="Calibri" pitchFamily="34" charset="-120"/>
              </a:rPr>
              <a:t>Remember information across different sessions</a:t>
            </a:r>
            <a:endParaRPr lang="en-US" sz="1300" dirty="0"/>
          </a:p>
        </p:txBody>
      </p:sp>
      <p:sp>
        <p:nvSpPr>
          <p:cNvPr id="8" name="Shape 5"/>
          <p:cNvSpPr/>
          <p:nvPr/>
        </p:nvSpPr>
        <p:spPr>
          <a:xfrm>
            <a:off x="585216" y="2569464"/>
            <a:ext cx="384048" cy="384048"/>
          </a:xfrm>
          <a:prstGeom prst="ellipse">
            <a:avLst/>
          </a:prstGeom>
          <a:solidFill>
            <a:srgbClr val="FDE7E6"/>
          </a:solidFill>
          <a:ln/>
        </p:spPr>
      </p:sp>
      <p:pic>
        <p:nvPicPr>
          <p:cNvPr id="9" name="Image 1" descr="preencoded.png"/>
          <p:cNvPicPr>
            <a:picLocks noChangeAspect="1"/>
          </p:cNvPicPr>
          <p:nvPr/>
        </p:nvPicPr>
        <p:blipFill>
          <a:blip r:embed="rId3"/>
          <a:stretch>
            <a:fillRect/>
          </a:stretch>
        </p:blipFill>
        <p:spPr>
          <a:xfrm>
            <a:off x="681228" y="2665476"/>
            <a:ext cx="192024" cy="192024"/>
          </a:xfrm>
          <a:prstGeom prst="rect">
            <a:avLst/>
          </a:prstGeom>
        </p:spPr>
      </p:pic>
      <p:sp>
        <p:nvSpPr>
          <p:cNvPr id="10" name="Text 6"/>
          <p:cNvSpPr txBox="1"/>
          <p:nvPr/>
        </p:nvSpPr>
        <p:spPr>
          <a:xfrm>
            <a:off x="1143000" y="2542032"/>
            <a:ext cx="5394960" cy="438912"/>
          </a:xfrm>
          <a:prstGeom prst="rect">
            <a:avLst/>
          </a:prstGeom>
          <a:noFill/>
          <a:ln/>
        </p:spPr>
        <p:txBody>
          <a:bodyPr wrap="square" rtlCol="0" anchor="ctr"/>
          <a:lstStyle/>
          <a:p>
            <a:pPr marL="0" indent="0">
              <a:buNone/>
            </a:pPr>
            <a:r>
              <a:rPr lang="en-US" sz="1300" dirty="0">
                <a:solidFill>
                  <a:srgbClr val="14163A"/>
                </a:solidFill>
                <a:latin typeface="Calibri" pitchFamily="34" charset="0"/>
                <a:ea typeface="Calibri" pitchFamily="34" charset="-122"/>
                <a:cs typeface="Calibri" pitchFamily="34" charset="-120"/>
              </a:rPr>
              <a:t>Understand when a user's information changes</a:t>
            </a:r>
            <a:endParaRPr lang="en-US" sz="1300" dirty="0"/>
          </a:p>
        </p:txBody>
      </p:sp>
      <p:sp>
        <p:nvSpPr>
          <p:cNvPr id="11" name="Shape 7"/>
          <p:cNvSpPr/>
          <p:nvPr/>
        </p:nvSpPr>
        <p:spPr>
          <a:xfrm>
            <a:off x="585216" y="3145536"/>
            <a:ext cx="384048" cy="384048"/>
          </a:xfrm>
          <a:prstGeom prst="ellipse">
            <a:avLst/>
          </a:prstGeom>
          <a:solidFill>
            <a:srgbClr val="FDE7E6"/>
          </a:solidFill>
          <a:ln/>
        </p:spPr>
      </p:sp>
      <p:pic>
        <p:nvPicPr>
          <p:cNvPr id="12" name="Image 2" descr="preencoded.png"/>
          <p:cNvPicPr>
            <a:picLocks noChangeAspect="1"/>
          </p:cNvPicPr>
          <p:nvPr/>
        </p:nvPicPr>
        <p:blipFill>
          <a:blip r:embed="rId3"/>
          <a:stretch>
            <a:fillRect/>
          </a:stretch>
        </p:blipFill>
        <p:spPr>
          <a:xfrm>
            <a:off x="681228" y="3241548"/>
            <a:ext cx="192024" cy="192024"/>
          </a:xfrm>
          <a:prstGeom prst="rect">
            <a:avLst/>
          </a:prstGeom>
        </p:spPr>
      </p:pic>
      <p:sp>
        <p:nvSpPr>
          <p:cNvPr id="13" name="Text 8"/>
          <p:cNvSpPr txBox="1"/>
          <p:nvPr/>
        </p:nvSpPr>
        <p:spPr>
          <a:xfrm>
            <a:off x="1143000" y="3118104"/>
            <a:ext cx="5394960" cy="438912"/>
          </a:xfrm>
          <a:prstGeom prst="rect">
            <a:avLst/>
          </a:prstGeom>
          <a:noFill/>
          <a:ln/>
        </p:spPr>
        <p:txBody>
          <a:bodyPr wrap="square" rtlCol="0" anchor="ctr"/>
          <a:lstStyle/>
          <a:p>
            <a:pPr marL="0" indent="0">
              <a:buNone/>
            </a:pPr>
            <a:r>
              <a:rPr lang="en-US" sz="1300" dirty="0">
                <a:solidFill>
                  <a:srgbClr val="14163A"/>
                </a:solidFill>
                <a:latin typeface="Calibri" pitchFamily="34" charset="0"/>
                <a:ea typeface="Calibri" pitchFamily="34" charset="-122"/>
                <a:cs typeface="Calibri" pitchFamily="34" charset="-120"/>
              </a:rPr>
              <a:t>Resolve contradictory memories</a:t>
            </a:r>
            <a:endParaRPr lang="en-US" sz="1300" dirty="0"/>
          </a:p>
        </p:txBody>
      </p:sp>
      <p:sp>
        <p:nvSpPr>
          <p:cNvPr id="14" name="Shape 9"/>
          <p:cNvSpPr/>
          <p:nvPr/>
        </p:nvSpPr>
        <p:spPr>
          <a:xfrm>
            <a:off x="585216" y="3721608"/>
            <a:ext cx="384048" cy="384048"/>
          </a:xfrm>
          <a:prstGeom prst="ellipse">
            <a:avLst/>
          </a:prstGeom>
          <a:solidFill>
            <a:srgbClr val="FDE7E6"/>
          </a:solidFill>
          <a:ln/>
        </p:spPr>
      </p:sp>
      <p:pic>
        <p:nvPicPr>
          <p:cNvPr id="15" name="Image 3" descr="preencoded.png"/>
          <p:cNvPicPr>
            <a:picLocks noChangeAspect="1"/>
          </p:cNvPicPr>
          <p:nvPr/>
        </p:nvPicPr>
        <p:blipFill>
          <a:blip r:embed="rId3"/>
          <a:stretch>
            <a:fillRect/>
          </a:stretch>
        </p:blipFill>
        <p:spPr>
          <a:xfrm>
            <a:off x="681228" y="3817620"/>
            <a:ext cx="192024" cy="192024"/>
          </a:xfrm>
          <a:prstGeom prst="rect">
            <a:avLst/>
          </a:prstGeom>
        </p:spPr>
      </p:pic>
      <p:sp>
        <p:nvSpPr>
          <p:cNvPr id="16" name="Text 10"/>
          <p:cNvSpPr txBox="1"/>
          <p:nvPr/>
        </p:nvSpPr>
        <p:spPr>
          <a:xfrm>
            <a:off x="1143000" y="3694176"/>
            <a:ext cx="5394960" cy="438912"/>
          </a:xfrm>
          <a:prstGeom prst="rect">
            <a:avLst/>
          </a:prstGeom>
          <a:noFill/>
          <a:ln/>
        </p:spPr>
        <p:txBody>
          <a:bodyPr wrap="square" rtlCol="0" anchor="ctr"/>
          <a:lstStyle/>
          <a:p>
            <a:pPr marL="0" indent="0">
              <a:buNone/>
            </a:pPr>
            <a:r>
              <a:rPr lang="en-US" sz="1300" dirty="0">
                <a:solidFill>
                  <a:srgbClr val="14163A"/>
                </a:solidFill>
                <a:latin typeface="Calibri" pitchFamily="34" charset="0"/>
                <a:ea typeface="Calibri" pitchFamily="34" charset="-122"/>
                <a:cs typeface="Calibri" pitchFamily="34" charset="-120"/>
              </a:rPr>
              <a:t>Identify outdated or irrelevant information</a:t>
            </a:r>
            <a:endParaRPr lang="en-US" sz="1300" dirty="0"/>
          </a:p>
        </p:txBody>
      </p:sp>
      <p:sp>
        <p:nvSpPr>
          <p:cNvPr id="17" name="Shape 11"/>
          <p:cNvSpPr/>
          <p:nvPr/>
        </p:nvSpPr>
        <p:spPr>
          <a:xfrm>
            <a:off x="585216" y="4297680"/>
            <a:ext cx="384048" cy="384048"/>
          </a:xfrm>
          <a:prstGeom prst="ellipse">
            <a:avLst/>
          </a:prstGeom>
          <a:solidFill>
            <a:srgbClr val="FDE7E6"/>
          </a:solidFill>
          <a:ln/>
        </p:spPr>
      </p:sp>
      <p:pic>
        <p:nvPicPr>
          <p:cNvPr id="18" name="Image 4" descr="preencoded.png"/>
          <p:cNvPicPr>
            <a:picLocks noChangeAspect="1"/>
          </p:cNvPicPr>
          <p:nvPr/>
        </p:nvPicPr>
        <p:blipFill>
          <a:blip r:embed="rId3"/>
          <a:stretch>
            <a:fillRect/>
          </a:stretch>
        </p:blipFill>
        <p:spPr>
          <a:xfrm>
            <a:off x="681228" y="4393692"/>
            <a:ext cx="192024" cy="192024"/>
          </a:xfrm>
          <a:prstGeom prst="rect">
            <a:avLst/>
          </a:prstGeom>
        </p:spPr>
      </p:pic>
      <p:sp>
        <p:nvSpPr>
          <p:cNvPr id="19" name="Text 12"/>
          <p:cNvSpPr txBox="1"/>
          <p:nvPr/>
        </p:nvSpPr>
        <p:spPr>
          <a:xfrm>
            <a:off x="1143000" y="4270248"/>
            <a:ext cx="5394960" cy="438912"/>
          </a:xfrm>
          <a:prstGeom prst="rect">
            <a:avLst/>
          </a:prstGeom>
          <a:noFill/>
          <a:ln/>
        </p:spPr>
        <p:txBody>
          <a:bodyPr wrap="square" rtlCol="0" anchor="ctr"/>
          <a:lstStyle/>
          <a:p>
            <a:pPr marL="0" indent="0">
              <a:buNone/>
            </a:pPr>
            <a:r>
              <a:rPr lang="en-US" sz="1300" dirty="0">
                <a:solidFill>
                  <a:srgbClr val="14163A"/>
                </a:solidFill>
                <a:latin typeface="Calibri" pitchFamily="34" charset="0"/>
                <a:ea typeface="Calibri" pitchFamily="34" charset="-122"/>
                <a:cs typeface="Calibri" pitchFamily="34" charset="-120"/>
              </a:rPr>
              <a:t>Distinguish between different users' memories</a:t>
            </a:r>
            <a:endParaRPr lang="en-US" sz="1300" dirty="0"/>
          </a:p>
        </p:txBody>
      </p:sp>
      <p:sp>
        <p:nvSpPr>
          <p:cNvPr id="20" name="Shape 13"/>
          <p:cNvSpPr/>
          <p:nvPr/>
        </p:nvSpPr>
        <p:spPr>
          <a:xfrm>
            <a:off x="585216" y="4873752"/>
            <a:ext cx="384048" cy="384048"/>
          </a:xfrm>
          <a:prstGeom prst="ellipse">
            <a:avLst/>
          </a:prstGeom>
          <a:solidFill>
            <a:srgbClr val="FDE7E6"/>
          </a:solidFill>
          <a:ln/>
        </p:spPr>
      </p:sp>
      <p:pic>
        <p:nvPicPr>
          <p:cNvPr id="21" name="Image 5" descr="preencoded.png"/>
          <p:cNvPicPr>
            <a:picLocks noChangeAspect="1"/>
          </p:cNvPicPr>
          <p:nvPr/>
        </p:nvPicPr>
        <p:blipFill>
          <a:blip r:embed="rId3"/>
          <a:stretch>
            <a:fillRect/>
          </a:stretch>
        </p:blipFill>
        <p:spPr>
          <a:xfrm>
            <a:off x="681228" y="4969764"/>
            <a:ext cx="192024" cy="192024"/>
          </a:xfrm>
          <a:prstGeom prst="rect">
            <a:avLst/>
          </a:prstGeom>
        </p:spPr>
      </p:pic>
      <p:sp>
        <p:nvSpPr>
          <p:cNvPr id="22" name="Text 14"/>
          <p:cNvSpPr txBox="1"/>
          <p:nvPr/>
        </p:nvSpPr>
        <p:spPr>
          <a:xfrm>
            <a:off x="1143000" y="4846320"/>
            <a:ext cx="5394960" cy="438912"/>
          </a:xfrm>
          <a:prstGeom prst="rect">
            <a:avLst/>
          </a:prstGeom>
          <a:noFill/>
          <a:ln/>
        </p:spPr>
        <p:txBody>
          <a:bodyPr wrap="square" rtlCol="0" anchor="ctr"/>
          <a:lstStyle/>
          <a:p>
            <a:pPr marL="0" indent="0">
              <a:buNone/>
            </a:pPr>
            <a:r>
              <a:rPr lang="en-US" sz="1300" dirty="0">
                <a:solidFill>
                  <a:srgbClr val="14163A"/>
                </a:solidFill>
                <a:latin typeface="Calibri" pitchFamily="34" charset="0"/>
                <a:ea typeface="Calibri" pitchFamily="34" charset="-122"/>
                <a:cs typeface="Calibri" pitchFamily="34" charset="-120"/>
              </a:rPr>
              <a:t>Explain which memory was responsible for an answer</a:t>
            </a:r>
            <a:endParaRPr lang="en-US" sz="1300" dirty="0"/>
          </a:p>
        </p:txBody>
      </p:sp>
      <p:sp>
        <p:nvSpPr>
          <p:cNvPr id="23" name="Shape 15"/>
          <p:cNvSpPr/>
          <p:nvPr/>
        </p:nvSpPr>
        <p:spPr>
          <a:xfrm>
            <a:off x="7223760" y="1280160"/>
            <a:ext cx="4434840" cy="4434840"/>
          </a:xfrm>
          <a:prstGeom prst="roundRect">
            <a:avLst>
              <a:gd name="adj" fmla="val 1649"/>
            </a:avLst>
          </a:prstGeom>
          <a:solidFill>
            <a:srgbClr val="14163A"/>
          </a:solidFill>
          <a:ln/>
          <a:effectLst>
            <a:outerShdw blurRad="101600" dist="38100" dir="5400000" algn="bl" rotWithShape="0">
              <a:srgbClr val="14163A">
                <a:alpha val="12000"/>
              </a:srgbClr>
            </a:outerShdw>
          </a:effectLst>
        </p:spPr>
      </p:sp>
      <p:sp>
        <p:nvSpPr>
          <p:cNvPr id="24" name="Shape 16"/>
          <p:cNvSpPr/>
          <p:nvPr/>
        </p:nvSpPr>
        <p:spPr>
          <a:xfrm>
            <a:off x="10607040" y="4754880"/>
            <a:ext cx="2011680" cy="2011680"/>
          </a:xfrm>
          <a:prstGeom prst="ellipse">
            <a:avLst/>
          </a:prstGeom>
          <a:solidFill>
            <a:srgbClr val="00D9C0">
              <a:alpha val="12000"/>
            </a:srgbClr>
          </a:solidFill>
          <a:ln/>
        </p:spPr>
      </p:sp>
      <p:sp>
        <p:nvSpPr>
          <p:cNvPr id="25" name="Shape 17"/>
          <p:cNvSpPr/>
          <p:nvPr/>
        </p:nvSpPr>
        <p:spPr>
          <a:xfrm>
            <a:off x="9002268" y="1714500"/>
            <a:ext cx="868680" cy="868680"/>
          </a:xfrm>
          <a:prstGeom prst="ellipse">
            <a:avLst/>
          </a:prstGeom>
          <a:solidFill>
            <a:srgbClr val="1E2166"/>
          </a:solidFill>
          <a:ln/>
        </p:spPr>
      </p:sp>
      <p:pic>
        <p:nvPicPr>
          <p:cNvPr id="26" name="Image 6" descr="preencoded.png"/>
          <p:cNvPicPr>
            <a:picLocks noChangeAspect="1"/>
          </p:cNvPicPr>
          <p:nvPr/>
        </p:nvPicPr>
        <p:blipFill>
          <a:blip r:embed="rId4"/>
          <a:stretch>
            <a:fillRect/>
          </a:stretch>
        </p:blipFill>
        <p:spPr>
          <a:xfrm>
            <a:off x="9219438" y="1931670"/>
            <a:ext cx="434340" cy="434340"/>
          </a:xfrm>
          <a:prstGeom prst="rect">
            <a:avLst/>
          </a:prstGeom>
        </p:spPr>
      </p:pic>
      <p:sp>
        <p:nvSpPr>
          <p:cNvPr id="27" name="Text 18"/>
          <p:cNvSpPr txBox="1"/>
          <p:nvPr/>
        </p:nvSpPr>
        <p:spPr>
          <a:xfrm>
            <a:off x="7543800" y="2788920"/>
            <a:ext cx="3794760" cy="274320"/>
          </a:xfrm>
          <a:prstGeom prst="rect">
            <a:avLst/>
          </a:prstGeom>
          <a:noFill/>
          <a:ln/>
        </p:spPr>
        <p:txBody>
          <a:bodyPr wrap="square" rtlCol="0" anchor="ctr"/>
          <a:lstStyle/>
          <a:p>
            <a:pPr marL="0" indent="0">
              <a:buNone/>
            </a:pPr>
            <a:r>
              <a:rPr lang="en-US" sz="1150" b="1" kern="0" spc="200" dirty="0">
                <a:solidFill>
                  <a:srgbClr val="00D9C0"/>
                </a:solidFill>
                <a:latin typeface="Calibri" pitchFamily="34" charset="0"/>
                <a:ea typeface="Calibri" pitchFamily="34" charset="-122"/>
                <a:cs typeface="Calibri" pitchFamily="34" charset="-120"/>
              </a:rPr>
              <a:t>CORE CHALLENGE</a:t>
            </a:r>
            <a:endParaRPr lang="en-US" sz="1150" dirty="0"/>
          </a:p>
        </p:txBody>
      </p:sp>
      <p:sp>
        <p:nvSpPr>
          <p:cNvPr id="28" name="Text 19"/>
          <p:cNvSpPr txBox="1"/>
          <p:nvPr/>
        </p:nvSpPr>
        <p:spPr>
          <a:xfrm>
            <a:off x="7543800" y="3108960"/>
            <a:ext cx="3794760" cy="2377440"/>
          </a:xfrm>
          <a:prstGeom prst="rect">
            <a:avLst/>
          </a:prstGeom>
          <a:noFill/>
          <a:ln/>
        </p:spPr>
        <p:txBody>
          <a:bodyPr wrap="square" rtlCol="0" anchor="ctr"/>
          <a:lstStyle/>
          <a:p>
            <a:pPr marL="0" indent="0">
              <a:lnSpc>
                <a:spcPct val="115000"/>
              </a:lnSpc>
              <a:buNone/>
            </a:pPr>
            <a:r>
              <a:rPr lang="en-US" sz="1750" i="1" dirty="0">
                <a:solidFill>
                  <a:srgbClr val="FFFFFF"/>
                </a:solidFill>
                <a:latin typeface="Cambria" pitchFamily="34" charset="0"/>
                <a:ea typeface="Cambria" pitchFamily="34" charset="-122"/>
                <a:cs typeface="Cambria" pitchFamily="34" charset="-120"/>
              </a:rPr>
              <a:t>Memory is not simply storing information — it is maintaining the correct state of information over time.</a:t>
            </a:r>
            <a:endParaRPr lang="en-US" sz="1750" dirty="0"/>
          </a:p>
        </p:txBody>
      </p:sp>
      <p:sp>
        <p:nvSpPr>
          <p:cNvPr id="29" name="Text 20"/>
          <p:cNvSpPr txBox="1"/>
          <p:nvPr/>
        </p:nvSpPr>
        <p:spPr>
          <a:xfrm>
            <a:off x="11475720" y="6473952"/>
            <a:ext cx="548640" cy="274320"/>
          </a:xfrm>
          <a:prstGeom prst="rect">
            <a:avLst/>
          </a:prstGeom>
          <a:noFill/>
          <a:ln/>
        </p:spPr>
        <p:txBody>
          <a:bodyPr wrap="square" rtlCol="0" anchor="ctr"/>
          <a:lstStyle/>
          <a:p>
            <a:pPr marL="0" indent="0" algn="r">
              <a:buNone/>
            </a:pPr>
            <a:r>
              <a:rPr lang="en-US" sz="900" dirty="0">
                <a:solidFill>
                  <a:srgbClr val="6B6F9E"/>
                </a:solidFill>
                <a:latin typeface="Calibri" pitchFamily="34" charset="0"/>
                <a:ea typeface="Calibri" pitchFamily="34" charset="-122"/>
                <a:cs typeface="Calibri" pitchFamily="34" charset="-120"/>
              </a:rPr>
              <a:t>02</a:t>
            </a:r>
            <a:endParaRPr lang="en-US" sz="900" dirty="0"/>
          </a:p>
        </p:txBody>
      </p:sp>
      <p:sp>
        <p:nvSpPr>
          <p:cNvPr id="30" name="Text 21"/>
          <p:cNvSpPr txBox="1"/>
          <p:nvPr/>
        </p:nvSpPr>
        <p:spPr>
          <a:xfrm>
            <a:off x="548640" y="6473952"/>
            <a:ext cx="2743200" cy="274320"/>
          </a:xfrm>
          <a:prstGeom prst="rect">
            <a:avLst/>
          </a:prstGeom>
          <a:noFill/>
          <a:ln/>
        </p:spPr>
        <p:txBody>
          <a:bodyPr wrap="square" rtlCol="0" anchor="ctr"/>
          <a:lstStyle/>
          <a:p>
            <a:pPr marL="0" indent="0">
              <a:buNone/>
            </a:pPr>
            <a:r>
              <a:rPr lang="en-US" sz="900" kern="0" spc="100" dirty="0">
                <a:solidFill>
                  <a:srgbClr val="6B6F9E"/>
                </a:solidFill>
                <a:latin typeface="Calibri" pitchFamily="34" charset="0"/>
                <a:ea typeface="Calibri" pitchFamily="34" charset="-122"/>
                <a:cs typeface="Calibri" pitchFamily="34" charset="-120"/>
              </a:rPr>
              <a:t>MEMORA</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6FC"/>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rtlCol="0" anchor="ctr"/>
          <a:lstStyle/>
          <a:p>
            <a:pPr marL="0" indent="0">
              <a:buNone/>
            </a:pPr>
            <a:r>
              <a:rPr lang="en-US" sz="1250" b="1" kern="0" spc="200" dirty="0">
                <a:solidFill>
                  <a:srgbClr val="5B4FE9"/>
                </a:solidFill>
                <a:latin typeface="Calibri" pitchFamily="34" charset="0"/>
                <a:ea typeface="Calibri" pitchFamily="34" charset="-122"/>
                <a:cs typeface="Calibri" pitchFamily="34" charset="-120"/>
              </a:rPr>
              <a:t>EXISTING APPROACH</a:t>
            </a:r>
            <a:endParaRPr lang="en-US" sz="1250" dirty="0"/>
          </a:p>
        </p:txBody>
      </p:sp>
      <p:sp>
        <p:nvSpPr>
          <p:cNvPr id="3" name="Text 1"/>
          <p:cNvSpPr txBox="1"/>
          <p:nvPr/>
        </p:nvSpPr>
        <p:spPr>
          <a:xfrm>
            <a:off x="548640" y="566928"/>
            <a:ext cx="10515600" cy="640080"/>
          </a:xfrm>
          <a:prstGeom prst="rect">
            <a:avLst/>
          </a:prstGeom>
          <a:noFill/>
          <a:ln/>
        </p:spPr>
        <p:txBody>
          <a:bodyPr wrap="square" rtlCol="0" anchor="ctr"/>
          <a:lstStyle/>
          <a:p>
            <a:pPr marL="0" indent="0">
              <a:buNone/>
            </a:pPr>
            <a:r>
              <a:rPr lang="en-US" sz="3000" b="1" dirty="0">
                <a:solidFill>
                  <a:srgbClr val="14163A"/>
                </a:solidFill>
                <a:latin typeface="Cambria" pitchFamily="34" charset="0"/>
                <a:ea typeface="Cambria" pitchFamily="34" charset="-122"/>
                <a:cs typeface="Cambria" pitchFamily="34" charset="-120"/>
              </a:rPr>
              <a:t>How Traditional RAG Works</a:t>
            </a:r>
            <a:endParaRPr lang="en-US" sz="3000" dirty="0"/>
          </a:p>
        </p:txBody>
      </p:sp>
      <p:sp>
        <p:nvSpPr>
          <p:cNvPr id="4" name="Shape 2"/>
          <p:cNvSpPr/>
          <p:nvPr/>
        </p:nvSpPr>
        <p:spPr>
          <a:xfrm>
            <a:off x="640080" y="1417320"/>
            <a:ext cx="3200400" cy="530352"/>
          </a:xfrm>
          <a:prstGeom prst="roundRect">
            <a:avLst>
              <a:gd name="adj" fmla="val 15517"/>
            </a:avLst>
          </a:prstGeom>
          <a:solidFill>
            <a:srgbClr val="FFFFFF"/>
          </a:solidFill>
          <a:ln w="9525">
            <a:solidFill>
              <a:srgbClr val="DCDCF0"/>
            </a:solidFill>
            <a:prstDash val="solid"/>
          </a:ln>
        </p:spPr>
      </p:sp>
      <p:sp>
        <p:nvSpPr>
          <p:cNvPr id="5" name="Text 3"/>
          <p:cNvSpPr txBox="1"/>
          <p:nvPr/>
        </p:nvSpPr>
        <p:spPr>
          <a:xfrm>
            <a:off x="640080" y="1417320"/>
            <a:ext cx="3200400" cy="530352"/>
          </a:xfrm>
          <a:prstGeom prst="rect">
            <a:avLst/>
          </a:prstGeom>
          <a:noFill/>
          <a:ln/>
        </p:spPr>
        <p:txBody>
          <a:bodyPr wrap="square" rtlCol="0" anchor="ctr"/>
          <a:lstStyle/>
          <a:p>
            <a:pPr marL="0" indent="0" algn="ctr">
              <a:buNone/>
            </a:pPr>
            <a:r>
              <a:rPr lang="en-US" sz="1250" b="1" dirty="0">
                <a:solidFill>
                  <a:srgbClr val="14163A"/>
                </a:solidFill>
                <a:latin typeface="Calibri" pitchFamily="34" charset="0"/>
                <a:ea typeface="Calibri" pitchFamily="34" charset="-122"/>
                <a:cs typeface="Calibri" pitchFamily="34" charset="-120"/>
              </a:rPr>
              <a:t>User Query</a:t>
            </a:r>
            <a:endParaRPr lang="en-US" sz="1250" dirty="0"/>
          </a:p>
        </p:txBody>
      </p:sp>
      <p:sp>
        <p:nvSpPr>
          <p:cNvPr id="6" name="Shape 4"/>
          <p:cNvSpPr/>
          <p:nvPr/>
        </p:nvSpPr>
        <p:spPr>
          <a:xfrm>
            <a:off x="2240280" y="1947672"/>
            <a:ext cx="0" cy="201168"/>
          </a:xfrm>
          <a:prstGeom prst="line">
            <a:avLst/>
          </a:prstGeom>
          <a:noFill/>
          <a:ln w="15875">
            <a:solidFill>
              <a:srgbClr val="6B6F9E"/>
            </a:solidFill>
            <a:prstDash val="solid"/>
            <a:tailEnd type="triangle"/>
          </a:ln>
        </p:spPr>
      </p:sp>
      <p:sp>
        <p:nvSpPr>
          <p:cNvPr id="7" name="Shape 5"/>
          <p:cNvSpPr/>
          <p:nvPr/>
        </p:nvSpPr>
        <p:spPr>
          <a:xfrm>
            <a:off x="640080" y="2148840"/>
            <a:ext cx="3200400" cy="530352"/>
          </a:xfrm>
          <a:prstGeom prst="roundRect">
            <a:avLst>
              <a:gd name="adj" fmla="val 15517"/>
            </a:avLst>
          </a:prstGeom>
          <a:solidFill>
            <a:srgbClr val="FFFFFF"/>
          </a:solidFill>
          <a:ln w="9525">
            <a:solidFill>
              <a:srgbClr val="DCDCF0"/>
            </a:solidFill>
            <a:prstDash val="solid"/>
          </a:ln>
        </p:spPr>
      </p:sp>
      <p:sp>
        <p:nvSpPr>
          <p:cNvPr id="8" name="Text 6"/>
          <p:cNvSpPr txBox="1"/>
          <p:nvPr/>
        </p:nvSpPr>
        <p:spPr>
          <a:xfrm>
            <a:off x="640080" y="2148840"/>
            <a:ext cx="3200400" cy="530352"/>
          </a:xfrm>
          <a:prstGeom prst="rect">
            <a:avLst/>
          </a:prstGeom>
          <a:noFill/>
          <a:ln/>
        </p:spPr>
        <p:txBody>
          <a:bodyPr wrap="square" rtlCol="0" anchor="ctr"/>
          <a:lstStyle/>
          <a:p>
            <a:pPr marL="0" indent="0" algn="ctr">
              <a:buNone/>
            </a:pPr>
            <a:r>
              <a:rPr lang="en-US" sz="1250" b="1" dirty="0">
                <a:solidFill>
                  <a:srgbClr val="14163A"/>
                </a:solidFill>
                <a:latin typeface="Calibri" pitchFamily="34" charset="0"/>
                <a:ea typeface="Calibri" pitchFamily="34" charset="-122"/>
                <a:cs typeface="Calibri" pitchFamily="34" charset="-120"/>
              </a:rPr>
              <a:t>Embedding</a:t>
            </a:r>
            <a:endParaRPr lang="en-US" sz="1250" dirty="0"/>
          </a:p>
        </p:txBody>
      </p:sp>
      <p:sp>
        <p:nvSpPr>
          <p:cNvPr id="9" name="Shape 7"/>
          <p:cNvSpPr/>
          <p:nvPr/>
        </p:nvSpPr>
        <p:spPr>
          <a:xfrm>
            <a:off x="2240280" y="2679192"/>
            <a:ext cx="0" cy="201168"/>
          </a:xfrm>
          <a:prstGeom prst="line">
            <a:avLst/>
          </a:prstGeom>
          <a:noFill/>
          <a:ln w="15875">
            <a:solidFill>
              <a:srgbClr val="6B6F9E"/>
            </a:solidFill>
            <a:prstDash val="solid"/>
            <a:tailEnd type="triangle"/>
          </a:ln>
        </p:spPr>
      </p:sp>
      <p:sp>
        <p:nvSpPr>
          <p:cNvPr id="10" name="Shape 8"/>
          <p:cNvSpPr/>
          <p:nvPr/>
        </p:nvSpPr>
        <p:spPr>
          <a:xfrm>
            <a:off x="640080" y="2880360"/>
            <a:ext cx="3200400" cy="530352"/>
          </a:xfrm>
          <a:prstGeom prst="roundRect">
            <a:avLst>
              <a:gd name="adj" fmla="val 15517"/>
            </a:avLst>
          </a:prstGeom>
          <a:solidFill>
            <a:srgbClr val="FFFFFF"/>
          </a:solidFill>
          <a:ln w="9525">
            <a:solidFill>
              <a:srgbClr val="DCDCF0"/>
            </a:solidFill>
            <a:prstDash val="solid"/>
          </a:ln>
        </p:spPr>
      </p:sp>
      <p:sp>
        <p:nvSpPr>
          <p:cNvPr id="11" name="Text 9"/>
          <p:cNvSpPr txBox="1"/>
          <p:nvPr/>
        </p:nvSpPr>
        <p:spPr>
          <a:xfrm>
            <a:off x="640080" y="2880360"/>
            <a:ext cx="3200400" cy="530352"/>
          </a:xfrm>
          <a:prstGeom prst="rect">
            <a:avLst/>
          </a:prstGeom>
          <a:noFill/>
          <a:ln/>
        </p:spPr>
        <p:txBody>
          <a:bodyPr wrap="square" rtlCol="0" anchor="ctr"/>
          <a:lstStyle/>
          <a:p>
            <a:pPr marL="0" indent="0" algn="ctr">
              <a:buNone/>
            </a:pPr>
            <a:r>
              <a:rPr lang="en-US" sz="1250" b="1" dirty="0">
                <a:solidFill>
                  <a:srgbClr val="14163A"/>
                </a:solidFill>
                <a:latin typeface="Calibri" pitchFamily="34" charset="0"/>
                <a:ea typeface="Calibri" pitchFamily="34" charset="-122"/>
                <a:cs typeface="Calibri" pitchFamily="34" charset="-120"/>
              </a:rPr>
              <a:t>Vector Database</a:t>
            </a:r>
            <a:endParaRPr lang="en-US" sz="1250" dirty="0"/>
          </a:p>
        </p:txBody>
      </p:sp>
      <p:sp>
        <p:nvSpPr>
          <p:cNvPr id="12" name="Shape 10"/>
          <p:cNvSpPr/>
          <p:nvPr/>
        </p:nvSpPr>
        <p:spPr>
          <a:xfrm>
            <a:off x="2240280" y="3410712"/>
            <a:ext cx="0" cy="201168"/>
          </a:xfrm>
          <a:prstGeom prst="line">
            <a:avLst/>
          </a:prstGeom>
          <a:noFill/>
          <a:ln w="15875">
            <a:solidFill>
              <a:srgbClr val="6B6F9E"/>
            </a:solidFill>
            <a:prstDash val="solid"/>
            <a:tailEnd type="triangle"/>
          </a:ln>
        </p:spPr>
      </p:sp>
      <p:sp>
        <p:nvSpPr>
          <p:cNvPr id="13" name="Shape 11"/>
          <p:cNvSpPr/>
          <p:nvPr/>
        </p:nvSpPr>
        <p:spPr>
          <a:xfrm>
            <a:off x="640080" y="3611880"/>
            <a:ext cx="3200400" cy="530352"/>
          </a:xfrm>
          <a:prstGeom prst="roundRect">
            <a:avLst>
              <a:gd name="adj" fmla="val 15517"/>
            </a:avLst>
          </a:prstGeom>
          <a:solidFill>
            <a:srgbClr val="FFFFFF"/>
          </a:solidFill>
          <a:ln w="9525">
            <a:solidFill>
              <a:srgbClr val="DCDCF0"/>
            </a:solidFill>
            <a:prstDash val="solid"/>
          </a:ln>
        </p:spPr>
      </p:sp>
      <p:sp>
        <p:nvSpPr>
          <p:cNvPr id="14" name="Text 12"/>
          <p:cNvSpPr txBox="1"/>
          <p:nvPr/>
        </p:nvSpPr>
        <p:spPr>
          <a:xfrm>
            <a:off x="640080" y="3611880"/>
            <a:ext cx="3200400" cy="530352"/>
          </a:xfrm>
          <a:prstGeom prst="rect">
            <a:avLst/>
          </a:prstGeom>
          <a:noFill/>
          <a:ln/>
        </p:spPr>
        <p:txBody>
          <a:bodyPr wrap="square" rtlCol="0" anchor="ctr"/>
          <a:lstStyle/>
          <a:p>
            <a:pPr marL="0" indent="0" algn="ctr">
              <a:buNone/>
            </a:pPr>
            <a:r>
              <a:rPr lang="en-US" sz="1250" b="1" dirty="0">
                <a:solidFill>
                  <a:srgbClr val="14163A"/>
                </a:solidFill>
                <a:latin typeface="Calibri" pitchFamily="34" charset="0"/>
                <a:ea typeface="Calibri" pitchFamily="34" charset="-122"/>
                <a:cs typeface="Calibri" pitchFamily="34" charset="-120"/>
              </a:rPr>
              <a:t>Top-K Similar Documents</a:t>
            </a:r>
            <a:endParaRPr lang="en-US" sz="1250" dirty="0"/>
          </a:p>
        </p:txBody>
      </p:sp>
      <p:sp>
        <p:nvSpPr>
          <p:cNvPr id="15" name="Shape 13"/>
          <p:cNvSpPr/>
          <p:nvPr/>
        </p:nvSpPr>
        <p:spPr>
          <a:xfrm>
            <a:off x="2240280" y="4142232"/>
            <a:ext cx="0" cy="201168"/>
          </a:xfrm>
          <a:prstGeom prst="line">
            <a:avLst/>
          </a:prstGeom>
          <a:noFill/>
          <a:ln w="15875">
            <a:solidFill>
              <a:srgbClr val="6B6F9E"/>
            </a:solidFill>
            <a:prstDash val="solid"/>
            <a:tailEnd type="triangle"/>
          </a:ln>
        </p:spPr>
      </p:sp>
      <p:sp>
        <p:nvSpPr>
          <p:cNvPr id="16" name="Shape 14"/>
          <p:cNvSpPr/>
          <p:nvPr/>
        </p:nvSpPr>
        <p:spPr>
          <a:xfrm>
            <a:off x="640080" y="4343400"/>
            <a:ext cx="3200400" cy="530352"/>
          </a:xfrm>
          <a:prstGeom prst="roundRect">
            <a:avLst>
              <a:gd name="adj" fmla="val 15517"/>
            </a:avLst>
          </a:prstGeom>
          <a:solidFill>
            <a:srgbClr val="FFFFFF"/>
          </a:solidFill>
          <a:ln w="9525">
            <a:solidFill>
              <a:srgbClr val="DCDCF0"/>
            </a:solidFill>
            <a:prstDash val="solid"/>
          </a:ln>
        </p:spPr>
      </p:sp>
      <p:sp>
        <p:nvSpPr>
          <p:cNvPr id="17" name="Text 15"/>
          <p:cNvSpPr txBox="1"/>
          <p:nvPr/>
        </p:nvSpPr>
        <p:spPr>
          <a:xfrm>
            <a:off x="640080" y="4343400"/>
            <a:ext cx="3200400" cy="530352"/>
          </a:xfrm>
          <a:prstGeom prst="rect">
            <a:avLst/>
          </a:prstGeom>
          <a:noFill/>
          <a:ln/>
        </p:spPr>
        <p:txBody>
          <a:bodyPr wrap="square" rtlCol="0" anchor="ctr"/>
          <a:lstStyle/>
          <a:p>
            <a:pPr marL="0" indent="0" algn="ctr">
              <a:buNone/>
            </a:pPr>
            <a:r>
              <a:rPr lang="en-US" sz="1250" b="1" dirty="0">
                <a:solidFill>
                  <a:srgbClr val="14163A"/>
                </a:solidFill>
                <a:latin typeface="Calibri" pitchFamily="34" charset="0"/>
                <a:ea typeface="Calibri" pitchFamily="34" charset="-122"/>
                <a:cs typeface="Calibri" pitchFamily="34" charset="-120"/>
              </a:rPr>
              <a:t>LLM</a:t>
            </a:r>
            <a:endParaRPr lang="en-US" sz="1250" dirty="0"/>
          </a:p>
        </p:txBody>
      </p:sp>
      <p:sp>
        <p:nvSpPr>
          <p:cNvPr id="18" name="Shape 16"/>
          <p:cNvSpPr/>
          <p:nvPr/>
        </p:nvSpPr>
        <p:spPr>
          <a:xfrm>
            <a:off x="2240280" y="4873752"/>
            <a:ext cx="0" cy="201168"/>
          </a:xfrm>
          <a:prstGeom prst="line">
            <a:avLst/>
          </a:prstGeom>
          <a:noFill/>
          <a:ln w="15875">
            <a:solidFill>
              <a:srgbClr val="6B6F9E"/>
            </a:solidFill>
            <a:prstDash val="solid"/>
            <a:tailEnd type="triangle"/>
          </a:ln>
        </p:spPr>
      </p:sp>
      <p:sp>
        <p:nvSpPr>
          <p:cNvPr id="19" name="Shape 17"/>
          <p:cNvSpPr/>
          <p:nvPr/>
        </p:nvSpPr>
        <p:spPr>
          <a:xfrm>
            <a:off x="640080" y="5074920"/>
            <a:ext cx="3200400" cy="530352"/>
          </a:xfrm>
          <a:prstGeom prst="roundRect">
            <a:avLst>
              <a:gd name="adj" fmla="val 15517"/>
            </a:avLst>
          </a:prstGeom>
          <a:solidFill>
            <a:srgbClr val="5B4FE9"/>
          </a:solidFill>
          <a:ln/>
        </p:spPr>
      </p:sp>
      <p:sp>
        <p:nvSpPr>
          <p:cNvPr id="20" name="Text 18"/>
          <p:cNvSpPr txBox="1"/>
          <p:nvPr/>
        </p:nvSpPr>
        <p:spPr>
          <a:xfrm>
            <a:off x="640080" y="5074920"/>
            <a:ext cx="3200400" cy="530352"/>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Answer</a:t>
            </a:r>
            <a:endParaRPr lang="en-US" sz="1250" dirty="0"/>
          </a:p>
        </p:txBody>
      </p:sp>
      <p:sp>
        <p:nvSpPr>
          <p:cNvPr id="21" name="Shape 19"/>
          <p:cNvSpPr/>
          <p:nvPr/>
        </p:nvSpPr>
        <p:spPr>
          <a:xfrm>
            <a:off x="4343400" y="1417320"/>
            <a:ext cx="7315200" cy="3520440"/>
          </a:xfrm>
          <a:prstGeom prst="roundRect">
            <a:avLst>
              <a:gd name="adj" fmla="val 2078"/>
            </a:avLst>
          </a:prstGeom>
          <a:solidFill>
            <a:srgbClr val="FFFFFF"/>
          </a:solidFill>
          <a:ln w="9525">
            <a:solidFill>
              <a:srgbClr val="DCDCF0"/>
            </a:solidFill>
            <a:prstDash val="solid"/>
          </a:ln>
        </p:spPr>
      </p:sp>
      <p:sp>
        <p:nvSpPr>
          <p:cNvPr id="22" name="Text 20"/>
          <p:cNvSpPr txBox="1"/>
          <p:nvPr/>
        </p:nvSpPr>
        <p:spPr>
          <a:xfrm>
            <a:off x="4663440" y="1645920"/>
            <a:ext cx="5486400" cy="274320"/>
          </a:xfrm>
          <a:prstGeom prst="rect">
            <a:avLst/>
          </a:prstGeom>
          <a:noFill/>
          <a:ln/>
        </p:spPr>
        <p:txBody>
          <a:bodyPr wrap="square" rtlCol="0" anchor="ctr"/>
          <a:lstStyle/>
          <a:p>
            <a:pPr marL="0" indent="0">
              <a:buNone/>
            </a:pPr>
            <a:r>
              <a:rPr lang="en-US" sz="1200" b="1" kern="0" spc="200" dirty="0">
                <a:solidFill>
                  <a:srgbClr val="E8635C"/>
                </a:solidFill>
                <a:latin typeface="Calibri" pitchFamily="34" charset="0"/>
                <a:ea typeface="Calibri" pitchFamily="34" charset="-122"/>
                <a:cs typeface="Calibri" pitchFamily="34" charset="-120"/>
              </a:rPr>
              <a:t>LIMITATIONS</a:t>
            </a:r>
            <a:endParaRPr lang="en-US" sz="1200" dirty="0"/>
          </a:p>
        </p:txBody>
      </p:sp>
      <p:sp>
        <p:nvSpPr>
          <p:cNvPr id="23" name="Shape 21"/>
          <p:cNvSpPr/>
          <p:nvPr/>
        </p:nvSpPr>
        <p:spPr>
          <a:xfrm>
            <a:off x="4818888" y="2075688"/>
            <a:ext cx="329184" cy="329184"/>
          </a:xfrm>
          <a:prstGeom prst="ellipse">
            <a:avLst/>
          </a:prstGeom>
          <a:solidFill>
            <a:srgbClr val="FDE7E6"/>
          </a:solidFill>
          <a:ln/>
        </p:spPr>
      </p:sp>
      <p:pic>
        <p:nvPicPr>
          <p:cNvPr id="24" name="Image 0" descr="preencoded.png"/>
          <p:cNvPicPr>
            <a:picLocks noChangeAspect="1"/>
          </p:cNvPicPr>
          <p:nvPr/>
        </p:nvPicPr>
        <p:blipFill>
          <a:blip r:embed="rId3"/>
          <a:stretch>
            <a:fillRect/>
          </a:stretch>
        </p:blipFill>
        <p:spPr>
          <a:xfrm>
            <a:off x="4901184" y="2157984"/>
            <a:ext cx="164592" cy="164592"/>
          </a:xfrm>
          <a:prstGeom prst="rect">
            <a:avLst/>
          </a:prstGeom>
        </p:spPr>
      </p:pic>
      <p:sp>
        <p:nvSpPr>
          <p:cNvPr id="25" name="Text 22"/>
          <p:cNvSpPr txBox="1"/>
          <p:nvPr/>
        </p:nvSpPr>
        <p:spPr>
          <a:xfrm>
            <a:off x="5303520" y="2057400"/>
            <a:ext cx="6126480" cy="384048"/>
          </a:xfrm>
          <a:prstGeom prst="rect">
            <a:avLst/>
          </a:prstGeom>
          <a:noFill/>
          <a:ln/>
        </p:spPr>
        <p:txBody>
          <a:bodyPr wrap="square" rtlCol="0" anchor="ctr"/>
          <a:lstStyle/>
          <a:p>
            <a:pPr marL="0" indent="0">
              <a:buNone/>
            </a:pPr>
            <a:r>
              <a:rPr lang="en-US" sz="1250" dirty="0">
                <a:solidFill>
                  <a:srgbClr val="14163A"/>
                </a:solidFill>
                <a:latin typeface="Calibri" pitchFamily="34" charset="0"/>
                <a:ea typeface="Calibri" pitchFamily="34" charset="-122"/>
                <a:cs typeface="Calibri" pitchFamily="34" charset="-120"/>
              </a:rPr>
              <a:t>Treats retrieved information as static</a:t>
            </a:r>
            <a:endParaRPr lang="en-US" sz="1250" dirty="0"/>
          </a:p>
        </p:txBody>
      </p:sp>
      <p:sp>
        <p:nvSpPr>
          <p:cNvPr id="26" name="Shape 23"/>
          <p:cNvSpPr/>
          <p:nvPr/>
        </p:nvSpPr>
        <p:spPr>
          <a:xfrm>
            <a:off x="4818888" y="2514600"/>
            <a:ext cx="329184" cy="329184"/>
          </a:xfrm>
          <a:prstGeom prst="ellipse">
            <a:avLst/>
          </a:prstGeom>
          <a:solidFill>
            <a:srgbClr val="FDE7E6"/>
          </a:solidFill>
          <a:ln/>
        </p:spPr>
      </p:sp>
      <p:pic>
        <p:nvPicPr>
          <p:cNvPr id="27" name="Image 1" descr="preencoded.png"/>
          <p:cNvPicPr>
            <a:picLocks noChangeAspect="1"/>
          </p:cNvPicPr>
          <p:nvPr/>
        </p:nvPicPr>
        <p:blipFill>
          <a:blip r:embed="rId3"/>
          <a:stretch>
            <a:fillRect/>
          </a:stretch>
        </p:blipFill>
        <p:spPr>
          <a:xfrm>
            <a:off x="4901184" y="2596896"/>
            <a:ext cx="164592" cy="164592"/>
          </a:xfrm>
          <a:prstGeom prst="rect">
            <a:avLst/>
          </a:prstGeom>
        </p:spPr>
      </p:pic>
      <p:sp>
        <p:nvSpPr>
          <p:cNvPr id="28" name="Text 24"/>
          <p:cNvSpPr txBox="1"/>
          <p:nvPr/>
        </p:nvSpPr>
        <p:spPr>
          <a:xfrm>
            <a:off x="5303520" y="2496312"/>
            <a:ext cx="6126480" cy="384048"/>
          </a:xfrm>
          <a:prstGeom prst="rect">
            <a:avLst/>
          </a:prstGeom>
          <a:noFill/>
          <a:ln/>
        </p:spPr>
        <p:txBody>
          <a:bodyPr wrap="square" rtlCol="0" anchor="ctr"/>
          <a:lstStyle/>
          <a:p>
            <a:pPr marL="0" indent="0">
              <a:buNone/>
            </a:pPr>
            <a:r>
              <a:rPr lang="en-US" sz="1250" dirty="0">
                <a:solidFill>
                  <a:srgbClr val="14163A"/>
                </a:solidFill>
                <a:latin typeface="Calibri" pitchFamily="34" charset="0"/>
                <a:ea typeface="Calibri" pitchFamily="34" charset="-122"/>
                <a:cs typeface="Calibri" pitchFamily="34" charset="-120"/>
              </a:rPr>
              <a:t>Doesn't properly handle contradictions</a:t>
            </a:r>
            <a:endParaRPr lang="en-US" sz="1250" dirty="0"/>
          </a:p>
        </p:txBody>
      </p:sp>
      <p:sp>
        <p:nvSpPr>
          <p:cNvPr id="29" name="Shape 25"/>
          <p:cNvSpPr/>
          <p:nvPr/>
        </p:nvSpPr>
        <p:spPr>
          <a:xfrm>
            <a:off x="4818888" y="2953512"/>
            <a:ext cx="329184" cy="329184"/>
          </a:xfrm>
          <a:prstGeom prst="ellipse">
            <a:avLst/>
          </a:prstGeom>
          <a:solidFill>
            <a:srgbClr val="FDE7E6"/>
          </a:solidFill>
          <a:ln/>
        </p:spPr>
      </p:sp>
      <p:pic>
        <p:nvPicPr>
          <p:cNvPr id="30" name="Image 2" descr="preencoded.png"/>
          <p:cNvPicPr>
            <a:picLocks noChangeAspect="1"/>
          </p:cNvPicPr>
          <p:nvPr/>
        </p:nvPicPr>
        <p:blipFill>
          <a:blip r:embed="rId3"/>
          <a:stretch>
            <a:fillRect/>
          </a:stretch>
        </p:blipFill>
        <p:spPr>
          <a:xfrm>
            <a:off x="4901184" y="3035808"/>
            <a:ext cx="164592" cy="164592"/>
          </a:xfrm>
          <a:prstGeom prst="rect">
            <a:avLst/>
          </a:prstGeom>
        </p:spPr>
      </p:pic>
      <p:sp>
        <p:nvSpPr>
          <p:cNvPr id="31" name="Text 26"/>
          <p:cNvSpPr txBox="1"/>
          <p:nvPr/>
        </p:nvSpPr>
        <p:spPr>
          <a:xfrm>
            <a:off x="5303520" y="2935224"/>
            <a:ext cx="6126480" cy="384048"/>
          </a:xfrm>
          <a:prstGeom prst="rect">
            <a:avLst/>
          </a:prstGeom>
          <a:noFill/>
          <a:ln/>
        </p:spPr>
        <p:txBody>
          <a:bodyPr wrap="square" rtlCol="0" anchor="ctr"/>
          <a:lstStyle/>
          <a:p>
            <a:pPr marL="0" indent="0">
              <a:buNone/>
            </a:pPr>
            <a:r>
              <a:rPr lang="en-US" sz="1250" dirty="0">
                <a:solidFill>
                  <a:srgbClr val="14163A"/>
                </a:solidFill>
                <a:latin typeface="Calibri" pitchFamily="34" charset="0"/>
                <a:ea typeface="Calibri" pitchFamily="34" charset="-122"/>
                <a:cs typeface="Calibri" pitchFamily="34" charset="-120"/>
              </a:rPr>
              <a:t>Old information may remain equally influential</a:t>
            </a:r>
            <a:endParaRPr lang="en-US" sz="1250" dirty="0"/>
          </a:p>
        </p:txBody>
      </p:sp>
      <p:sp>
        <p:nvSpPr>
          <p:cNvPr id="32" name="Shape 27"/>
          <p:cNvSpPr/>
          <p:nvPr/>
        </p:nvSpPr>
        <p:spPr>
          <a:xfrm>
            <a:off x="4818888" y="3392424"/>
            <a:ext cx="329184" cy="329184"/>
          </a:xfrm>
          <a:prstGeom prst="ellipse">
            <a:avLst/>
          </a:prstGeom>
          <a:solidFill>
            <a:srgbClr val="FDE7E6"/>
          </a:solidFill>
          <a:ln/>
        </p:spPr>
      </p:sp>
      <p:pic>
        <p:nvPicPr>
          <p:cNvPr id="33" name="Image 3" descr="preencoded.png"/>
          <p:cNvPicPr>
            <a:picLocks noChangeAspect="1"/>
          </p:cNvPicPr>
          <p:nvPr/>
        </p:nvPicPr>
        <p:blipFill>
          <a:blip r:embed="rId3"/>
          <a:stretch>
            <a:fillRect/>
          </a:stretch>
        </p:blipFill>
        <p:spPr>
          <a:xfrm>
            <a:off x="4901184" y="3474720"/>
            <a:ext cx="164592" cy="164592"/>
          </a:xfrm>
          <a:prstGeom prst="rect">
            <a:avLst/>
          </a:prstGeom>
        </p:spPr>
      </p:pic>
      <p:sp>
        <p:nvSpPr>
          <p:cNvPr id="34" name="Text 28"/>
          <p:cNvSpPr txBox="1"/>
          <p:nvPr/>
        </p:nvSpPr>
        <p:spPr>
          <a:xfrm>
            <a:off x="5303520" y="3374136"/>
            <a:ext cx="6126480" cy="384048"/>
          </a:xfrm>
          <a:prstGeom prst="rect">
            <a:avLst/>
          </a:prstGeom>
          <a:noFill/>
          <a:ln/>
        </p:spPr>
        <p:txBody>
          <a:bodyPr wrap="square" rtlCol="0" anchor="ctr"/>
          <a:lstStyle/>
          <a:p>
            <a:pPr marL="0" indent="0">
              <a:buNone/>
            </a:pPr>
            <a:r>
              <a:rPr lang="en-US" sz="1250" dirty="0">
                <a:solidFill>
                  <a:srgbClr val="14163A"/>
                </a:solidFill>
                <a:latin typeface="Calibri" pitchFamily="34" charset="0"/>
                <a:ea typeface="Calibri" pitchFamily="34" charset="-122"/>
                <a:cs typeface="Calibri" pitchFamily="34" charset="-120"/>
              </a:rPr>
              <a:t>No explicit memory lifecycle</a:t>
            </a:r>
            <a:endParaRPr lang="en-US" sz="1250" dirty="0"/>
          </a:p>
        </p:txBody>
      </p:sp>
      <p:sp>
        <p:nvSpPr>
          <p:cNvPr id="35" name="Shape 29"/>
          <p:cNvSpPr/>
          <p:nvPr/>
        </p:nvSpPr>
        <p:spPr>
          <a:xfrm>
            <a:off x="4818888" y="3831336"/>
            <a:ext cx="329184" cy="329184"/>
          </a:xfrm>
          <a:prstGeom prst="ellipse">
            <a:avLst/>
          </a:prstGeom>
          <a:solidFill>
            <a:srgbClr val="FDE7E6"/>
          </a:solidFill>
          <a:ln/>
        </p:spPr>
      </p:sp>
      <p:pic>
        <p:nvPicPr>
          <p:cNvPr id="36" name="Image 4" descr="preencoded.png"/>
          <p:cNvPicPr>
            <a:picLocks noChangeAspect="1"/>
          </p:cNvPicPr>
          <p:nvPr/>
        </p:nvPicPr>
        <p:blipFill>
          <a:blip r:embed="rId3"/>
          <a:stretch>
            <a:fillRect/>
          </a:stretch>
        </p:blipFill>
        <p:spPr>
          <a:xfrm>
            <a:off x="4901184" y="3913632"/>
            <a:ext cx="164592" cy="164592"/>
          </a:xfrm>
          <a:prstGeom prst="rect">
            <a:avLst/>
          </a:prstGeom>
        </p:spPr>
      </p:pic>
      <p:sp>
        <p:nvSpPr>
          <p:cNvPr id="37" name="Text 30"/>
          <p:cNvSpPr txBox="1"/>
          <p:nvPr/>
        </p:nvSpPr>
        <p:spPr>
          <a:xfrm>
            <a:off x="5303520" y="3813048"/>
            <a:ext cx="6126480" cy="384048"/>
          </a:xfrm>
          <a:prstGeom prst="rect">
            <a:avLst/>
          </a:prstGeom>
          <a:noFill/>
          <a:ln/>
        </p:spPr>
        <p:txBody>
          <a:bodyPr wrap="square" rtlCol="0" anchor="ctr"/>
          <a:lstStyle/>
          <a:p>
            <a:pPr marL="0" indent="0">
              <a:buNone/>
            </a:pPr>
            <a:r>
              <a:rPr lang="en-US" sz="1250" dirty="0">
                <a:solidFill>
                  <a:srgbClr val="14163A"/>
                </a:solidFill>
                <a:latin typeface="Calibri" pitchFamily="34" charset="0"/>
                <a:ea typeface="Calibri" pitchFamily="34" charset="-122"/>
                <a:cs typeface="Calibri" pitchFamily="34" charset="-120"/>
              </a:rPr>
              <a:t>Difficult to determine which information is currently valid</a:t>
            </a:r>
            <a:endParaRPr lang="en-US" sz="1250" dirty="0"/>
          </a:p>
        </p:txBody>
      </p:sp>
      <p:sp>
        <p:nvSpPr>
          <p:cNvPr id="38" name="Shape 31"/>
          <p:cNvSpPr/>
          <p:nvPr/>
        </p:nvSpPr>
        <p:spPr>
          <a:xfrm>
            <a:off x="4818888" y="4270248"/>
            <a:ext cx="329184" cy="329184"/>
          </a:xfrm>
          <a:prstGeom prst="ellipse">
            <a:avLst/>
          </a:prstGeom>
          <a:solidFill>
            <a:srgbClr val="FDE7E6"/>
          </a:solidFill>
          <a:ln/>
        </p:spPr>
      </p:sp>
      <p:pic>
        <p:nvPicPr>
          <p:cNvPr id="39" name="Image 5" descr="preencoded.png"/>
          <p:cNvPicPr>
            <a:picLocks noChangeAspect="1"/>
          </p:cNvPicPr>
          <p:nvPr/>
        </p:nvPicPr>
        <p:blipFill>
          <a:blip r:embed="rId3"/>
          <a:stretch>
            <a:fillRect/>
          </a:stretch>
        </p:blipFill>
        <p:spPr>
          <a:xfrm>
            <a:off x="4901184" y="4352544"/>
            <a:ext cx="164592" cy="164592"/>
          </a:xfrm>
          <a:prstGeom prst="rect">
            <a:avLst/>
          </a:prstGeom>
        </p:spPr>
      </p:pic>
      <p:sp>
        <p:nvSpPr>
          <p:cNvPr id="40" name="Text 32"/>
          <p:cNvSpPr txBox="1"/>
          <p:nvPr/>
        </p:nvSpPr>
        <p:spPr>
          <a:xfrm>
            <a:off x="5303520" y="4251960"/>
            <a:ext cx="6126480" cy="384048"/>
          </a:xfrm>
          <a:prstGeom prst="rect">
            <a:avLst/>
          </a:prstGeom>
          <a:noFill/>
          <a:ln/>
        </p:spPr>
        <p:txBody>
          <a:bodyPr wrap="square" rtlCol="0" anchor="ctr"/>
          <a:lstStyle/>
          <a:p>
            <a:pPr marL="0" indent="0">
              <a:buNone/>
            </a:pPr>
            <a:r>
              <a:rPr lang="en-US" sz="1250" dirty="0">
                <a:solidFill>
                  <a:srgbClr val="14163A"/>
                </a:solidFill>
                <a:latin typeface="Calibri" pitchFamily="34" charset="0"/>
                <a:ea typeface="Calibri" pitchFamily="34" charset="-122"/>
                <a:cs typeface="Calibri" pitchFamily="34" charset="-120"/>
              </a:rPr>
              <a:t>Limited explanation of memory provenance</a:t>
            </a:r>
            <a:endParaRPr lang="en-US" sz="1250" dirty="0"/>
          </a:p>
        </p:txBody>
      </p:sp>
      <p:sp>
        <p:nvSpPr>
          <p:cNvPr id="41" name="Shape 33"/>
          <p:cNvSpPr/>
          <p:nvPr/>
        </p:nvSpPr>
        <p:spPr>
          <a:xfrm>
            <a:off x="4343400" y="5120640"/>
            <a:ext cx="7315200" cy="1005840"/>
          </a:xfrm>
          <a:prstGeom prst="roundRect">
            <a:avLst>
              <a:gd name="adj" fmla="val 7273"/>
            </a:avLst>
          </a:prstGeom>
          <a:solidFill>
            <a:srgbClr val="14163A"/>
          </a:solidFill>
          <a:ln/>
        </p:spPr>
      </p:sp>
      <p:sp>
        <p:nvSpPr>
          <p:cNvPr id="42" name="Text 34"/>
          <p:cNvSpPr txBox="1"/>
          <p:nvPr/>
        </p:nvSpPr>
        <p:spPr>
          <a:xfrm>
            <a:off x="4663440" y="5239512"/>
            <a:ext cx="2743200" cy="256032"/>
          </a:xfrm>
          <a:prstGeom prst="rect">
            <a:avLst/>
          </a:prstGeom>
          <a:noFill/>
          <a:ln/>
        </p:spPr>
        <p:txBody>
          <a:bodyPr wrap="square" rtlCol="0" anchor="ctr"/>
          <a:lstStyle/>
          <a:p>
            <a:pPr marL="0" indent="0">
              <a:buNone/>
            </a:pPr>
            <a:r>
              <a:rPr lang="en-US" sz="1050" b="1" kern="0" spc="200" dirty="0">
                <a:solidFill>
                  <a:srgbClr val="00D9C0"/>
                </a:solidFill>
                <a:latin typeface="Calibri" pitchFamily="34" charset="0"/>
                <a:ea typeface="Calibri" pitchFamily="34" charset="-122"/>
                <a:cs typeface="Calibri" pitchFamily="34" charset="-120"/>
              </a:rPr>
              <a:t>KEY GAP</a:t>
            </a:r>
            <a:endParaRPr lang="en-US" sz="1050" dirty="0"/>
          </a:p>
        </p:txBody>
      </p:sp>
      <p:sp>
        <p:nvSpPr>
          <p:cNvPr id="43" name="Text 35"/>
          <p:cNvSpPr txBox="1"/>
          <p:nvPr/>
        </p:nvSpPr>
        <p:spPr>
          <a:xfrm>
            <a:off x="4663440" y="5477256"/>
            <a:ext cx="6675120" cy="548640"/>
          </a:xfrm>
          <a:prstGeom prst="rect">
            <a:avLst/>
          </a:prstGeom>
          <a:noFill/>
          <a:ln/>
        </p:spPr>
        <p:txBody>
          <a:bodyPr wrap="square"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Retrieval ≠ Memory Management</a:t>
            </a:r>
            <a:endParaRPr lang="en-US" sz="1900" dirty="0"/>
          </a:p>
        </p:txBody>
      </p:sp>
      <p:sp>
        <p:nvSpPr>
          <p:cNvPr id="44" name="Text 36"/>
          <p:cNvSpPr txBox="1"/>
          <p:nvPr/>
        </p:nvSpPr>
        <p:spPr>
          <a:xfrm>
            <a:off x="11475720" y="6473952"/>
            <a:ext cx="548640" cy="274320"/>
          </a:xfrm>
          <a:prstGeom prst="rect">
            <a:avLst/>
          </a:prstGeom>
          <a:noFill/>
          <a:ln/>
        </p:spPr>
        <p:txBody>
          <a:bodyPr wrap="square" rtlCol="0" anchor="ctr"/>
          <a:lstStyle/>
          <a:p>
            <a:pPr marL="0" indent="0" algn="r">
              <a:buNone/>
            </a:pPr>
            <a:r>
              <a:rPr lang="en-US" sz="900" dirty="0">
                <a:solidFill>
                  <a:srgbClr val="6B6F9E"/>
                </a:solidFill>
                <a:latin typeface="Calibri" pitchFamily="34" charset="0"/>
                <a:ea typeface="Calibri" pitchFamily="34" charset="-122"/>
                <a:cs typeface="Calibri" pitchFamily="34" charset="-120"/>
              </a:rPr>
              <a:t>03</a:t>
            </a:r>
            <a:endParaRPr lang="en-US" sz="900" dirty="0"/>
          </a:p>
        </p:txBody>
      </p:sp>
      <p:sp>
        <p:nvSpPr>
          <p:cNvPr id="45" name="Text 37"/>
          <p:cNvSpPr txBox="1"/>
          <p:nvPr/>
        </p:nvSpPr>
        <p:spPr>
          <a:xfrm>
            <a:off x="548640" y="6473952"/>
            <a:ext cx="2743200" cy="274320"/>
          </a:xfrm>
          <a:prstGeom prst="rect">
            <a:avLst/>
          </a:prstGeom>
          <a:noFill/>
          <a:ln/>
        </p:spPr>
        <p:txBody>
          <a:bodyPr wrap="square" rtlCol="0" anchor="ctr"/>
          <a:lstStyle/>
          <a:p>
            <a:pPr marL="0" indent="0">
              <a:buNone/>
            </a:pPr>
            <a:r>
              <a:rPr lang="en-US" sz="900" kern="0" spc="100" dirty="0">
                <a:solidFill>
                  <a:srgbClr val="6B6F9E"/>
                </a:solidFill>
                <a:latin typeface="Calibri" pitchFamily="34" charset="0"/>
                <a:ea typeface="Calibri" pitchFamily="34" charset="-122"/>
                <a:cs typeface="Calibri" pitchFamily="34" charset="-120"/>
              </a:rPr>
              <a:t>MEMORA</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6FC"/>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rtlCol="0" anchor="ctr"/>
          <a:lstStyle/>
          <a:p>
            <a:pPr marL="0" indent="0">
              <a:buNone/>
            </a:pPr>
            <a:r>
              <a:rPr lang="en-US" sz="1250" b="1" kern="0" spc="200" dirty="0">
                <a:solidFill>
                  <a:srgbClr val="5B4FE9"/>
                </a:solidFill>
                <a:latin typeface="Calibri" pitchFamily="34" charset="0"/>
                <a:ea typeface="Calibri" pitchFamily="34" charset="-122"/>
                <a:cs typeface="Calibri" pitchFamily="34" charset="-120"/>
              </a:rPr>
              <a:t>THE SOLUTION</a:t>
            </a:r>
            <a:endParaRPr lang="en-US" sz="1250" dirty="0"/>
          </a:p>
        </p:txBody>
      </p:sp>
      <p:sp>
        <p:nvSpPr>
          <p:cNvPr id="3" name="Text 1"/>
          <p:cNvSpPr txBox="1"/>
          <p:nvPr/>
        </p:nvSpPr>
        <p:spPr>
          <a:xfrm>
            <a:off x="548640" y="566928"/>
            <a:ext cx="10515600" cy="640080"/>
          </a:xfrm>
          <a:prstGeom prst="rect">
            <a:avLst/>
          </a:prstGeom>
          <a:noFill/>
          <a:ln/>
        </p:spPr>
        <p:txBody>
          <a:bodyPr wrap="square" rtlCol="0" anchor="ctr"/>
          <a:lstStyle/>
          <a:p>
            <a:pPr marL="0" indent="0">
              <a:buNone/>
            </a:pPr>
            <a:r>
              <a:rPr lang="en-US" sz="3000" b="1" dirty="0">
                <a:solidFill>
                  <a:srgbClr val="14163A"/>
                </a:solidFill>
                <a:latin typeface="Cambria" pitchFamily="34" charset="0"/>
                <a:ea typeface="Cambria" pitchFamily="34" charset="-122"/>
                <a:cs typeface="Cambria" pitchFamily="34" charset="-120"/>
              </a:rPr>
              <a:t>MEMORA — An Evolving Memory Engine</a:t>
            </a:r>
            <a:endParaRPr lang="en-US" sz="3000" dirty="0"/>
          </a:p>
        </p:txBody>
      </p:sp>
      <p:sp>
        <p:nvSpPr>
          <p:cNvPr id="4" name="Text 2"/>
          <p:cNvSpPr txBox="1"/>
          <p:nvPr/>
        </p:nvSpPr>
        <p:spPr>
          <a:xfrm>
            <a:off x="548640" y="1298448"/>
            <a:ext cx="10515600" cy="365760"/>
          </a:xfrm>
          <a:prstGeom prst="rect">
            <a:avLst/>
          </a:prstGeom>
          <a:noFill/>
          <a:ln/>
        </p:spPr>
        <p:txBody>
          <a:bodyPr wrap="square" rtlCol="0" anchor="ctr"/>
          <a:lstStyle/>
          <a:p>
            <a:pPr marL="0" indent="0">
              <a:buNone/>
            </a:pPr>
            <a:r>
              <a:rPr lang="en-US" sz="1350" dirty="0">
                <a:solidFill>
                  <a:srgbClr val="6B6F9E"/>
                </a:solidFill>
                <a:latin typeface="Calibri" pitchFamily="34" charset="0"/>
                <a:ea typeface="Calibri" pitchFamily="34" charset="-122"/>
                <a:cs typeface="Calibri" pitchFamily="34" charset="-120"/>
              </a:rPr>
              <a:t>A dedicated Memory Management Layer that sits between the user, the LLM, and the databases.</a:t>
            </a:r>
            <a:endParaRPr lang="en-US" sz="1350" dirty="0"/>
          </a:p>
        </p:txBody>
      </p:sp>
      <p:sp>
        <p:nvSpPr>
          <p:cNvPr id="5" name="Shape 3"/>
          <p:cNvSpPr/>
          <p:nvPr/>
        </p:nvSpPr>
        <p:spPr>
          <a:xfrm>
            <a:off x="548640" y="1965960"/>
            <a:ext cx="2606040" cy="1783080"/>
          </a:xfrm>
          <a:prstGeom prst="roundRect">
            <a:avLst>
              <a:gd name="adj" fmla="val 5128"/>
            </a:avLst>
          </a:prstGeom>
          <a:solidFill>
            <a:srgbClr val="FFFFFF"/>
          </a:solidFill>
          <a:ln w="9525">
            <a:solidFill>
              <a:srgbClr val="DCDCF0"/>
            </a:solidFill>
            <a:prstDash val="solid"/>
          </a:ln>
          <a:effectLst>
            <a:outerShdw blurRad="101600" dist="38100" dir="5400000" algn="bl" rotWithShape="0">
              <a:srgbClr val="14163A">
                <a:alpha val="12000"/>
              </a:srgbClr>
            </a:outerShdw>
          </a:effectLst>
        </p:spPr>
      </p:sp>
      <p:sp>
        <p:nvSpPr>
          <p:cNvPr id="6" name="Shape 4"/>
          <p:cNvSpPr/>
          <p:nvPr/>
        </p:nvSpPr>
        <p:spPr>
          <a:xfrm>
            <a:off x="1568196" y="2185416"/>
            <a:ext cx="566928" cy="566928"/>
          </a:xfrm>
          <a:prstGeom prst="ellipse">
            <a:avLst/>
          </a:prstGeom>
          <a:solidFill>
            <a:srgbClr val="5B4FE9"/>
          </a:solidFill>
          <a:ln/>
        </p:spPr>
      </p:sp>
      <p:pic>
        <p:nvPicPr>
          <p:cNvPr id="7" name="Image 0" descr="preencoded.png"/>
          <p:cNvPicPr>
            <a:picLocks noChangeAspect="1"/>
          </p:cNvPicPr>
          <p:nvPr/>
        </p:nvPicPr>
        <p:blipFill>
          <a:blip r:embed="rId3"/>
          <a:stretch>
            <a:fillRect/>
          </a:stretch>
        </p:blipFill>
        <p:spPr>
          <a:xfrm>
            <a:off x="1709928" y="2327148"/>
            <a:ext cx="283464" cy="283464"/>
          </a:xfrm>
          <a:prstGeom prst="rect">
            <a:avLst/>
          </a:prstGeom>
        </p:spPr>
      </p:pic>
      <p:sp>
        <p:nvSpPr>
          <p:cNvPr id="8" name="Text 5"/>
          <p:cNvSpPr txBox="1"/>
          <p:nvPr/>
        </p:nvSpPr>
        <p:spPr>
          <a:xfrm>
            <a:off x="640080" y="2880360"/>
            <a:ext cx="2423160" cy="320040"/>
          </a:xfrm>
          <a:prstGeom prst="rect">
            <a:avLst/>
          </a:prstGeom>
          <a:noFill/>
          <a:ln/>
        </p:spPr>
        <p:txBody>
          <a:bodyPr wrap="square" rtlCol="0" anchor="ctr"/>
          <a:lstStyle/>
          <a:p>
            <a:pPr marL="0" indent="0" algn="ctr">
              <a:buNone/>
            </a:pPr>
            <a:r>
              <a:rPr lang="en-US" sz="1400" b="1" dirty="0">
                <a:solidFill>
                  <a:srgbClr val="14163A"/>
                </a:solidFill>
                <a:latin typeface="Calibri" pitchFamily="34" charset="0"/>
                <a:ea typeface="Calibri" pitchFamily="34" charset="-122"/>
                <a:cs typeface="Calibri" pitchFamily="34" charset="-120"/>
              </a:rPr>
              <a:t>Remember</a:t>
            </a:r>
            <a:endParaRPr lang="en-US" sz="1400" dirty="0"/>
          </a:p>
        </p:txBody>
      </p:sp>
      <p:sp>
        <p:nvSpPr>
          <p:cNvPr id="9" name="Text 6"/>
          <p:cNvSpPr txBox="1"/>
          <p:nvPr/>
        </p:nvSpPr>
        <p:spPr>
          <a:xfrm>
            <a:off x="685800" y="3200400"/>
            <a:ext cx="2331720" cy="457200"/>
          </a:xfrm>
          <a:prstGeom prst="rect">
            <a:avLst/>
          </a:prstGeom>
          <a:noFill/>
          <a:ln/>
        </p:spPr>
        <p:txBody>
          <a:bodyPr wrap="square" rtlCol="0" anchor="ctr"/>
          <a:lstStyle/>
          <a:p>
            <a:pPr marL="0" indent="0" algn="ctr">
              <a:buNone/>
            </a:pPr>
            <a:r>
              <a:rPr lang="en-US" sz="1000" dirty="0">
                <a:solidFill>
                  <a:srgbClr val="6B6F9E"/>
                </a:solidFill>
                <a:latin typeface="Calibri" pitchFamily="34" charset="0"/>
                <a:ea typeface="Calibri" pitchFamily="34" charset="-122"/>
                <a:cs typeface="Calibri" pitchFamily="34" charset="-120"/>
              </a:rPr>
              <a:t>Captures important information</a:t>
            </a:r>
            <a:endParaRPr lang="en-US" sz="1000" dirty="0"/>
          </a:p>
        </p:txBody>
      </p:sp>
      <p:sp>
        <p:nvSpPr>
          <p:cNvPr id="10" name="Shape 7"/>
          <p:cNvSpPr/>
          <p:nvPr/>
        </p:nvSpPr>
        <p:spPr>
          <a:xfrm>
            <a:off x="3337560" y="1965960"/>
            <a:ext cx="2606040" cy="1783080"/>
          </a:xfrm>
          <a:prstGeom prst="roundRect">
            <a:avLst>
              <a:gd name="adj" fmla="val 5128"/>
            </a:avLst>
          </a:prstGeom>
          <a:solidFill>
            <a:srgbClr val="FFFFFF"/>
          </a:solidFill>
          <a:ln w="9525">
            <a:solidFill>
              <a:srgbClr val="DCDCF0"/>
            </a:solidFill>
            <a:prstDash val="solid"/>
          </a:ln>
          <a:effectLst>
            <a:outerShdw blurRad="101600" dist="38100" dir="5400000" algn="bl" rotWithShape="0">
              <a:srgbClr val="14163A">
                <a:alpha val="12000"/>
              </a:srgbClr>
            </a:outerShdw>
          </a:effectLst>
        </p:spPr>
      </p:sp>
      <p:sp>
        <p:nvSpPr>
          <p:cNvPr id="11" name="Shape 8"/>
          <p:cNvSpPr/>
          <p:nvPr/>
        </p:nvSpPr>
        <p:spPr>
          <a:xfrm>
            <a:off x="4357116" y="2185416"/>
            <a:ext cx="566928" cy="566928"/>
          </a:xfrm>
          <a:prstGeom prst="ellipse">
            <a:avLst/>
          </a:prstGeom>
          <a:solidFill>
            <a:srgbClr val="00D9C0"/>
          </a:solidFill>
          <a:ln/>
        </p:spPr>
      </p:sp>
      <p:pic>
        <p:nvPicPr>
          <p:cNvPr id="12" name="Image 1" descr="preencoded.png"/>
          <p:cNvPicPr>
            <a:picLocks noChangeAspect="1"/>
          </p:cNvPicPr>
          <p:nvPr/>
        </p:nvPicPr>
        <p:blipFill>
          <a:blip r:embed="rId4"/>
          <a:stretch>
            <a:fillRect/>
          </a:stretch>
        </p:blipFill>
        <p:spPr>
          <a:xfrm>
            <a:off x="4498848" y="2327148"/>
            <a:ext cx="283464" cy="283464"/>
          </a:xfrm>
          <a:prstGeom prst="rect">
            <a:avLst/>
          </a:prstGeom>
        </p:spPr>
      </p:pic>
      <p:sp>
        <p:nvSpPr>
          <p:cNvPr id="13" name="Text 9"/>
          <p:cNvSpPr txBox="1"/>
          <p:nvPr/>
        </p:nvSpPr>
        <p:spPr>
          <a:xfrm>
            <a:off x="3429000" y="2880360"/>
            <a:ext cx="2423160" cy="320040"/>
          </a:xfrm>
          <a:prstGeom prst="rect">
            <a:avLst/>
          </a:prstGeom>
          <a:noFill/>
          <a:ln/>
        </p:spPr>
        <p:txBody>
          <a:bodyPr wrap="square" rtlCol="0" anchor="ctr"/>
          <a:lstStyle/>
          <a:p>
            <a:pPr marL="0" indent="0" algn="ctr">
              <a:buNone/>
            </a:pPr>
            <a:r>
              <a:rPr lang="en-US" sz="1400" b="1" dirty="0">
                <a:solidFill>
                  <a:srgbClr val="14163A"/>
                </a:solidFill>
                <a:latin typeface="Calibri" pitchFamily="34" charset="0"/>
                <a:ea typeface="Calibri" pitchFamily="34" charset="-122"/>
                <a:cs typeface="Calibri" pitchFamily="34" charset="-120"/>
              </a:rPr>
              <a:t>Update</a:t>
            </a:r>
            <a:endParaRPr lang="en-US" sz="1400" dirty="0"/>
          </a:p>
        </p:txBody>
      </p:sp>
      <p:sp>
        <p:nvSpPr>
          <p:cNvPr id="14" name="Text 10"/>
          <p:cNvSpPr txBox="1"/>
          <p:nvPr/>
        </p:nvSpPr>
        <p:spPr>
          <a:xfrm>
            <a:off x="3474720" y="3200400"/>
            <a:ext cx="2331720" cy="457200"/>
          </a:xfrm>
          <a:prstGeom prst="rect">
            <a:avLst/>
          </a:prstGeom>
          <a:noFill/>
          <a:ln/>
        </p:spPr>
        <p:txBody>
          <a:bodyPr wrap="square" rtlCol="0" anchor="ctr"/>
          <a:lstStyle/>
          <a:p>
            <a:pPr marL="0" indent="0" algn="ctr">
              <a:buNone/>
            </a:pPr>
            <a:r>
              <a:rPr lang="en-US" sz="1000" dirty="0">
                <a:solidFill>
                  <a:srgbClr val="6B6F9E"/>
                </a:solidFill>
                <a:latin typeface="Calibri" pitchFamily="34" charset="0"/>
                <a:ea typeface="Calibri" pitchFamily="34" charset="-122"/>
                <a:cs typeface="Calibri" pitchFamily="34" charset="-120"/>
              </a:rPr>
              <a:t>Keeps changing facts current</a:t>
            </a:r>
            <a:endParaRPr lang="en-US" sz="1000" dirty="0"/>
          </a:p>
        </p:txBody>
      </p:sp>
      <p:sp>
        <p:nvSpPr>
          <p:cNvPr id="15" name="Shape 11"/>
          <p:cNvSpPr/>
          <p:nvPr/>
        </p:nvSpPr>
        <p:spPr>
          <a:xfrm>
            <a:off x="6126480" y="1965960"/>
            <a:ext cx="2606040" cy="1783080"/>
          </a:xfrm>
          <a:prstGeom prst="roundRect">
            <a:avLst>
              <a:gd name="adj" fmla="val 5128"/>
            </a:avLst>
          </a:prstGeom>
          <a:solidFill>
            <a:srgbClr val="FFFFFF"/>
          </a:solidFill>
          <a:ln w="9525">
            <a:solidFill>
              <a:srgbClr val="DCDCF0"/>
            </a:solidFill>
            <a:prstDash val="solid"/>
          </a:ln>
          <a:effectLst>
            <a:outerShdw blurRad="101600" dist="38100" dir="5400000" algn="bl" rotWithShape="0">
              <a:srgbClr val="14163A">
                <a:alpha val="12000"/>
              </a:srgbClr>
            </a:outerShdw>
          </a:effectLst>
        </p:spPr>
      </p:sp>
      <p:sp>
        <p:nvSpPr>
          <p:cNvPr id="16" name="Shape 12"/>
          <p:cNvSpPr/>
          <p:nvPr/>
        </p:nvSpPr>
        <p:spPr>
          <a:xfrm>
            <a:off x="7146036" y="2185416"/>
            <a:ext cx="566928" cy="566928"/>
          </a:xfrm>
          <a:prstGeom prst="ellipse">
            <a:avLst/>
          </a:prstGeom>
          <a:solidFill>
            <a:srgbClr val="14163A"/>
          </a:solidFill>
          <a:ln/>
        </p:spPr>
      </p:sp>
      <p:pic>
        <p:nvPicPr>
          <p:cNvPr id="17" name="Image 2" descr="preencoded.png"/>
          <p:cNvPicPr>
            <a:picLocks noChangeAspect="1"/>
          </p:cNvPicPr>
          <p:nvPr/>
        </p:nvPicPr>
        <p:blipFill>
          <a:blip r:embed="rId5"/>
          <a:stretch>
            <a:fillRect/>
          </a:stretch>
        </p:blipFill>
        <p:spPr>
          <a:xfrm>
            <a:off x="7287768" y="2327148"/>
            <a:ext cx="283464" cy="283464"/>
          </a:xfrm>
          <a:prstGeom prst="rect">
            <a:avLst/>
          </a:prstGeom>
        </p:spPr>
      </p:pic>
      <p:sp>
        <p:nvSpPr>
          <p:cNvPr id="18" name="Text 13"/>
          <p:cNvSpPr txBox="1"/>
          <p:nvPr/>
        </p:nvSpPr>
        <p:spPr>
          <a:xfrm>
            <a:off x="6217920" y="2880360"/>
            <a:ext cx="2423160" cy="320040"/>
          </a:xfrm>
          <a:prstGeom prst="rect">
            <a:avLst/>
          </a:prstGeom>
          <a:noFill/>
          <a:ln/>
        </p:spPr>
        <p:txBody>
          <a:bodyPr wrap="square" rtlCol="0" anchor="ctr"/>
          <a:lstStyle/>
          <a:p>
            <a:pPr marL="0" indent="0" algn="ctr">
              <a:buNone/>
            </a:pPr>
            <a:r>
              <a:rPr lang="en-US" sz="1400" b="1" dirty="0">
                <a:solidFill>
                  <a:srgbClr val="14163A"/>
                </a:solidFill>
                <a:latin typeface="Calibri" pitchFamily="34" charset="0"/>
                <a:ea typeface="Calibri" pitchFamily="34" charset="-122"/>
                <a:cs typeface="Calibri" pitchFamily="34" charset="-120"/>
              </a:rPr>
              <a:t>Resolve</a:t>
            </a:r>
            <a:endParaRPr lang="en-US" sz="1400" dirty="0"/>
          </a:p>
        </p:txBody>
      </p:sp>
      <p:sp>
        <p:nvSpPr>
          <p:cNvPr id="19" name="Text 14"/>
          <p:cNvSpPr txBox="1"/>
          <p:nvPr/>
        </p:nvSpPr>
        <p:spPr>
          <a:xfrm>
            <a:off x="6263640" y="3200400"/>
            <a:ext cx="2331720" cy="457200"/>
          </a:xfrm>
          <a:prstGeom prst="rect">
            <a:avLst/>
          </a:prstGeom>
          <a:noFill/>
          <a:ln/>
        </p:spPr>
        <p:txBody>
          <a:bodyPr wrap="square" rtlCol="0" anchor="ctr"/>
          <a:lstStyle/>
          <a:p>
            <a:pPr marL="0" indent="0" algn="ctr">
              <a:buNone/>
            </a:pPr>
            <a:r>
              <a:rPr lang="en-US" sz="1000" dirty="0">
                <a:solidFill>
                  <a:srgbClr val="6B6F9E"/>
                </a:solidFill>
                <a:latin typeface="Calibri" pitchFamily="34" charset="0"/>
                <a:ea typeface="Calibri" pitchFamily="34" charset="-122"/>
                <a:cs typeface="Calibri" pitchFamily="34" charset="-120"/>
              </a:rPr>
              <a:t>Settles contradictions</a:t>
            </a:r>
            <a:endParaRPr lang="en-US" sz="1000" dirty="0"/>
          </a:p>
        </p:txBody>
      </p:sp>
      <p:sp>
        <p:nvSpPr>
          <p:cNvPr id="20" name="Shape 15"/>
          <p:cNvSpPr/>
          <p:nvPr/>
        </p:nvSpPr>
        <p:spPr>
          <a:xfrm>
            <a:off x="8915400" y="1965960"/>
            <a:ext cx="2606040" cy="1783080"/>
          </a:xfrm>
          <a:prstGeom prst="roundRect">
            <a:avLst>
              <a:gd name="adj" fmla="val 5128"/>
            </a:avLst>
          </a:prstGeom>
          <a:solidFill>
            <a:srgbClr val="FFFFFF"/>
          </a:solidFill>
          <a:ln w="9525">
            <a:solidFill>
              <a:srgbClr val="DCDCF0"/>
            </a:solidFill>
            <a:prstDash val="solid"/>
          </a:ln>
          <a:effectLst>
            <a:outerShdw blurRad="101600" dist="38100" dir="5400000" algn="bl" rotWithShape="0">
              <a:srgbClr val="14163A">
                <a:alpha val="12000"/>
              </a:srgbClr>
            </a:outerShdw>
          </a:effectLst>
        </p:spPr>
      </p:sp>
      <p:sp>
        <p:nvSpPr>
          <p:cNvPr id="21" name="Shape 16"/>
          <p:cNvSpPr/>
          <p:nvPr/>
        </p:nvSpPr>
        <p:spPr>
          <a:xfrm>
            <a:off x="9934956" y="2185416"/>
            <a:ext cx="566928" cy="566928"/>
          </a:xfrm>
          <a:prstGeom prst="ellipse">
            <a:avLst/>
          </a:prstGeom>
          <a:solidFill>
            <a:srgbClr val="F5A623"/>
          </a:solidFill>
          <a:ln/>
        </p:spPr>
      </p:sp>
      <p:pic>
        <p:nvPicPr>
          <p:cNvPr id="22" name="Image 3" descr="preencoded.png"/>
          <p:cNvPicPr>
            <a:picLocks noChangeAspect="1"/>
          </p:cNvPicPr>
          <p:nvPr/>
        </p:nvPicPr>
        <p:blipFill>
          <a:blip r:embed="rId6"/>
          <a:stretch>
            <a:fillRect/>
          </a:stretch>
        </p:blipFill>
        <p:spPr>
          <a:xfrm>
            <a:off x="10076688" y="2327148"/>
            <a:ext cx="283464" cy="283464"/>
          </a:xfrm>
          <a:prstGeom prst="rect">
            <a:avLst/>
          </a:prstGeom>
        </p:spPr>
      </p:pic>
      <p:sp>
        <p:nvSpPr>
          <p:cNvPr id="23" name="Text 17"/>
          <p:cNvSpPr txBox="1"/>
          <p:nvPr/>
        </p:nvSpPr>
        <p:spPr>
          <a:xfrm>
            <a:off x="9006840" y="2880360"/>
            <a:ext cx="2423160" cy="320040"/>
          </a:xfrm>
          <a:prstGeom prst="rect">
            <a:avLst/>
          </a:prstGeom>
          <a:noFill/>
          <a:ln/>
        </p:spPr>
        <p:txBody>
          <a:bodyPr wrap="square" rtlCol="0" anchor="ctr"/>
          <a:lstStyle/>
          <a:p>
            <a:pPr marL="0" indent="0" algn="ctr">
              <a:buNone/>
            </a:pPr>
            <a:r>
              <a:rPr lang="en-US" sz="1400" b="1" dirty="0">
                <a:solidFill>
                  <a:srgbClr val="14163A"/>
                </a:solidFill>
                <a:latin typeface="Calibri" pitchFamily="34" charset="0"/>
                <a:ea typeface="Calibri" pitchFamily="34" charset="-122"/>
                <a:cs typeface="Calibri" pitchFamily="34" charset="-120"/>
              </a:rPr>
              <a:t>Decay</a:t>
            </a:r>
            <a:endParaRPr lang="en-US" sz="1400" dirty="0"/>
          </a:p>
        </p:txBody>
      </p:sp>
      <p:sp>
        <p:nvSpPr>
          <p:cNvPr id="24" name="Text 18"/>
          <p:cNvSpPr txBox="1"/>
          <p:nvPr/>
        </p:nvSpPr>
        <p:spPr>
          <a:xfrm>
            <a:off x="9052560" y="3200400"/>
            <a:ext cx="2331720" cy="457200"/>
          </a:xfrm>
          <a:prstGeom prst="rect">
            <a:avLst/>
          </a:prstGeom>
          <a:noFill/>
          <a:ln/>
        </p:spPr>
        <p:txBody>
          <a:bodyPr wrap="square" rtlCol="0" anchor="ctr"/>
          <a:lstStyle/>
          <a:p>
            <a:pPr marL="0" indent="0" algn="ctr">
              <a:buNone/>
            </a:pPr>
            <a:r>
              <a:rPr lang="en-US" sz="1000" dirty="0">
                <a:solidFill>
                  <a:srgbClr val="6B6F9E"/>
                </a:solidFill>
                <a:latin typeface="Calibri" pitchFamily="34" charset="0"/>
                <a:ea typeface="Calibri" pitchFamily="34" charset="-122"/>
                <a:cs typeface="Calibri" pitchFamily="34" charset="-120"/>
              </a:rPr>
              <a:t>Fades stale memories over time</a:t>
            </a:r>
            <a:endParaRPr lang="en-US" sz="1000" dirty="0"/>
          </a:p>
        </p:txBody>
      </p:sp>
      <p:sp>
        <p:nvSpPr>
          <p:cNvPr id="25" name="Shape 19"/>
          <p:cNvSpPr/>
          <p:nvPr/>
        </p:nvSpPr>
        <p:spPr>
          <a:xfrm>
            <a:off x="1943100" y="3977640"/>
            <a:ext cx="2606040" cy="1783080"/>
          </a:xfrm>
          <a:prstGeom prst="roundRect">
            <a:avLst>
              <a:gd name="adj" fmla="val 5128"/>
            </a:avLst>
          </a:prstGeom>
          <a:solidFill>
            <a:srgbClr val="FFFFFF"/>
          </a:solidFill>
          <a:ln w="9525">
            <a:solidFill>
              <a:srgbClr val="DCDCF0"/>
            </a:solidFill>
            <a:prstDash val="solid"/>
          </a:ln>
          <a:effectLst>
            <a:outerShdw blurRad="101600" dist="38100" dir="5400000" algn="bl" rotWithShape="0">
              <a:srgbClr val="14163A">
                <a:alpha val="12000"/>
              </a:srgbClr>
            </a:outerShdw>
          </a:effectLst>
        </p:spPr>
      </p:sp>
      <p:sp>
        <p:nvSpPr>
          <p:cNvPr id="26" name="Shape 20"/>
          <p:cNvSpPr/>
          <p:nvPr/>
        </p:nvSpPr>
        <p:spPr>
          <a:xfrm>
            <a:off x="2962656" y="4197096"/>
            <a:ext cx="566928" cy="566928"/>
          </a:xfrm>
          <a:prstGeom prst="ellipse">
            <a:avLst/>
          </a:prstGeom>
          <a:solidFill>
            <a:srgbClr val="8A8DB0"/>
          </a:solidFill>
          <a:ln/>
        </p:spPr>
      </p:sp>
      <p:pic>
        <p:nvPicPr>
          <p:cNvPr id="27" name="Image 4" descr="preencoded.png"/>
          <p:cNvPicPr>
            <a:picLocks noChangeAspect="1"/>
          </p:cNvPicPr>
          <p:nvPr/>
        </p:nvPicPr>
        <p:blipFill>
          <a:blip r:embed="rId7"/>
          <a:stretch>
            <a:fillRect/>
          </a:stretch>
        </p:blipFill>
        <p:spPr>
          <a:xfrm>
            <a:off x="3104388" y="4338828"/>
            <a:ext cx="283464" cy="283464"/>
          </a:xfrm>
          <a:prstGeom prst="rect">
            <a:avLst/>
          </a:prstGeom>
        </p:spPr>
      </p:pic>
      <p:sp>
        <p:nvSpPr>
          <p:cNvPr id="28" name="Text 21"/>
          <p:cNvSpPr txBox="1"/>
          <p:nvPr/>
        </p:nvSpPr>
        <p:spPr>
          <a:xfrm>
            <a:off x="2034540" y="4892040"/>
            <a:ext cx="2423160" cy="320040"/>
          </a:xfrm>
          <a:prstGeom prst="rect">
            <a:avLst/>
          </a:prstGeom>
          <a:noFill/>
          <a:ln/>
        </p:spPr>
        <p:txBody>
          <a:bodyPr wrap="square" rtlCol="0" anchor="ctr"/>
          <a:lstStyle/>
          <a:p>
            <a:pPr marL="0" indent="0" algn="ctr">
              <a:buNone/>
            </a:pPr>
            <a:r>
              <a:rPr lang="en-US" sz="1400" b="1" dirty="0">
                <a:solidFill>
                  <a:srgbClr val="14163A"/>
                </a:solidFill>
                <a:latin typeface="Calibri" pitchFamily="34" charset="0"/>
                <a:ea typeface="Calibri" pitchFamily="34" charset="-122"/>
                <a:cs typeface="Calibri" pitchFamily="34" charset="-120"/>
              </a:rPr>
              <a:t>Archive</a:t>
            </a:r>
            <a:endParaRPr lang="en-US" sz="1400" dirty="0"/>
          </a:p>
        </p:txBody>
      </p:sp>
      <p:sp>
        <p:nvSpPr>
          <p:cNvPr id="29" name="Text 22"/>
          <p:cNvSpPr txBox="1"/>
          <p:nvPr/>
        </p:nvSpPr>
        <p:spPr>
          <a:xfrm>
            <a:off x="2080260" y="5212080"/>
            <a:ext cx="2331720" cy="457200"/>
          </a:xfrm>
          <a:prstGeom prst="rect">
            <a:avLst/>
          </a:prstGeom>
          <a:noFill/>
          <a:ln/>
        </p:spPr>
        <p:txBody>
          <a:bodyPr wrap="square" rtlCol="0" anchor="ctr"/>
          <a:lstStyle/>
          <a:p>
            <a:pPr marL="0" indent="0" algn="ctr">
              <a:buNone/>
            </a:pPr>
            <a:r>
              <a:rPr lang="en-US" sz="1000" dirty="0">
                <a:solidFill>
                  <a:srgbClr val="6B6F9E"/>
                </a:solidFill>
                <a:latin typeface="Calibri" pitchFamily="34" charset="0"/>
                <a:ea typeface="Calibri" pitchFamily="34" charset="-122"/>
                <a:cs typeface="Calibri" pitchFamily="34" charset="-120"/>
              </a:rPr>
              <a:t>Retires obsolete information</a:t>
            </a:r>
            <a:endParaRPr lang="en-US" sz="1000" dirty="0"/>
          </a:p>
        </p:txBody>
      </p:sp>
      <p:sp>
        <p:nvSpPr>
          <p:cNvPr id="30" name="Shape 23"/>
          <p:cNvSpPr/>
          <p:nvPr/>
        </p:nvSpPr>
        <p:spPr>
          <a:xfrm>
            <a:off x="4732020" y="3977640"/>
            <a:ext cx="2606040" cy="1783080"/>
          </a:xfrm>
          <a:prstGeom prst="roundRect">
            <a:avLst>
              <a:gd name="adj" fmla="val 5128"/>
            </a:avLst>
          </a:prstGeom>
          <a:solidFill>
            <a:srgbClr val="FFFFFF"/>
          </a:solidFill>
          <a:ln w="9525">
            <a:solidFill>
              <a:srgbClr val="DCDCF0"/>
            </a:solidFill>
            <a:prstDash val="solid"/>
          </a:ln>
          <a:effectLst>
            <a:outerShdw blurRad="101600" dist="38100" dir="5400000" algn="bl" rotWithShape="0">
              <a:srgbClr val="14163A">
                <a:alpha val="12000"/>
              </a:srgbClr>
            </a:outerShdw>
          </a:effectLst>
        </p:spPr>
      </p:sp>
      <p:sp>
        <p:nvSpPr>
          <p:cNvPr id="31" name="Shape 24"/>
          <p:cNvSpPr/>
          <p:nvPr/>
        </p:nvSpPr>
        <p:spPr>
          <a:xfrm>
            <a:off x="5751576" y="4197096"/>
            <a:ext cx="566928" cy="566928"/>
          </a:xfrm>
          <a:prstGeom prst="ellipse">
            <a:avLst/>
          </a:prstGeom>
          <a:solidFill>
            <a:srgbClr val="5B4FE9"/>
          </a:solidFill>
          <a:ln/>
        </p:spPr>
      </p:sp>
      <p:pic>
        <p:nvPicPr>
          <p:cNvPr id="32" name="Image 5" descr="preencoded.png"/>
          <p:cNvPicPr>
            <a:picLocks noChangeAspect="1"/>
          </p:cNvPicPr>
          <p:nvPr/>
        </p:nvPicPr>
        <p:blipFill>
          <a:blip r:embed="rId8"/>
          <a:stretch>
            <a:fillRect/>
          </a:stretch>
        </p:blipFill>
        <p:spPr>
          <a:xfrm>
            <a:off x="5893308" y="4338828"/>
            <a:ext cx="283464" cy="283464"/>
          </a:xfrm>
          <a:prstGeom prst="rect">
            <a:avLst/>
          </a:prstGeom>
        </p:spPr>
      </p:pic>
      <p:sp>
        <p:nvSpPr>
          <p:cNvPr id="33" name="Text 25"/>
          <p:cNvSpPr txBox="1"/>
          <p:nvPr/>
        </p:nvSpPr>
        <p:spPr>
          <a:xfrm>
            <a:off x="4823460" y="4892040"/>
            <a:ext cx="2423160" cy="320040"/>
          </a:xfrm>
          <a:prstGeom prst="rect">
            <a:avLst/>
          </a:prstGeom>
          <a:noFill/>
          <a:ln/>
        </p:spPr>
        <p:txBody>
          <a:bodyPr wrap="square" rtlCol="0" anchor="ctr"/>
          <a:lstStyle/>
          <a:p>
            <a:pPr marL="0" indent="0" algn="ctr">
              <a:buNone/>
            </a:pPr>
            <a:r>
              <a:rPr lang="en-US" sz="1400" b="1" dirty="0">
                <a:solidFill>
                  <a:srgbClr val="14163A"/>
                </a:solidFill>
                <a:latin typeface="Calibri" pitchFamily="34" charset="0"/>
                <a:ea typeface="Calibri" pitchFamily="34" charset="-122"/>
                <a:cs typeface="Calibri" pitchFamily="34" charset="-120"/>
              </a:rPr>
              <a:t>Explain</a:t>
            </a:r>
            <a:endParaRPr lang="en-US" sz="1400" dirty="0"/>
          </a:p>
        </p:txBody>
      </p:sp>
      <p:sp>
        <p:nvSpPr>
          <p:cNvPr id="34" name="Text 26"/>
          <p:cNvSpPr txBox="1"/>
          <p:nvPr/>
        </p:nvSpPr>
        <p:spPr>
          <a:xfrm>
            <a:off x="4869180" y="5212080"/>
            <a:ext cx="2331720" cy="457200"/>
          </a:xfrm>
          <a:prstGeom prst="rect">
            <a:avLst/>
          </a:prstGeom>
          <a:noFill/>
          <a:ln/>
        </p:spPr>
        <p:txBody>
          <a:bodyPr wrap="square" rtlCol="0" anchor="ctr"/>
          <a:lstStyle/>
          <a:p>
            <a:pPr marL="0" indent="0" algn="ctr">
              <a:buNone/>
            </a:pPr>
            <a:r>
              <a:rPr lang="en-US" sz="1000" dirty="0">
                <a:solidFill>
                  <a:srgbClr val="6B6F9E"/>
                </a:solidFill>
                <a:latin typeface="Calibri" pitchFamily="34" charset="0"/>
                <a:ea typeface="Calibri" pitchFamily="34" charset="-122"/>
                <a:cs typeface="Calibri" pitchFamily="34" charset="-120"/>
              </a:rPr>
              <a:t>Shows which memory answered</a:t>
            </a:r>
            <a:endParaRPr lang="en-US" sz="1000" dirty="0"/>
          </a:p>
        </p:txBody>
      </p:sp>
      <p:sp>
        <p:nvSpPr>
          <p:cNvPr id="35" name="Shape 27"/>
          <p:cNvSpPr/>
          <p:nvPr/>
        </p:nvSpPr>
        <p:spPr>
          <a:xfrm>
            <a:off x="7520940" y="3977640"/>
            <a:ext cx="2606040" cy="1783080"/>
          </a:xfrm>
          <a:prstGeom prst="roundRect">
            <a:avLst>
              <a:gd name="adj" fmla="val 5128"/>
            </a:avLst>
          </a:prstGeom>
          <a:solidFill>
            <a:srgbClr val="FFFFFF"/>
          </a:solidFill>
          <a:ln w="9525">
            <a:solidFill>
              <a:srgbClr val="DCDCF0"/>
            </a:solidFill>
            <a:prstDash val="solid"/>
          </a:ln>
          <a:effectLst>
            <a:outerShdw blurRad="101600" dist="38100" dir="5400000" algn="bl" rotWithShape="0">
              <a:srgbClr val="14163A">
                <a:alpha val="12000"/>
              </a:srgbClr>
            </a:outerShdw>
          </a:effectLst>
        </p:spPr>
      </p:sp>
      <p:sp>
        <p:nvSpPr>
          <p:cNvPr id="36" name="Shape 28"/>
          <p:cNvSpPr/>
          <p:nvPr/>
        </p:nvSpPr>
        <p:spPr>
          <a:xfrm>
            <a:off x="8540496" y="4197096"/>
            <a:ext cx="566928" cy="566928"/>
          </a:xfrm>
          <a:prstGeom prst="ellipse">
            <a:avLst/>
          </a:prstGeom>
          <a:solidFill>
            <a:srgbClr val="00D9C0"/>
          </a:solidFill>
          <a:ln/>
        </p:spPr>
      </p:sp>
      <p:pic>
        <p:nvPicPr>
          <p:cNvPr id="37" name="Image 6" descr="preencoded.png"/>
          <p:cNvPicPr>
            <a:picLocks noChangeAspect="1"/>
          </p:cNvPicPr>
          <p:nvPr/>
        </p:nvPicPr>
        <p:blipFill>
          <a:blip r:embed="rId9"/>
          <a:stretch>
            <a:fillRect/>
          </a:stretch>
        </p:blipFill>
        <p:spPr>
          <a:xfrm>
            <a:off x="8682228" y="4338828"/>
            <a:ext cx="283464" cy="283464"/>
          </a:xfrm>
          <a:prstGeom prst="rect">
            <a:avLst/>
          </a:prstGeom>
        </p:spPr>
      </p:pic>
      <p:sp>
        <p:nvSpPr>
          <p:cNvPr id="38" name="Text 29"/>
          <p:cNvSpPr txBox="1"/>
          <p:nvPr/>
        </p:nvSpPr>
        <p:spPr>
          <a:xfrm>
            <a:off x="7612380" y="4892040"/>
            <a:ext cx="2423160" cy="320040"/>
          </a:xfrm>
          <a:prstGeom prst="rect">
            <a:avLst/>
          </a:prstGeom>
          <a:noFill/>
          <a:ln/>
        </p:spPr>
        <p:txBody>
          <a:bodyPr wrap="square" rtlCol="0" anchor="ctr"/>
          <a:lstStyle/>
          <a:p>
            <a:pPr marL="0" indent="0" algn="ctr">
              <a:buNone/>
            </a:pPr>
            <a:r>
              <a:rPr lang="en-US" sz="1400" b="1" dirty="0">
                <a:solidFill>
                  <a:srgbClr val="14163A"/>
                </a:solidFill>
                <a:latin typeface="Calibri" pitchFamily="34" charset="0"/>
                <a:ea typeface="Calibri" pitchFamily="34" charset="-122"/>
                <a:cs typeface="Calibri" pitchFamily="34" charset="-120"/>
              </a:rPr>
              <a:t>Separate</a:t>
            </a:r>
            <a:endParaRPr lang="en-US" sz="1400" dirty="0"/>
          </a:p>
        </p:txBody>
      </p:sp>
      <p:sp>
        <p:nvSpPr>
          <p:cNvPr id="39" name="Text 30"/>
          <p:cNvSpPr txBox="1"/>
          <p:nvPr/>
        </p:nvSpPr>
        <p:spPr>
          <a:xfrm>
            <a:off x="7658100" y="5212080"/>
            <a:ext cx="2331720" cy="457200"/>
          </a:xfrm>
          <a:prstGeom prst="rect">
            <a:avLst/>
          </a:prstGeom>
          <a:noFill/>
          <a:ln/>
        </p:spPr>
        <p:txBody>
          <a:bodyPr wrap="square" rtlCol="0" anchor="ctr"/>
          <a:lstStyle/>
          <a:p>
            <a:pPr marL="0" indent="0" algn="ctr">
              <a:buNone/>
            </a:pPr>
            <a:r>
              <a:rPr lang="en-US" sz="1000" dirty="0">
                <a:solidFill>
                  <a:srgbClr val="6B6F9E"/>
                </a:solidFill>
                <a:latin typeface="Calibri" pitchFamily="34" charset="0"/>
                <a:ea typeface="Calibri" pitchFamily="34" charset="-122"/>
                <a:cs typeface="Calibri" pitchFamily="34" charset="-120"/>
              </a:rPr>
              <a:t>Isolates memory per user</a:t>
            </a:r>
            <a:endParaRPr lang="en-US" sz="1000" dirty="0"/>
          </a:p>
        </p:txBody>
      </p:sp>
      <p:sp>
        <p:nvSpPr>
          <p:cNvPr id="40" name="Text 31"/>
          <p:cNvSpPr txBox="1"/>
          <p:nvPr/>
        </p:nvSpPr>
        <p:spPr>
          <a:xfrm>
            <a:off x="11475720" y="6473952"/>
            <a:ext cx="548640" cy="274320"/>
          </a:xfrm>
          <a:prstGeom prst="rect">
            <a:avLst/>
          </a:prstGeom>
          <a:noFill/>
          <a:ln/>
        </p:spPr>
        <p:txBody>
          <a:bodyPr wrap="square" rtlCol="0" anchor="ctr"/>
          <a:lstStyle/>
          <a:p>
            <a:pPr marL="0" indent="0" algn="r">
              <a:buNone/>
            </a:pPr>
            <a:r>
              <a:rPr lang="en-US" sz="900" dirty="0">
                <a:solidFill>
                  <a:srgbClr val="6B6F9E"/>
                </a:solidFill>
                <a:latin typeface="Calibri" pitchFamily="34" charset="0"/>
                <a:ea typeface="Calibri" pitchFamily="34" charset="-122"/>
                <a:cs typeface="Calibri" pitchFamily="34" charset="-120"/>
              </a:rPr>
              <a:t>04</a:t>
            </a:r>
            <a:endParaRPr lang="en-US" sz="900" dirty="0"/>
          </a:p>
        </p:txBody>
      </p:sp>
      <p:sp>
        <p:nvSpPr>
          <p:cNvPr id="41" name="Text 32"/>
          <p:cNvSpPr txBox="1"/>
          <p:nvPr/>
        </p:nvSpPr>
        <p:spPr>
          <a:xfrm>
            <a:off x="548640" y="6473952"/>
            <a:ext cx="2743200" cy="274320"/>
          </a:xfrm>
          <a:prstGeom prst="rect">
            <a:avLst/>
          </a:prstGeom>
          <a:noFill/>
          <a:ln/>
        </p:spPr>
        <p:txBody>
          <a:bodyPr wrap="square" rtlCol="0" anchor="ctr"/>
          <a:lstStyle/>
          <a:p>
            <a:pPr marL="0" indent="0">
              <a:buNone/>
            </a:pPr>
            <a:r>
              <a:rPr lang="en-US" sz="900" kern="0" spc="100" dirty="0">
                <a:solidFill>
                  <a:srgbClr val="6B6F9E"/>
                </a:solidFill>
                <a:latin typeface="Calibri" pitchFamily="34" charset="0"/>
                <a:ea typeface="Calibri" pitchFamily="34" charset="-122"/>
                <a:cs typeface="Calibri" pitchFamily="34" charset="-120"/>
              </a:rPr>
              <a:t>MEMORA</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6FC"/>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rtlCol="0" anchor="ctr"/>
          <a:lstStyle/>
          <a:p>
            <a:pPr marL="0" indent="0">
              <a:buNone/>
            </a:pPr>
            <a:r>
              <a:rPr lang="en-US" sz="1250" b="1" kern="0" spc="200" dirty="0">
                <a:solidFill>
                  <a:srgbClr val="5B4FE9"/>
                </a:solidFill>
                <a:latin typeface="Calibri" pitchFamily="34" charset="0"/>
                <a:ea typeface="Calibri" pitchFamily="34" charset="-122"/>
                <a:cs typeface="Calibri" pitchFamily="34" charset="-120"/>
              </a:rPr>
              <a:t>OBJECTIVES</a:t>
            </a:r>
            <a:endParaRPr lang="en-US" sz="1250" dirty="0"/>
          </a:p>
        </p:txBody>
      </p:sp>
      <p:sp>
        <p:nvSpPr>
          <p:cNvPr id="3" name="Text 1"/>
          <p:cNvSpPr txBox="1"/>
          <p:nvPr/>
        </p:nvSpPr>
        <p:spPr>
          <a:xfrm>
            <a:off x="548640" y="566928"/>
            <a:ext cx="10515600" cy="640080"/>
          </a:xfrm>
          <a:prstGeom prst="rect">
            <a:avLst/>
          </a:prstGeom>
          <a:noFill/>
          <a:ln/>
        </p:spPr>
        <p:txBody>
          <a:bodyPr wrap="square" rtlCol="0" anchor="ctr"/>
          <a:lstStyle/>
          <a:p>
            <a:pPr marL="0" indent="0">
              <a:buNone/>
            </a:pPr>
            <a:r>
              <a:rPr lang="en-US" sz="3000" b="1" dirty="0">
                <a:solidFill>
                  <a:srgbClr val="14163A"/>
                </a:solidFill>
                <a:latin typeface="Cambria" pitchFamily="34" charset="0"/>
                <a:ea typeface="Cambria" pitchFamily="34" charset="-122"/>
                <a:cs typeface="Cambria" pitchFamily="34" charset="-120"/>
              </a:rPr>
              <a:t>Project Objectives</a:t>
            </a:r>
            <a:endParaRPr lang="en-US" sz="3000" dirty="0"/>
          </a:p>
        </p:txBody>
      </p:sp>
      <p:sp>
        <p:nvSpPr>
          <p:cNvPr id="4" name="Shape 2"/>
          <p:cNvSpPr/>
          <p:nvPr/>
        </p:nvSpPr>
        <p:spPr>
          <a:xfrm>
            <a:off x="548640" y="1417320"/>
            <a:ext cx="5349240" cy="1024128"/>
          </a:xfrm>
          <a:prstGeom prst="roundRect">
            <a:avLst>
              <a:gd name="adj" fmla="val 8929"/>
            </a:avLst>
          </a:prstGeom>
          <a:solidFill>
            <a:srgbClr val="FFFFFF"/>
          </a:solidFill>
          <a:ln w="9525">
            <a:solidFill>
              <a:srgbClr val="DCDCF0"/>
            </a:solidFill>
            <a:prstDash val="solid"/>
          </a:ln>
          <a:effectLst>
            <a:outerShdw blurRad="101600" dist="38100" dir="5400000" algn="bl" rotWithShape="0">
              <a:srgbClr val="14163A">
                <a:alpha val="12000"/>
              </a:srgbClr>
            </a:outerShdw>
          </a:effectLst>
        </p:spPr>
      </p:sp>
      <p:sp>
        <p:nvSpPr>
          <p:cNvPr id="5" name="Shape 3"/>
          <p:cNvSpPr/>
          <p:nvPr/>
        </p:nvSpPr>
        <p:spPr>
          <a:xfrm>
            <a:off x="749808" y="1673352"/>
            <a:ext cx="512064" cy="512064"/>
          </a:xfrm>
          <a:prstGeom prst="ellipse">
            <a:avLst/>
          </a:prstGeom>
          <a:solidFill>
            <a:srgbClr val="5B4FE9"/>
          </a:solidFill>
          <a:ln/>
        </p:spPr>
      </p:sp>
      <p:sp>
        <p:nvSpPr>
          <p:cNvPr id="6" name="Text 4"/>
          <p:cNvSpPr txBox="1"/>
          <p:nvPr/>
        </p:nvSpPr>
        <p:spPr>
          <a:xfrm>
            <a:off x="749808" y="1673352"/>
            <a:ext cx="512064" cy="512064"/>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1417320" y="1527048"/>
            <a:ext cx="4297680" cy="804672"/>
          </a:xfrm>
          <a:prstGeom prst="rect">
            <a:avLst/>
          </a:prstGeom>
          <a:noFill/>
          <a:ln/>
        </p:spPr>
        <p:txBody>
          <a:bodyPr wrap="square" rtlCol="0" anchor="ctr"/>
          <a:lstStyle/>
          <a:p>
            <a:pPr marL="0" indent="0">
              <a:buNone/>
            </a:pPr>
            <a:r>
              <a:rPr lang="en-US" sz="1200" dirty="0">
                <a:solidFill>
                  <a:srgbClr val="14163A"/>
                </a:solidFill>
                <a:latin typeface="Calibri" pitchFamily="34" charset="0"/>
                <a:ea typeface="Calibri" pitchFamily="34" charset="-122"/>
                <a:cs typeface="Calibri" pitchFamily="34" charset="-120"/>
              </a:rPr>
              <a:t>Build persistent memory across conversations and application restarts.</a:t>
            </a:r>
            <a:endParaRPr lang="en-US" sz="1200" dirty="0"/>
          </a:p>
        </p:txBody>
      </p:sp>
      <p:sp>
        <p:nvSpPr>
          <p:cNvPr id="8" name="Shape 6"/>
          <p:cNvSpPr/>
          <p:nvPr/>
        </p:nvSpPr>
        <p:spPr>
          <a:xfrm>
            <a:off x="548640" y="2642616"/>
            <a:ext cx="5349240" cy="1024128"/>
          </a:xfrm>
          <a:prstGeom prst="roundRect">
            <a:avLst>
              <a:gd name="adj" fmla="val 8929"/>
            </a:avLst>
          </a:prstGeom>
          <a:solidFill>
            <a:srgbClr val="FFFFFF"/>
          </a:solidFill>
          <a:ln w="9525">
            <a:solidFill>
              <a:srgbClr val="DCDCF0"/>
            </a:solidFill>
            <a:prstDash val="solid"/>
          </a:ln>
          <a:effectLst>
            <a:outerShdw blurRad="101600" dist="38100" dir="5400000" algn="bl" rotWithShape="0">
              <a:srgbClr val="14163A">
                <a:alpha val="12000"/>
              </a:srgbClr>
            </a:outerShdw>
          </a:effectLst>
        </p:spPr>
      </p:sp>
      <p:sp>
        <p:nvSpPr>
          <p:cNvPr id="9" name="Shape 7"/>
          <p:cNvSpPr/>
          <p:nvPr/>
        </p:nvSpPr>
        <p:spPr>
          <a:xfrm>
            <a:off x="749808" y="2898648"/>
            <a:ext cx="512064" cy="512064"/>
          </a:xfrm>
          <a:prstGeom prst="ellipse">
            <a:avLst/>
          </a:prstGeom>
          <a:solidFill>
            <a:srgbClr val="5B4FE9"/>
          </a:solidFill>
          <a:ln/>
        </p:spPr>
      </p:sp>
      <p:sp>
        <p:nvSpPr>
          <p:cNvPr id="10" name="Text 8"/>
          <p:cNvSpPr txBox="1"/>
          <p:nvPr/>
        </p:nvSpPr>
        <p:spPr>
          <a:xfrm>
            <a:off x="749808" y="2898648"/>
            <a:ext cx="512064" cy="512064"/>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txBox="1"/>
          <p:nvPr/>
        </p:nvSpPr>
        <p:spPr>
          <a:xfrm>
            <a:off x="1417320" y="2752344"/>
            <a:ext cx="4297680" cy="804672"/>
          </a:xfrm>
          <a:prstGeom prst="rect">
            <a:avLst/>
          </a:prstGeom>
          <a:noFill/>
          <a:ln/>
        </p:spPr>
        <p:txBody>
          <a:bodyPr wrap="square" rtlCol="0" anchor="ctr"/>
          <a:lstStyle/>
          <a:p>
            <a:pPr marL="0" indent="0">
              <a:buNone/>
            </a:pPr>
            <a:r>
              <a:rPr lang="en-US" sz="1200" dirty="0">
                <a:solidFill>
                  <a:srgbClr val="14163A"/>
                </a:solidFill>
                <a:latin typeface="Calibri" pitchFamily="34" charset="0"/>
                <a:ea typeface="Calibri" pitchFamily="34" charset="-122"/>
                <a:cs typeface="Calibri" pitchFamily="34" charset="-120"/>
              </a:rPr>
              <a:t>Automatically identify information worth remembering.</a:t>
            </a:r>
            <a:endParaRPr lang="en-US" sz="1200" dirty="0"/>
          </a:p>
        </p:txBody>
      </p:sp>
      <p:sp>
        <p:nvSpPr>
          <p:cNvPr id="12" name="Shape 10"/>
          <p:cNvSpPr/>
          <p:nvPr/>
        </p:nvSpPr>
        <p:spPr>
          <a:xfrm>
            <a:off x="548640" y="3867912"/>
            <a:ext cx="5349240" cy="1024128"/>
          </a:xfrm>
          <a:prstGeom prst="roundRect">
            <a:avLst>
              <a:gd name="adj" fmla="val 8929"/>
            </a:avLst>
          </a:prstGeom>
          <a:solidFill>
            <a:srgbClr val="FFFFFF"/>
          </a:solidFill>
          <a:ln w="9525">
            <a:solidFill>
              <a:srgbClr val="DCDCF0"/>
            </a:solidFill>
            <a:prstDash val="solid"/>
          </a:ln>
          <a:effectLst>
            <a:outerShdw blurRad="101600" dist="38100" dir="5400000" algn="bl" rotWithShape="0">
              <a:srgbClr val="14163A">
                <a:alpha val="12000"/>
              </a:srgbClr>
            </a:outerShdw>
          </a:effectLst>
        </p:spPr>
      </p:sp>
      <p:sp>
        <p:nvSpPr>
          <p:cNvPr id="13" name="Shape 11"/>
          <p:cNvSpPr/>
          <p:nvPr/>
        </p:nvSpPr>
        <p:spPr>
          <a:xfrm>
            <a:off x="749808" y="4123944"/>
            <a:ext cx="512064" cy="512064"/>
          </a:xfrm>
          <a:prstGeom prst="ellipse">
            <a:avLst/>
          </a:prstGeom>
          <a:solidFill>
            <a:srgbClr val="5B4FE9"/>
          </a:solidFill>
          <a:ln/>
        </p:spPr>
      </p:sp>
      <p:sp>
        <p:nvSpPr>
          <p:cNvPr id="14" name="Text 12"/>
          <p:cNvSpPr txBox="1"/>
          <p:nvPr/>
        </p:nvSpPr>
        <p:spPr>
          <a:xfrm>
            <a:off x="749808" y="4123944"/>
            <a:ext cx="512064" cy="512064"/>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5" name="Text 13"/>
          <p:cNvSpPr txBox="1"/>
          <p:nvPr/>
        </p:nvSpPr>
        <p:spPr>
          <a:xfrm>
            <a:off x="1417320" y="3977640"/>
            <a:ext cx="4297680" cy="804672"/>
          </a:xfrm>
          <a:prstGeom prst="rect">
            <a:avLst/>
          </a:prstGeom>
          <a:noFill/>
          <a:ln/>
        </p:spPr>
        <p:txBody>
          <a:bodyPr wrap="square" rtlCol="0" anchor="ctr"/>
          <a:lstStyle/>
          <a:p>
            <a:pPr marL="0" indent="0">
              <a:buNone/>
            </a:pPr>
            <a:r>
              <a:rPr lang="en-US" sz="1200" dirty="0">
                <a:solidFill>
                  <a:srgbClr val="14163A"/>
                </a:solidFill>
                <a:latin typeface="Calibri" pitchFamily="34" charset="0"/>
                <a:ea typeface="Calibri" pitchFamily="34" charset="-122"/>
                <a:cs typeface="Calibri" pitchFamily="34" charset="-120"/>
              </a:rPr>
              <a:t>Retrieve relevant memories using semantic search.</a:t>
            </a:r>
            <a:endParaRPr lang="en-US" sz="1200" dirty="0"/>
          </a:p>
        </p:txBody>
      </p:sp>
      <p:sp>
        <p:nvSpPr>
          <p:cNvPr id="16" name="Shape 14"/>
          <p:cNvSpPr/>
          <p:nvPr/>
        </p:nvSpPr>
        <p:spPr>
          <a:xfrm>
            <a:off x="548640" y="5093208"/>
            <a:ext cx="5349240" cy="1024128"/>
          </a:xfrm>
          <a:prstGeom prst="roundRect">
            <a:avLst>
              <a:gd name="adj" fmla="val 8929"/>
            </a:avLst>
          </a:prstGeom>
          <a:solidFill>
            <a:srgbClr val="FFFFFF"/>
          </a:solidFill>
          <a:ln w="9525">
            <a:solidFill>
              <a:srgbClr val="DCDCF0"/>
            </a:solidFill>
            <a:prstDash val="solid"/>
          </a:ln>
          <a:effectLst>
            <a:outerShdw blurRad="101600" dist="38100" dir="5400000" algn="bl" rotWithShape="0">
              <a:srgbClr val="14163A">
                <a:alpha val="12000"/>
              </a:srgbClr>
            </a:outerShdw>
          </a:effectLst>
        </p:spPr>
      </p:sp>
      <p:sp>
        <p:nvSpPr>
          <p:cNvPr id="17" name="Shape 15"/>
          <p:cNvSpPr/>
          <p:nvPr/>
        </p:nvSpPr>
        <p:spPr>
          <a:xfrm>
            <a:off x="749808" y="5349240"/>
            <a:ext cx="512064" cy="512064"/>
          </a:xfrm>
          <a:prstGeom prst="ellipse">
            <a:avLst/>
          </a:prstGeom>
          <a:solidFill>
            <a:srgbClr val="5B4FE9"/>
          </a:solidFill>
          <a:ln/>
        </p:spPr>
      </p:sp>
      <p:sp>
        <p:nvSpPr>
          <p:cNvPr id="18" name="Text 16"/>
          <p:cNvSpPr txBox="1"/>
          <p:nvPr/>
        </p:nvSpPr>
        <p:spPr>
          <a:xfrm>
            <a:off x="749808" y="5349240"/>
            <a:ext cx="512064" cy="512064"/>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9" name="Text 17"/>
          <p:cNvSpPr txBox="1"/>
          <p:nvPr/>
        </p:nvSpPr>
        <p:spPr>
          <a:xfrm>
            <a:off x="1417320" y="5202936"/>
            <a:ext cx="4297680" cy="804672"/>
          </a:xfrm>
          <a:prstGeom prst="rect">
            <a:avLst/>
          </a:prstGeom>
          <a:noFill/>
          <a:ln/>
        </p:spPr>
        <p:txBody>
          <a:bodyPr wrap="square" rtlCol="0" anchor="ctr"/>
          <a:lstStyle/>
          <a:p>
            <a:pPr marL="0" indent="0">
              <a:buNone/>
            </a:pPr>
            <a:r>
              <a:rPr lang="en-US" sz="1200" dirty="0">
                <a:solidFill>
                  <a:srgbClr val="14163A"/>
                </a:solidFill>
                <a:latin typeface="Calibri" pitchFamily="34" charset="0"/>
                <a:ea typeface="Calibri" pitchFamily="34" charset="-122"/>
                <a:cs typeface="Calibri" pitchFamily="34" charset="-120"/>
              </a:rPr>
              <a:t>Detect conflicts between new and existing information.</a:t>
            </a:r>
            <a:endParaRPr lang="en-US" sz="1200" dirty="0"/>
          </a:p>
        </p:txBody>
      </p:sp>
      <p:sp>
        <p:nvSpPr>
          <p:cNvPr id="20" name="Shape 18"/>
          <p:cNvSpPr/>
          <p:nvPr/>
        </p:nvSpPr>
        <p:spPr>
          <a:xfrm>
            <a:off x="6172200" y="1417320"/>
            <a:ext cx="5349240" cy="1024128"/>
          </a:xfrm>
          <a:prstGeom prst="roundRect">
            <a:avLst>
              <a:gd name="adj" fmla="val 8929"/>
            </a:avLst>
          </a:prstGeom>
          <a:solidFill>
            <a:srgbClr val="FFFFFF"/>
          </a:solidFill>
          <a:ln w="9525">
            <a:solidFill>
              <a:srgbClr val="DCDCF0"/>
            </a:solidFill>
            <a:prstDash val="solid"/>
          </a:ln>
          <a:effectLst>
            <a:outerShdw blurRad="101600" dist="38100" dir="5400000" algn="bl" rotWithShape="0">
              <a:srgbClr val="14163A">
                <a:alpha val="12000"/>
              </a:srgbClr>
            </a:outerShdw>
          </a:effectLst>
        </p:spPr>
      </p:sp>
      <p:sp>
        <p:nvSpPr>
          <p:cNvPr id="21" name="Shape 19"/>
          <p:cNvSpPr/>
          <p:nvPr/>
        </p:nvSpPr>
        <p:spPr>
          <a:xfrm>
            <a:off x="6373368" y="1673352"/>
            <a:ext cx="512064" cy="512064"/>
          </a:xfrm>
          <a:prstGeom prst="ellipse">
            <a:avLst/>
          </a:prstGeom>
          <a:solidFill>
            <a:srgbClr val="5B4FE9"/>
          </a:solidFill>
          <a:ln/>
        </p:spPr>
      </p:sp>
      <p:sp>
        <p:nvSpPr>
          <p:cNvPr id="22" name="Text 20"/>
          <p:cNvSpPr txBox="1"/>
          <p:nvPr/>
        </p:nvSpPr>
        <p:spPr>
          <a:xfrm>
            <a:off x="6373368" y="1673352"/>
            <a:ext cx="512064" cy="512064"/>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3" name="Text 21"/>
          <p:cNvSpPr txBox="1"/>
          <p:nvPr/>
        </p:nvSpPr>
        <p:spPr>
          <a:xfrm>
            <a:off x="7040880" y="1527048"/>
            <a:ext cx="4297680" cy="804672"/>
          </a:xfrm>
          <a:prstGeom prst="rect">
            <a:avLst/>
          </a:prstGeom>
          <a:noFill/>
          <a:ln/>
        </p:spPr>
        <p:txBody>
          <a:bodyPr wrap="square" rtlCol="0" anchor="ctr"/>
          <a:lstStyle/>
          <a:p>
            <a:pPr marL="0" indent="0">
              <a:buNone/>
            </a:pPr>
            <a:r>
              <a:rPr lang="en-US" sz="1200" dirty="0">
                <a:solidFill>
                  <a:srgbClr val="14163A"/>
                </a:solidFill>
                <a:latin typeface="Calibri" pitchFamily="34" charset="0"/>
                <a:ea typeface="Calibri" pitchFamily="34" charset="-122"/>
                <a:cs typeface="Calibri" pitchFamily="34" charset="-120"/>
              </a:rPr>
              <a:t>Maintain memory versions instead of blindly overwriting facts.</a:t>
            </a:r>
            <a:endParaRPr lang="en-US" sz="1200" dirty="0"/>
          </a:p>
        </p:txBody>
      </p:sp>
      <p:sp>
        <p:nvSpPr>
          <p:cNvPr id="24" name="Shape 22"/>
          <p:cNvSpPr/>
          <p:nvPr/>
        </p:nvSpPr>
        <p:spPr>
          <a:xfrm>
            <a:off x="6172200" y="2642616"/>
            <a:ext cx="5349240" cy="1024128"/>
          </a:xfrm>
          <a:prstGeom prst="roundRect">
            <a:avLst>
              <a:gd name="adj" fmla="val 8929"/>
            </a:avLst>
          </a:prstGeom>
          <a:solidFill>
            <a:srgbClr val="FFFFFF"/>
          </a:solidFill>
          <a:ln w="9525">
            <a:solidFill>
              <a:srgbClr val="DCDCF0"/>
            </a:solidFill>
            <a:prstDash val="solid"/>
          </a:ln>
          <a:effectLst>
            <a:outerShdw blurRad="101600" dist="38100" dir="5400000" algn="bl" rotWithShape="0">
              <a:srgbClr val="14163A">
                <a:alpha val="12000"/>
              </a:srgbClr>
            </a:outerShdw>
          </a:effectLst>
        </p:spPr>
      </p:sp>
      <p:sp>
        <p:nvSpPr>
          <p:cNvPr id="25" name="Shape 23"/>
          <p:cNvSpPr/>
          <p:nvPr/>
        </p:nvSpPr>
        <p:spPr>
          <a:xfrm>
            <a:off x="6373368" y="2898648"/>
            <a:ext cx="512064" cy="512064"/>
          </a:xfrm>
          <a:prstGeom prst="ellipse">
            <a:avLst/>
          </a:prstGeom>
          <a:solidFill>
            <a:srgbClr val="5B4FE9"/>
          </a:solidFill>
          <a:ln/>
        </p:spPr>
      </p:sp>
      <p:sp>
        <p:nvSpPr>
          <p:cNvPr id="26" name="Text 24"/>
          <p:cNvSpPr txBox="1"/>
          <p:nvPr/>
        </p:nvSpPr>
        <p:spPr>
          <a:xfrm>
            <a:off x="6373368" y="2898648"/>
            <a:ext cx="512064" cy="512064"/>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27" name="Text 25"/>
          <p:cNvSpPr txBox="1"/>
          <p:nvPr/>
        </p:nvSpPr>
        <p:spPr>
          <a:xfrm>
            <a:off x="7040880" y="2752344"/>
            <a:ext cx="4297680" cy="804672"/>
          </a:xfrm>
          <a:prstGeom prst="rect">
            <a:avLst/>
          </a:prstGeom>
          <a:noFill/>
          <a:ln/>
        </p:spPr>
        <p:txBody>
          <a:bodyPr wrap="square" rtlCol="0" anchor="ctr"/>
          <a:lstStyle/>
          <a:p>
            <a:pPr marL="0" indent="0">
              <a:buNone/>
            </a:pPr>
            <a:r>
              <a:rPr lang="en-US" sz="1200" dirty="0">
                <a:solidFill>
                  <a:srgbClr val="14163A"/>
                </a:solidFill>
                <a:latin typeface="Calibri" pitchFamily="34" charset="0"/>
                <a:ea typeface="Calibri" pitchFamily="34" charset="-122"/>
                <a:cs typeface="Calibri" pitchFamily="34" charset="-120"/>
              </a:rPr>
              <a:t>Reduce the influence of stale memories using decay.</a:t>
            </a:r>
            <a:endParaRPr lang="en-US" sz="1200" dirty="0"/>
          </a:p>
        </p:txBody>
      </p:sp>
      <p:sp>
        <p:nvSpPr>
          <p:cNvPr id="28" name="Shape 26"/>
          <p:cNvSpPr/>
          <p:nvPr/>
        </p:nvSpPr>
        <p:spPr>
          <a:xfrm>
            <a:off x="6172200" y="3867912"/>
            <a:ext cx="5349240" cy="1024128"/>
          </a:xfrm>
          <a:prstGeom prst="roundRect">
            <a:avLst>
              <a:gd name="adj" fmla="val 8929"/>
            </a:avLst>
          </a:prstGeom>
          <a:solidFill>
            <a:srgbClr val="FFFFFF"/>
          </a:solidFill>
          <a:ln w="9525">
            <a:solidFill>
              <a:srgbClr val="DCDCF0"/>
            </a:solidFill>
            <a:prstDash val="solid"/>
          </a:ln>
          <a:effectLst>
            <a:outerShdw blurRad="101600" dist="38100" dir="5400000" algn="bl" rotWithShape="0">
              <a:srgbClr val="14163A">
                <a:alpha val="12000"/>
              </a:srgbClr>
            </a:outerShdw>
          </a:effectLst>
        </p:spPr>
      </p:sp>
      <p:sp>
        <p:nvSpPr>
          <p:cNvPr id="29" name="Shape 27"/>
          <p:cNvSpPr/>
          <p:nvPr/>
        </p:nvSpPr>
        <p:spPr>
          <a:xfrm>
            <a:off x="6373368" y="4123944"/>
            <a:ext cx="512064" cy="512064"/>
          </a:xfrm>
          <a:prstGeom prst="ellipse">
            <a:avLst/>
          </a:prstGeom>
          <a:solidFill>
            <a:srgbClr val="5B4FE9"/>
          </a:solidFill>
          <a:ln/>
        </p:spPr>
      </p:sp>
      <p:sp>
        <p:nvSpPr>
          <p:cNvPr id="30" name="Text 28"/>
          <p:cNvSpPr txBox="1"/>
          <p:nvPr/>
        </p:nvSpPr>
        <p:spPr>
          <a:xfrm>
            <a:off x="6373368" y="4123944"/>
            <a:ext cx="512064" cy="512064"/>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31" name="Text 29"/>
          <p:cNvSpPr txBox="1"/>
          <p:nvPr/>
        </p:nvSpPr>
        <p:spPr>
          <a:xfrm>
            <a:off x="7040880" y="3977640"/>
            <a:ext cx="4297680" cy="804672"/>
          </a:xfrm>
          <a:prstGeom prst="rect">
            <a:avLst/>
          </a:prstGeom>
          <a:noFill/>
          <a:ln/>
        </p:spPr>
        <p:txBody>
          <a:bodyPr wrap="square" rtlCol="0" anchor="ctr"/>
          <a:lstStyle/>
          <a:p>
            <a:pPr marL="0" indent="0">
              <a:buNone/>
            </a:pPr>
            <a:r>
              <a:rPr lang="en-US" sz="1200" dirty="0">
                <a:solidFill>
                  <a:srgbClr val="14163A"/>
                </a:solidFill>
                <a:latin typeface="Calibri" pitchFamily="34" charset="0"/>
                <a:ea typeface="Calibri" pitchFamily="34" charset="-122"/>
                <a:cs typeface="Calibri" pitchFamily="34" charset="-120"/>
              </a:rPr>
              <a:t>Provide memory provenance for every memory-grounded answer.</a:t>
            </a:r>
            <a:endParaRPr lang="en-US" sz="1200" dirty="0"/>
          </a:p>
        </p:txBody>
      </p:sp>
      <p:sp>
        <p:nvSpPr>
          <p:cNvPr id="32" name="Shape 30"/>
          <p:cNvSpPr/>
          <p:nvPr/>
        </p:nvSpPr>
        <p:spPr>
          <a:xfrm>
            <a:off x="6172200" y="5093208"/>
            <a:ext cx="5349240" cy="1024128"/>
          </a:xfrm>
          <a:prstGeom prst="roundRect">
            <a:avLst>
              <a:gd name="adj" fmla="val 8929"/>
            </a:avLst>
          </a:prstGeom>
          <a:solidFill>
            <a:srgbClr val="FFFFFF"/>
          </a:solidFill>
          <a:ln w="9525">
            <a:solidFill>
              <a:srgbClr val="DCDCF0"/>
            </a:solidFill>
            <a:prstDash val="solid"/>
          </a:ln>
          <a:effectLst>
            <a:outerShdw blurRad="101600" dist="38100" dir="5400000" algn="bl" rotWithShape="0">
              <a:srgbClr val="14163A">
                <a:alpha val="12000"/>
              </a:srgbClr>
            </a:outerShdw>
          </a:effectLst>
        </p:spPr>
      </p:sp>
      <p:sp>
        <p:nvSpPr>
          <p:cNvPr id="33" name="Shape 31"/>
          <p:cNvSpPr/>
          <p:nvPr/>
        </p:nvSpPr>
        <p:spPr>
          <a:xfrm>
            <a:off x="6373368" y="5349240"/>
            <a:ext cx="512064" cy="512064"/>
          </a:xfrm>
          <a:prstGeom prst="ellipse">
            <a:avLst/>
          </a:prstGeom>
          <a:solidFill>
            <a:srgbClr val="5B4FE9"/>
          </a:solidFill>
          <a:ln/>
        </p:spPr>
      </p:sp>
      <p:sp>
        <p:nvSpPr>
          <p:cNvPr id="34" name="Text 32"/>
          <p:cNvSpPr txBox="1"/>
          <p:nvPr/>
        </p:nvSpPr>
        <p:spPr>
          <a:xfrm>
            <a:off x="6373368" y="5349240"/>
            <a:ext cx="512064" cy="512064"/>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8</a:t>
            </a:r>
            <a:endParaRPr lang="en-US" sz="1600" dirty="0"/>
          </a:p>
        </p:txBody>
      </p:sp>
      <p:sp>
        <p:nvSpPr>
          <p:cNvPr id="35" name="Text 33"/>
          <p:cNvSpPr txBox="1"/>
          <p:nvPr/>
        </p:nvSpPr>
        <p:spPr>
          <a:xfrm>
            <a:off x="7040880" y="5202936"/>
            <a:ext cx="4297680" cy="804672"/>
          </a:xfrm>
          <a:prstGeom prst="rect">
            <a:avLst/>
          </a:prstGeom>
          <a:noFill/>
          <a:ln/>
        </p:spPr>
        <p:txBody>
          <a:bodyPr wrap="square" rtlCol="0" anchor="ctr"/>
          <a:lstStyle/>
          <a:p>
            <a:pPr marL="0" indent="0">
              <a:buNone/>
            </a:pPr>
            <a:r>
              <a:rPr lang="en-US" sz="1200" dirty="0">
                <a:solidFill>
                  <a:srgbClr val="14163A"/>
                </a:solidFill>
                <a:latin typeface="Calibri" pitchFamily="34" charset="0"/>
                <a:ea typeface="Calibri" pitchFamily="34" charset="-122"/>
                <a:cs typeface="Calibri" pitchFamily="34" charset="-120"/>
              </a:rPr>
              <a:t>Maintain separate memory spaces for multiple users.</a:t>
            </a:r>
            <a:endParaRPr lang="en-US" sz="1200" dirty="0"/>
          </a:p>
        </p:txBody>
      </p:sp>
      <p:sp>
        <p:nvSpPr>
          <p:cNvPr id="36" name="Text 34"/>
          <p:cNvSpPr txBox="1"/>
          <p:nvPr/>
        </p:nvSpPr>
        <p:spPr>
          <a:xfrm>
            <a:off x="11475720" y="6473952"/>
            <a:ext cx="548640" cy="274320"/>
          </a:xfrm>
          <a:prstGeom prst="rect">
            <a:avLst/>
          </a:prstGeom>
          <a:noFill/>
          <a:ln/>
        </p:spPr>
        <p:txBody>
          <a:bodyPr wrap="square" rtlCol="0" anchor="ctr"/>
          <a:lstStyle/>
          <a:p>
            <a:pPr marL="0" indent="0" algn="r">
              <a:buNone/>
            </a:pPr>
            <a:r>
              <a:rPr lang="en-US" sz="900" dirty="0">
                <a:solidFill>
                  <a:srgbClr val="6B6F9E"/>
                </a:solidFill>
                <a:latin typeface="Calibri" pitchFamily="34" charset="0"/>
                <a:ea typeface="Calibri" pitchFamily="34" charset="-122"/>
                <a:cs typeface="Calibri" pitchFamily="34" charset="-120"/>
              </a:rPr>
              <a:t>05</a:t>
            </a:r>
            <a:endParaRPr lang="en-US" sz="900" dirty="0"/>
          </a:p>
        </p:txBody>
      </p:sp>
      <p:sp>
        <p:nvSpPr>
          <p:cNvPr id="37" name="Text 35"/>
          <p:cNvSpPr txBox="1"/>
          <p:nvPr/>
        </p:nvSpPr>
        <p:spPr>
          <a:xfrm>
            <a:off x="548640" y="6473952"/>
            <a:ext cx="2743200" cy="274320"/>
          </a:xfrm>
          <a:prstGeom prst="rect">
            <a:avLst/>
          </a:prstGeom>
          <a:noFill/>
          <a:ln/>
        </p:spPr>
        <p:txBody>
          <a:bodyPr wrap="square" rtlCol="0" anchor="ctr"/>
          <a:lstStyle/>
          <a:p>
            <a:pPr marL="0" indent="0">
              <a:buNone/>
            </a:pPr>
            <a:r>
              <a:rPr lang="en-US" sz="900" kern="0" spc="100" dirty="0">
                <a:solidFill>
                  <a:srgbClr val="6B6F9E"/>
                </a:solidFill>
                <a:latin typeface="Calibri" pitchFamily="34" charset="0"/>
                <a:ea typeface="Calibri" pitchFamily="34" charset="-122"/>
                <a:cs typeface="Calibri" pitchFamily="34" charset="-120"/>
              </a:rPr>
              <a:t>MEMORA</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6FC"/>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rtlCol="0" anchor="ctr"/>
          <a:lstStyle/>
          <a:p>
            <a:pPr marL="0" indent="0">
              <a:buNone/>
            </a:pPr>
            <a:r>
              <a:rPr lang="en-US" sz="1250" b="1" kern="0" spc="200" dirty="0">
                <a:solidFill>
                  <a:srgbClr val="5B4FE9"/>
                </a:solidFill>
                <a:latin typeface="Calibri" pitchFamily="34" charset="0"/>
                <a:ea typeface="Calibri" pitchFamily="34" charset="-122"/>
                <a:cs typeface="Calibri" pitchFamily="34" charset="-120"/>
              </a:rPr>
              <a:t>SYSTEM ARCHITECTURE</a:t>
            </a:r>
            <a:endParaRPr lang="en-US" sz="1250" dirty="0"/>
          </a:p>
        </p:txBody>
      </p:sp>
      <p:sp>
        <p:nvSpPr>
          <p:cNvPr id="3" name="Text 1"/>
          <p:cNvSpPr txBox="1"/>
          <p:nvPr/>
        </p:nvSpPr>
        <p:spPr>
          <a:xfrm>
            <a:off x="548640" y="566928"/>
            <a:ext cx="10515600" cy="640080"/>
          </a:xfrm>
          <a:prstGeom prst="rect">
            <a:avLst/>
          </a:prstGeom>
          <a:noFill/>
          <a:ln/>
        </p:spPr>
        <p:txBody>
          <a:bodyPr wrap="square" rtlCol="0" anchor="ctr"/>
          <a:lstStyle/>
          <a:p>
            <a:pPr marL="0" indent="0">
              <a:buNone/>
            </a:pPr>
            <a:r>
              <a:rPr lang="en-US" sz="2700" b="1" dirty="0">
                <a:solidFill>
                  <a:srgbClr val="14163A"/>
                </a:solidFill>
                <a:latin typeface="Cambria" pitchFamily="34" charset="0"/>
                <a:ea typeface="Cambria" pitchFamily="34" charset="-122"/>
                <a:cs typeface="Cambria" pitchFamily="34" charset="-120"/>
              </a:rPr>
              <a:t>How the Pieces Fit Together</a:t>
            </a:r>
            <a:endParaRPr lang="en-US" sz="2700" dirty="0"/>
          </a:p>
        </p:txBody>
      </p:sp>
      <p:sp>
        <p:nvSpPr>
          <p:cNvPr id="4" name="Shape 2"/>
          <p:cNvSpPr/>
          <p:nvPr/>
        </p:nvSpPr>
        <p:spPr>
          <a:xfrm>
            <a:off x="4724705" y="1188720"/>
            <a:ext cx="2743200" cy="457200"/>
          </a:xfrm>
          <a:prstGeom prst="roundRect">
            <a:avLst>
              <a:gd name="adj" fmla="val 16000"/>
            </a:avLst>
          </a:prstGeom>
          <a:solidFill>
            <a:srgbClr val="FFFFFF"/>
          </a:solidFill>
          <a:ln w="9525">
            <a:solidFill>
              <a:srgbClr val="DCDCF0"/>
            </a:solidFill>
            <a:prstDash val="solid"/>
          </a:ln>
        </p:spPr>
      </p:sp>
      <p:sp>
        <p:nvSpPr>
          <p:cNvPr id="5" name="Text 3"/>
          <p:cNvSpPr txBox="1"/>
          <p:nvPr/>
        </p:nvSpPr>
        <p:spPr>
          <a:xfrm>
            <a:off x="4724705" y="1188720"/>
            <a:ext cx="2743200" cy="457200"/>
          </a:xfrm>
          <a:prstGeom prst="rect">
            <a:avLst/>
          </a:prstGeom>
          <a:noFill/>
          <a:ln/>
        </p:spPr>
        <p:txBody>
          <a:bodyPr wrap="square" rtlCol="0" anchor="ctr"/>
          <a:lstStyle/>
          <a:p>
            <a:pPr marL="0" indent="0" algn="ctr">
              <a:buNone/>
            </a:pPr>
            <a:r>
              <a:rPr lang="en-US" sz="1200" b="1" dirty="0">
                <a:solidFill>
                  <a:srgbClr val="14163A"/>
                </a:solidFill>
                <a:latin typeface="Calibri" pitchFamily="34" charset="0"/>
                <a:ea typeface="Calibri" pitchFamily="34" charset="-122"/>
                <a:cs typeface="Calibri" pitchFamily="34" charset="-120"/>
              </a:rPr>
              <a:t>CHAT UI</a:t>
            </a:r>
            <a:endParaRPr lang="en-US" sz="1200" dirty="0"/>
          </a:p>
        </p:txBody>
      </p:sp>
      <p:sp>
        <p:nvSpPr>
          <p:cNvPr id="6" name="Shape 4"/>
          <p:cNvSpPr/>
          <p:nvPr/>
        </p:nvSpPr>
        <p:spPr>
          <a:xfrm>
            <a:off x="6096305" y="1645920"/>
            <a:ext cx="0" cy="228600"/>
          </a:xfrm>
          <a:prstGeom prst="line">
            <a:avLst/>
          </a:prstGeom>
          <a:noFill/>
          <a:ln w="15875">
            <a:solidFill>
              <a:srgbClr val="6B6F9E"/>
            </a:solidFill>
            <a:prstDash val="solid"/>
            <a:tailEnd type="triangle"/>
          </a:ln>
        </p:spPr>
      </p:sp>
      <p:sp>
        <p:nvSpPr>
          <p:cNvPr id="7" name="Shape 5"/>
          <p:cNvSpPr/>
          <p:nvPr/>
        </p:nvSpPr>
        <p:spPr>
          <a:xfrm>
            <a:off x="4541825" y="1874520"/>
            <a:ext cx="3108960" cy="457200"/>
          </a:xfrm>
          <a:prstGeom prst="roundRect">
            <a:avLst>
              <a:gd name="adj" fmla="val 16000"/>
            </a:avLst>
          </a:prstGeom>
          <a:solidFill>
            <a:srgbClr val="FFFFFF"/>
          </a:solidFill>
          <a:ln w="9525">
            <a:solidFill>
              <a:srgbClr val="DCDCF0"/>
            </a:solidFill>
            <a:prstDash val="solid"/>
          </a:ln>
        </p:spPr>
      </p:sp>
      <p:sp>
        <p:nvSpPr>
          <p:cNvPr id="8" name="Text 6"/>
          <p:cNvSpPr txBox="1"/>
          <p:nvPr/>
        </p:nvSpPr>
        <p:spPr>
          <a:xfrm>
            <a:off x="4541825" y="1874520"/>
            <a:ext cx="3108960" cy="457200"/>
          </a:xfrm>
          <a:prstGeom prst="rect">
            <a:avLst/>
          </a:prstGeom>
          <a:noFill/>
          <a:ln/>
        </p:spPr>
        <p:txBody>
          <a:bodyPr wrap="square" rtlCol="0" anchor="ctr"/>
          <a:lstStyle/>
          <a:p>
            <a:pPr marL="0" indent="0" algn="ctr">
              <a:buNone/>
            </a:pPr>
            <a:r>
              <a:rPr lang="en-US" sz="1200" b="1" dirty="0">
                <a:solidFill>
                  <a:srgbClr val="14163A"/>
                </a:solidFill>
                <a:latin typeface="Calibri" pitchFamily="34" charset="0"/>
                <a:ea typeface="Calibri" pitchFamily="34" charset="-122"/>
                <a:cs typeface="Calibri" pitchFamily="34" charset="-120"/>
              </a:rPr>
              <a:t>FASTAPI BACKEND</a:t>
            </a:r>
            <a:endParaRPr lang="en-US" sz="1200" dirty="0"/>
          </a:p>
        </p:txBody>
      </p:sp>
      <p:sp>
        <p:nvSpPr>
          <p:cNvPr id="9" name="Shape 7"/>
          <p:cNvSpPr/>
          <p:nvPr/>
        </p:nvSpPr>
        <p:spPr>
          <a:xfrm>
            <a:off x="6096305" y="2331720"/>
            <a:ext cx="0" cy="228600"/>
          </a:xfrm>
          <a:prstGeom prst="line">
            <a:avLst/>
          </a:prstGeom>
          <a:noFill/>
          <a:ln w="15875">
            <a:solidFill>
              <a:srgbClr val="6B6F9E"/>
            </a:solidFill>
            <a:prstDash val="solid"/>
            <a:tailEnd type="triangle"/>
          </a:ln>
        </p:spPr>
      </p:sp>
      <p:sp>
        <p:nvSpPr>
          <p:cNvPr id="10" name="Shape 8"/>
          <p:cNvSpPr/>
          <p:nvPr/>
        </p:nvSpPr>
        <p:spPr>
          <a:xfrm>
            <a:off x="3261665" y="2560320"/>
            <a:ext cx="5669280" cy="1325880"/>
          </a:xfrm>
          <a:prstGeom prst="roundRect">
            <a:avLst>
              <a:gd name="adj" fmla="val 6207"/>
            </a:avLst>
          </a:prstGeom>
          <a:solidFill>
            <a:srgbClr val="14163A"/>
          </a:solidFill>
          <a:ln/>
        </p:spPr>
      </p:sp>
      <p:sp>
        <p:nvSpPr>
          <p:cNvPr id="11" name="Text 9"/>
          <p:cNvSpPr txBox="1"/>
          <p:nvPr/>
        </p:nvSpPr>
        <p:spPr>
          <a:xfrm>
            <a:off x="3261665" y="2670048"/>
            <a:ext cx="5669280" cy="320040"/>
          </a:xfrm>
          <a:prstGeom prst="rect">
            <a:avLst/>
          </a:prstGeom>
          <a:noFill/>
          <a:ln/>
        </p:spPr>
        <p:txBody>
          <a:bodyPr wrap="square" rtlCol="0" anchor="ctr"/>
          <a:lstStyle/>
          <a:p>
            <a:pPr marL="0" indent="0" algn="ctr">
              <a:buNone/>
            </a:pPr>
            <a:r>
              <a:rPr lang="en-US" sz="1300" b="1" kern="0" spc="200" dirty="0">
                <a:solidFill>
                  <a:srgbClr val="00D9C0"/>
                </a:solidFill>
                <a:latin typeface="Calibri" pitchFamily="34" charset="0"/>
                <a:ea typeface="Calibri" pitchFamily="34" charset="-122"/>
                <a:cs typeface="Calibri" pitchFamily="34" charset="-120"/>
              </a:rPr>
              <a:t>MEMORY ENGINE</a:t>
            </a:r>
            <a:endParaRPr lang="en-US" sz="1300" dirty="0"/>
          </a:p>
        </p:txBody>
      </p:sp>
      <p:sp>
        <p:nvSpPr>
          <p:cNvPr id="12" name="Shape 10"/>
          <p:cNvSpPr/>
          <p:nvPr/>
        </p:nvSpPr>
        <p:spPr>
          <a:xfrm>
            <a:off x="3353105" y="3154680"/>
            <a:ext cx="1024128" cy="502920"/>
          </a:xfrm>
          <a:prstGeom prst="roundRect">
            <a:avLst>
              <a:gd name="adj" fmla="val 14545"/>
            </a:avLst>
          </a:prstGeom>
          <a:solidFill>
            <a:srgbClr val="1E2166"/>
          </a:solidFill>
          <a:ln w="9525">
            <a:solidFill>
              <a:srgbClr val="5B4FE9"/>
            </a:solidFill>
            <a:prstDash val="solid"/>
          </a:ln>
        </p:spPr>
      </p:sp>
      <p:sp>
        <p:nvSpPr>
          <p:cNvPr id="13" name="Text 11"/>
          <p:cNvSpPr txBox="1"/>
          <p:nvPr/>
        </p:nvSpPr>
        <p:spPr>
          <a:xfrm>
            <a:off x="3307385" y="3154680"/>
            <a:ext cx="1115568" cy="502920"/>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Extract</a:t>
            </a:r>
            <a:endParaRPr lang="en-US" sz="850" dirty="0"/>
          </a:p>
        </p:txBody>
      </p:sp>
      <p:sp>
        <p:nvSpPr>
          <p:cNvPr id="14" name="Shape 12"/>
          <p:cNvSpPr/>
          <p:nvPr/>
        </p:nvSpPr>
        <p:spPr>
          <a:xfrm>
            <a:off x="4468673" y="3154680"/>
            <a:ext cx="1024128" cy="502920"/>
          </a:xfrm>
          <a:prstGeom prst="roundRect">
            <a:avLst>
              <a:gd name="adj" fmla="val 14545"/>
            </a:avLst>
          </a:prstGeom>
          <a:solidFill>
            <a:srgbClr val="1E2166"/>
          </a:solidFill>
          <a:ln w="9525">
            <a:solidFill>
              <a:srgbClr val="5B4FE9"/>
            </a:solidFill>
            <a:prstDash val="solid"/>
          </a:ln>
        </p:spPr>
      </p:sp>
      <p:sp>
        <p:nvSpPr>
          <p:cNvPr id="15" name="Text 13"/>
          <p:cNvSpPr txBox="1"/>
          <p:nvPr/>
        </p:nvSpPr>
        <p:spPr>
          <a:xfrm>
            <a:off x="4422953" y="3154680"/>
            <a:ext cx="1115568" cy="502920"/>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Retrieve</a:t>
            </a:r>
            <a:endParaRPr lang="en-US" sz="850" dirty="0"/>
          </a:p>
        </p:txBody>
      </p:sp>
      <p:sp>
        <p:nvSpPr>
          <p:cNvPr id="16" name="Shape 14"/>
          <p:cNvSpPr/>
          <p:nvPr/>
        </p:nvSpPr>
        <p:spPr>
          <a:xfrm>
            <a:off x="5584241" y="3154680"/>
            <a:ext cx="1024128" cy="502920"/>
          </a:xfrm>
          <a:prstGeom prst="roundRect">
            <a:avLst>
              <a:gd name="adj" fmla="val 14545"/>
            </a:avLst>
          </a:prstGeom>
          <a:solidFill>
            <a:srgbClr val="1E2166"/>
          </a:solidFill>
          <a:ln w="9525">
            <a:solidFill>
              <a:srgbClr val="5B4FE9"/>
            </a:solidFill>
            <a:prstDash val="solid"/>
          </a:ln>
        </p:spPr>
      </p:sp>
      <p:sp>
        <p:nvSpPr>
          <p:cNvPr id="17" name="Text 15"/>
          <p:cNvSpPr txBox="1"/>
          <p:nvPr/>
        </p:nvSpPr>
        <p:spPr>
          <a:xfrm>
            <a:off x="5538521" y="3154680"/>
            <a:ext cx="1115568" cy="502920"/>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Update</a:t>
            </a:r>
            <a:endParaRPr lang="en-US" sz="850" dirty="0"/>
          </a:p>
        </p:txBody>
      </p:sp>
      <p:sp>
        <p:nvSpPr>
          <p:cNvPr id="18" name="Shape 16"/>
          <p:cNvSpPr/>
          <p:nvPr/>
        </p:nvSpPr>
        <p:spPr>
          <a:xfrm>
            <a:off x="6699809" y="3154680"/>
            <a:ext cx="1024128" cy="502920"/>
          </a:xfrm>
          <a:prstGeom prst="roundRect">
            <a:avLst>
              <a:gd name="adj" fmla="val 14545"/>
            </a:avLst>
          </a:prstGeom>
          <a:solidFill>
            <a:srgbClr val="1E2166"/>
          </a:solidFill>
          <a:ln w="9525">
            <a:solidFill>
              <a:srgbClr val="5B4FE9"/>
            </a:solidFill>
            <a:prstDash val="solid"/>
          </a:ln>
        </p:spPr>
      </p:sp>
      <p:sp>
        <p:nvSpPr>
          <p:cNvPr id="19" name="Text 17"/>
          <p:cNvSpPr txBox="1"/>
          <p:nvPr/>
        </p:nvSpPr>
        <p:spPr>
          <a:xfrm>
            <a:off x="6654089" y="3154680"/>
            <a:ext cx="1115568" cy="502920"/>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Conflict Check</a:t>
            </a:r>
            <a:endParaRPr lang="en-US" sz="850" dirty="0"/>
          </a:p>
        </p:txBody>
      </p:sp>
      <p:sp>
        <p:nvSpPr>
          <p:cNvPr id="20" name="Shape 18"/>
          <p:cNvSpPr/>
          <p:nvPr/>
        </p:nvSpPr>
        <p:spPr>
          <a:xfrm>
            <a:off x="7815377" y="3154680"/>
            <a:ext cx="1024128" cy="502920"/>
          </a:xfrm>
          <a:prstGeom prst="roundRect">
            <a:avLst>
              <a:gd name="adj" fmla="val 14545"/>
            </a:avLst>
          </a:prstGeom>
          <a:solidFill>
            <a:srgbClr val="1E2166"/>
          </a:solidFill>
          <a:ln w="9525">
            <a:solidFill>
              <a:srgbClr val="5B4FE9"/>
            </a:solidFill>
            <a:prstDash val="solid"/>
          </a:ln>
        </p:spPr>
      </p:sp>
      <p:sp>
        <p:nvSpPr>
          <p:cNvPr id="21" name="Text 19"/>
          <p:cNvSpPr txBox="1"/>
          <p:nvPr/>
        </p:nvSpPr>
        <p:spPr>
          <a:xfrm>
            <a:off x="7769657" y="3154680"/>
            <a:ext cx="1115568" cy="502920"/>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Decay</a:t>
            </a:r>
            <a:endParaRPr lang="en-US" sz="850" dirty="0"/>
          </a:p>
        </p:txBody>
      </p:sp>
      <p:sp>
        <p:nvSpPr>
          <p:cNvPr id="22" name="Shape 20"/>
          <p:cNvSpPr/>
          <p:nvPr/>
        </p:nvSpPr>
        <p:spPr>
          <a:xfrm>
            <a:off x="4541825" y="3886200"/>
            <a:ext cx="0" cy="228600"/>
          </a:xfrm>
          <a:prstGeom prst="line">
            <a:avLst/>
          </a:prstGeom>
          <a:noFill/>
          <a:ln w="15875">
            <a:solidFill>
              <a:srgbClr val="6B6F9E"/>
            </a:solidFill>
            <a:prstDash val="solid"/>
            <a:tailEnd type="triangle"/>
          </a:ln>
        </p:spPr>
      </p:sp>
      <p:sp>
        <p:nvSpPr>
          <p:cNvPr id="23" name="Shape 21"/>
          <p:cNvSpPr/>
          <p:nvPr/>
        </p:nvSpPr>
        <p:spPr>
          <a:xfrm>
            <a:off x="7650785" y="3886200"/>
            <a:ext cx="0" cy="228600"/>
          </a:xfrm>
          <a:prstGeom prst="line">
            <a:avLst/>
          </a:prstGeom>
          <a:noFill/>
          <a:ln w="15875">
            <a:solidFill>
              <a:srgbClr val="6B6F9E"/>
            </a:solidFill>
            <a:prstDash val="solid"/>
            <a:tailEnd type="triangle"/>
          </a:ln>
        </p:spPr>
      </p:sp>
      <p:sp>
        <p:nvSpPr>
          <p:cNvPr id="24" name="Shape 22"/>
          <p:cNvSpPr/>
          <p:nvPr/>
        </p:nvSpPr>
        <p:spPr>
          <a:xfrm>
            <a:off x="3261665" y="4114800"/>
            <a:ext cx="2606040" cy="640080"/>
          </a:xfrm>
          <a:prstGeom prst="roundRect">
            <a:avLst>
              <a:gd name="adj" fmla="val 11429"/>
            </a:avLst>
          </a:prstGeom>
          <a:solidFill>
            <a:srgbClr val="EFEBFF"/>
          </a:solidFill>
          <a:ln/>
        </p:spPr>
      </p:sp>
      <p:sp>
        <p:nvSpPr>
          <p:cNvPr id="25" name="Shape 23"/>
          <p:cNvSpPr/>
          <p:nvPr/>
        </p:nvSpPr>
        <p:spPr>
          <a:xfrm>
            <a:off x="3535985" y="4251960"/>
            <a:ext cx="365760" cy="365760"/>
          </a:xfrm>
          <a:prstGeom prst="ellipse">
            <a:avLst/>
          </a:prstGeom>
          <a:solidFill>
            <a:srgbClr val="FFFFFF"/>
          </a:solidFill>
          <a:ln/>
        </p:spPr>
      </p:sp>
      <p:pic>
        <p:nvPicPr>
          <p:cNvPr id="26" name="Image 0" descr="preencoded.png"/>
          <p:cNvPicPr>
            <a:picLocks noChangeAspect="1"/>
          </p:cNvPicPr>
          <p:nvPr/>
        </p:nvPicPr>
        <p:blipFill>
          <a:blip r:embed="rId3"/>
          <a:stretch>
            <a:fillRect/>
          </a:stretch>
        </p:blipFill>
        <p:spPr>
          <a:xfrm>
            <a:off x="3627425" y="4343400"/>
            <a:ext cx="182880" cy="182880"/>
          </a:xfrm>
          <a:prstGeom prst="rect">
            <a:avLst/>
          </a:prstGeom>
        </p:spPr>
      </p:pic>
      <p:sp>
        <p:nvSpPr>
          <p:cNvPr id="27" name="Text 24"/>
          <p:cNvSpPr txBox="1"/>
          <p:nvPr/>
        </p:nvSpPr>
        <p:spPr>
          <a:xfrm>
            <a:off x="3810305" y="4114800"/>
            <a:ext cx="2011680" cy="640080"/>
          </a:xfrm>
          <a:prstGeom prst="rect">
            <a:avLst/>
          </a:prstGeom>
          <a:noFill/>
          <a:ln/>
        </p:spPr>
        <p:txBody>
          <a:bodyPr wrap="square" rtlCol="0" anchor="ctr"/>
          <a:lstStyle/>
          <a:p>
            <a:pPr marL="0" indent="0">
              <a:buNone/>
            </a:pPr>
            <a:r>
              <a:rPr lang="en-US" sz="1100" b="1" dirty="0">
                <a:solidFill>
                  <a:srgbClr val="14163A"/>
                </a:solidFill>
                <a:latin typeface="Calibri" pitchFamily="34" charset="0"/>
                <a:ea typeface="Calibri" pitchFamily="34" charset="-122"/>
                <a:cs typeface="Calibri" pitchFamily="34" charset="-120"/>
              </a:rPr>
              <a:t>ChromaDB</a:t>
            </a:r>
            <a:endParaRPr lang="en-US" sz="1100" dirty="0"/>
          </a:p>
          <a:p>
            <a:pPr marL="0" indent="0">
              <a:buNone/>
            </a:pPr>
            <a:r>
              <a:rPr lang="en-US" sz="1100" b="1" dirty="0">
                <a:solidFill>
                  <a:srgbClr val="14163A"/>
                </a:solidFill>
                <a:latin typeface="Calibri" pitchFamily="34" charset="0"/>
                <a:ea typeface="Calibri" pitchFamily="34" charset="-122"/>
                <a:cs typeface="Calibri" pitchFamily="34" charset="-120"/>
              </a:rPr>
              <a:t>Vectors</a:t>
            </a:r>
            <a:endParaRPr lang="en-US" sz="1100" dirty="0"/>
          </a:p>
        </p:txBody>
      </p:sp>
      <p:sp>
        <p:nvSpPr>
          <p:cNvPr id="28" name="Shape 25"/>
          <p:cNvSpPr/>
          <p:nvPr/>
        </p:nvSpPr>
        <p:spPr>
          <a:xfrm>
            <a:off x="6324905" y="4114800"/>
            <a:ext cx="2606040" cy="640080"/>
          </a:xfrm>
          <a:prstGeom prst="roundRect">
            <a:avLst>
              <a:gd name="adj" fmla="val 11429"/>
            </a:avLst>
          </a:prstGeom>
          <a:solidFill>
            <a:srgbClr val="E6FBF8"/>
          </a:solidFill>
          <a:ln/>
        </p:spPr>
      </p:sp>
      <p:sp>
        <p:nvSpPr>
          <p:cNvPr id="29" name="Shape 26"/>
          <p:cNvSpPr/>
          <p:nvPr/>
        </p:nvSpPr>
        <p:spPr>
          <a:xfrm>
            <a:off x="6599225" y="4251960"/>
            <a:ext cx="365760" cy="365760"/>
          </a:xfrm>
          <a:prstGeom prst="ellipse">
            <a:avLst/>
          </a:prstGeom>
          <a:solidFill>
            <a:srgbClr val="FFFFFF"/>
          </a:solidFill>
          <a:ln/>
        </p:spPr>
      </p:sp>
      <p:pic>
        <p:nvPicPr>
          <p:cNvPr id="30" name="Image 1" descr="preencoded.png"/>
          <p:cNvPicPr>
            <a:picLocks noChangeAspect="1"/>
          </p:cNvPicPr>
          <p:nvPr/>
        </p:nvPicPr>
        <p:blipFill>
          <a:blip r:embed="rId4"/>
          <a:stretch>
            <a:fillRect/>
          </a:stretch>
        </p:blipFill>
        <p:spPr>
          <a:xfrm>
            <a:off x="6690665" y="4343400"/>
            <a:ext cx="182880" cy="182880"/>
          </a:xfrm>
          <a:prstGeom prst="rect">
            <a:avLst/>
          </a:prstGeom>
        </p:spPr>
      </p:pic>
      <p:sp>
        <p:nvSpPr>
          <p:cNvPr id="31" name="Text 27"/>
          <p:cNvSpPr txBox="1"/>
          <p:nvPr/>
        </p:nvSpPr>
        <p:spPr>
          <a:xfrm>
            <a:off x="6873545" y="4114800"/>
            <a:ext cx="2011680" cy="640080"/>
          </a:xfrm>
          <a:prstGeom prst="rect">
            <a:avLst/>
          </a:prstGeom>
          <a:noFill/>
          <a:ln/>
        </p:spPr>
        <p:txBody>
          <a:bodyPr wrap="square" rtlCol="0" anchor="ctr"/>
          <a:lstStyle/>
          <a:p>
            <a:pPr marL="0" indent="0">
              <a:buNone/>
            </a:pPr>
            <a:r>
              <a:rPr lang="en-US" sz="1100" b="1" dirty="0">
                <a:solidFill>
                  <a:srgbClr val="14163A"/>
                </a:solidFill>
                <a:latin typeface="Calibri" pitchFamily="34" charset="0"/>
                <a:ea typeface="Calibri" pitchFamily="34" charset="-122"/>
                <a:cs typeface="Calibri" pitchFamily="34" charset="-120"/>
              </a:rPr>
              <a:t>SQLite</a:t>
            </a:r>
            <a:endParaRPr lang="en-US" sz="1100" dirty="0"/>
          </a:p>
          <a:p>
            <a:pPr marL="0" indent="0">
              <a:buNone/>
            </a:pPr>
            <a:r>
              <a:rPr lang="en-US" sz="1100" b="1" dirty="0">
                <a:solidFill>
                  <a:srgbClr val="14163A"/>
                </a:solidFill>
                <a:latin typeface="Calibri" pitchFamily="34" charset="0"/>
                <a:ea typeface="Calibri" pitchFamily="34" charset="-122"/>
                <a:cs typeface="Calibri" pitchFamily="34" charset="-120"/>
              </a:rPr>
              <a:t>Metadata</a:t>
            </a:r>
            <a:endParaRPr lang="en-US" sz="1100" dirty="0"/>
          </a:p>
        </p:txBody>
      </p:sp>
      <p:sp>
        <p:nvSpPr>
          <p:cNvPr id="32" name="Shape 28"/>
          <p:cNvSpPr/>
          <p:nvPr/>
        </p:nvSpPr>
        <p:spPr>
          <a:xfrm>
            <a:off x="4587545" y="4754880"/>
            <a:ext cx="0" cy="228600"/>
          </a:xfrm>
          <a:prstGeom prst="line">
            <a:avLst/>
          </a:prstGeom>
          <a:noFill/>
          <a:ln w="15875">
            <a:solidFill>
              <a:srgbClr val="6B6F9E"/>
            </a:solidFill>
            <a:prstDash val="solid"/>
            <a:tailEnd type="triangle"/>
          </a:ln>
        </p:spPr>
      </p:sp>
      <p:sp>
        <p:nvSpPr>
          <p:cNvPr id="33" name="Shape 29"/>
          <p:cNvSpPr/>
          <p:nvPr/>
        </p:nvSpPr>
        <p:spPr>
          <a:xfrm>
            <a:off x="7605065" y="4754880"/>
            <a:ext cx="0" cy="228600"/>
          </a:xfrm>
          <a:prstGeom prst="line">
            <a:avLst/>
          </a:prstGeom>
          <a:noFill/>
          <a:ln w="15875">
            <a:solidFill>
              <a:srgbClr val="6B6F9E"/>
            </a:solidFill>
            <a:prstDash val="solid"/>
            <a:tailEnd type="triangle"/>
          </a:ln>
        </p:spPr>
      </p:sp>
      <p:sp>
        <p:nvSpPr>
          <p:cNvPr id="34" name="Shape 30"/>
          <p:cNvSpPr/>
          <p:nvPr/>
        </p:nvSpPr>
        <p:spPr>
          <a:xfrm>
            <a:off x="4587545" y="4983480"/>
            <a:ext cx="1508760" cy="0"/>
          </a:xfrm>
          <a:prstGeom prst="line">
            <a:avLst/>
          </a:prstGeom>
          <a:noFill/>
          <a:ln w="15875">
            <a:solidFill>
              <a:srgbClr val="6B6F9E"/>
            </a:solidFill>
            <a:prstDash val="solid"/>
          </a:ln>
        </p:spPr>
      </p:sp>
      <p:sp>
        <p:nvSpPr>
          <p:cNvPr id="35" name="Shape 31"/>
          <p:cNvSpPr/>
          <p:nvPr/>
        </p:nvSpPr>
        <p:spPr>
          <a:xfrm>
            <a:off x="6096305" y="4983480"/>
            <a:ext cx="1508760" cy="0"/>
          </a:xfrm>
          <a:prstGeom prst="line">
            <a:avLst/>
          </a:prstGeom>
          <a:noFill/>
          <a:ln w="15875">
            <a:solidFill>
              <a:srgbClr val="6B6F9E"/>
            </a:solidFill>
            <a:prstDash val="solid"/>
          </a:ln>
        </p:spPr>
      </p:sp>
      <p:sp>
        <p:nvSpPr>
          <p:cNvPr id="36" name="Shape 32"/>
          <p:cNvSpPr/>
          <p:nvPr/>
        </p:nvSpPr>
        <p:spPr>
          <a:xfrm>
            <a:off x="6096305" y="4983480"/>
            <a:ext cx="0" cy="182880"/>
          </a:xfrm>
          <a:prstGeom prst="line">
            <a:avLst/>
          </a:prstGeom>
          <a:noFill/>
          <a:ln w="15875">
            <a:solidFill>
              <a:srgbClr val="6B6F9E"/>
            </a:solidFill>
            <a:prstDash val="solid"/>
            <a:tailEnd type="triangle"/>
          </a:ln>
        </p:spPr>
      </p:sp>
      <p:sp>
        <p:nvSpPr>
          <p:cNvPr id="37" name="Shape 33"/>
          <p:cNvSpPr/>
          <p:nvPr/>
        </p:nvSpPr>
        <p:spPr>
          <a:xfrm>
            <a:off x="4816145" y="5166360"/>
            <a:ext cx="2560320" cy="457200"/>
          </a:xfrm>
          <a:prstGeom prst="roundRect">
            <a:avLst>
              <a:gd name="adj" fmla="val 16000"/>
            </a:avLst>
          </a:prstGeom>
          <a:solidFill>
            <a:srgbClr val="5B4FE9"/>
          </a:solidFill>
          <a:ln/>
        </p:spPr>
      </p:sp>
      <p:sp>
        <p:nvSpPr>
          <p:cNvPr id="38" name="Text 34"/>
          <p:cNvSpPr txBox="1"/>
          <p:nvPr/>
        </p:nvSpPr>
        <p:spPr>
          <a:xfrm>
            <a:off x="4816145" y="5166360"/>
            <a:ext cx="2560320"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LLM</a:t>
            </a:r>
            <a:endParaRPr lang="en-US" sz="1300" dirty="0"/>
          </a:p>
        </p:txBody>
      </p:sp>
      <p:sp>
        <p:nvSpPr>
          <p:cNvPr id="39" name="Shape 35"/>
          <p:cNvSpPr/>
          <p:nvPr/>
        </p:nvSpPr>
        <p:spPr>
          <a:xfrm>
            <a:off x="5181905" y="5623560"/>
            <a:ext cx="0" cy="228600"/>
          </a:xfrm>
          <a:prstGeom prst="line">
            <a:avLst/>
          </a:prstGeom>
          <a:noFill/>
          <a:ln w="15875">
            <a:solidFill>
              <a:srgbClr val="6B6F9E"/>
            </a:solidFill>
            <a:prstDash val="solid"/>
            <a:tailEnd type="triangle"/>
          </a:ln>
        </p:spPr>
      </p:sp>
      <p:sp>
        <p:nvSpPr>
          <p:cNvPr id="40" name="Shape 36"/>
          <p:cNvSpPr/>
          <p:nvPr/>
        </p:nvSpPr>
        <p:spPr>
          <a:xfrm>
            <a:off x="7010705" y="5623560"/>
            <a:ext cx="0" cy="228600"/>
          </a:xfrm>
          <a:prstGeom prst="line">
            <a:avLst/>
          </a:prstGeom>
          <a:noFill/>
          <a:ln w="15875">
            <a:solidFill>
              <a:srgbClr val="6B6F9E"/>
            </a:solidFill>
            <a:prstDash val="solid"/>
            <a:tailEnd type="triangle"/>
          </a:ln>
        </p:spPr>
      </p:sp>
      <p:sp>
        <p:nvSpPr>
          <p:cNvPr id="41" name="Shape 37"/>
          <p:cNvSpPr/>
          <p:nvPr/>
        </p:nvSpPr>
        <p:spPr>
          <a:xfrm>
            <a:off x="3627425" y="5852160"/>
            <a:ext cx="2194560" cy="457200"/>
          </a:xfrm>
          <a:prstGeom prst="roundRect">
            <a:avLst>
              <a:gd name="adj" fmla="val 16000"/>
            </a:avLst>
          </a:prstGeom>
          <a:solidFill>
            <a:srgbClr val="FFFFFF"/>
          </a:solidFill>
          <a:ln w="9525">
            <a:solidFill>
              <a:srgbClr val="DCDCF0"/>
            </a:solidFill>
            <a:prstDash val="solid"/>
          </a:ln>
        </p:spPr>
      </p:sp>
      <p:sp>
        <p:nvSpPr>
          <p:cNvPr id="42" name="Text 38"/>
          <p:cNvSpPr txBox="1"/>
          <p:nvPr/>
        </p:nvSpPr>
        <p:spPr>
          <a:xfrm>
            <a:off x="3627425" y="5852160"/>
            <a:ext cx="2194560" cy="457200"/>
          </a:xfrm>
          <a:prstGeom prst="rect">
            <a:avLst/>
          </a:prstGeom>
          <a:noFill/>
          <a:ln/>
        </p:spPr>
        <p:txBody>
          <a:bodyPr wrap="square" rtlCol="0" anchor="ctr"/>
          <a:lstStyle/>
          <a:p>
            <a:pPr marL="0" indent="0" algn="ctr">
              <a:buNone/>
            </a:pPr>
            <a:r>
              <a:rPr lang="en-US" sz="1150" b="1" dirty="0">
                <a:solidFill>
                  <a:srgbClr val="14163A"/>
                </a:solidFill>
                <a:latin typeface="Calibri" pitchFamily="34" charset="0"/>
                <a:ea typeface="Calibri" pitchFamily="34" charset="-122"/>
                <a:cs typeface="Calibri" pitchFamily="34" charset="-120"/>
              </a:rPr>
              <a:t>Answer</a:t>
            </a:r>
            <a:endParaRPr lang="en-US" sz="1150" dirty="0"/>
          </a:p>
        </p:txBody>
      </p:sp>
      <p:sp>
        <p:nvSpPr>
          <p:cNvPr id="43" name="Shape 39"/>
          <p:cNvSpPr/>
          <p:nvPr/>
        </p:nvSpPr>
        <p:spPr>
          <a:xfrm>
            <a:off x="6370625" y="5852160"/>
            <a:ext cx="2194560" cy="457200"/>
          </a:xfrm>
          <a:prstGeom prst="roundRect">
            <a:avLst>
              <a:gd name="adj" fmla="val 16000"/>
            </a:avLst>
          </a:prstGeom>
          <a:solidFill>
            <a:srgbClr val="FFFFFF"/>
          </a:solidFill>
          <a:ln w="9525">
            <a:solidFill>
              <a:srgbClr val="DCDCF0"/>
            </a:solidFill>
            <a:prstDash val="solid"/>
          </a:ln>
        </p:spPr>
      </p:sp>
      <p:sp>
        <p:nvSpPr>
          <p:cNvPr id="44" name="Text 40"/>
          <p:cNvSpPr txBox="1"/>
          <p:nvPr/>
        </p:nvSpPr>
        <p:spPr>
          <a:xfrm>
            <a:off x="6370625" y="5852160"/>
            <a:ext cx="2194560" cy="457200"/>
          </a:xfrm>
          <a:prstGeom prst="rect">
            <a:avLst/>
          </a:prstGeom>
          <a:noFill/>
          <a:ln/>
        </p:spPr>
        <p:txBody>
          <a:bodyPr wrap="square" rtlCol="0" anchor="ctr"/>
          <a:lstStyle/>
          <a:p>
            <a:pPr marL="0" indent="0" algn="ctr">
              <a:buNone/>
            </a:pPr>
            <a:r>
              <a:rPr lang="en-US" sz="1150" b="1" dirty="0">
                <a:solidFill>
                  <a:srgbClr val="14163A"/>
                </a:solidFill>
                <a:latin typeface="Calibri" pitchFamily="34" charset="0"/>
                <a:ea typeface="Calibri" pitchFamily="34" charset="-122"/>
                <a:cs typeface="Calibri" pitchFamily="34" charset="-120"/>
              </a:rPr>
              <a:t>Memory Source</a:t>
            </a:r>
            <a:endParaRPr lang="en-US" sz="1150" dirty="0"/>
          </a:p>
        </p:txBody>
      </p:sp>
      <p:sp>
        <p:nvSpPr>
          <p:cNvPr id="45" name="Text 41"/>
          <p:cNvSpPr txBox="1"/>
          <p:nvPr/>
        </p:nvSpPr>
        <p:spPr>
          <a:xfrm>
            <a:off x="11475720" y="6473952"/>
            <a:ext cx="548640" cy="274320"/>
          </a:xfrm>
          <a:prstGeom prst="rect">
            <a:avLst/>
          </a:prstGeom>
          <a:noFill/>
          <a:ln/>
        </p:spPr>
        <p:txBody>
          <a:bodyPr wrap="square" rtlCol="0" anchor="ctr"/>
          <a:lstStyle/>
          <a:p>
            <a:pPr marL="0" indent="0" algn="r">
              <a:buNone/>
            </a:pPr>
            <a:r>
              <a:rPr lang="en-US" sz="900" dirty="0">
                <a:solidFill>
                  <a:srgbClr val="6B6F9E"/>
                </a:solidFill>
                <a:latin typeface="Calibri" pitchFamily="34" charset="0"/>
                <a:ea typeface="Calibri" pitchFamily="34" charset="-122"/>
                <a:cs typeface="Calibri" pitchFamily="34" charset="-120"/>
              </a:rPr>
              <a:t>06</a:t>
            </a:r>
            <a:endParaRPr lang="en-US" sz="900" dirty="0"/>
          </a:p>
        </p:txBody>
      </p:sp>
      <p:sp>
        <p:nvSpPr>
          <p:cNvPr id="46" name="Text 42"/>
          <p:cNvSpPr txBox="1"/>
          <p:nvPr/>
        </p:nvSpPr>
        <p:spPr>
          <a:xfrm>
            <a:off x="548640" y="6473952"/>
            <a:ext cx="2743200" cy="274320"/>
          </a:xfrm>
          <a:prstGeom prst="rect">
            <a:avLst/>
          </a:prstGeom>
          <a:noFill/>
          <a:ln/>
        </p:spPr>
        <p:txBody>
          <a:bodyPr wrap="square" rtlCol="0" anchor="ctr"/>
          <a:lstStyle/>
          <a:p>
            <a:pPr marL="0" indent="0">
              <a:buNone/>
            </a:pPr>
            <a:r>
              <a:rPr lang="en-US" sz="900" kern="0" spc="100" dirty="0">
                <a:solidFill>
                  <a:srgbClr val="6B6F9E"/>
                </a:solidFill>
                <a:latin typeface="Calibri" pitchFamily="34" charset="0"/>
                <a:ea typeface="Calibri" pitchFamily="34" charset="-122"/>
                <a:cs typeface="Calibri" pitchFamily="34" charset="-120"/>
              </a:rPr>
              <a:t>MEMORA</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6FC"/>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rtlCol="0" anchor="ctr"/>
          <a:lstStyle/>
          <a:p>
            <a:pPr marL="0" indent="0">
              <a:buNone/>
            </a:pPr>
            <a:r>
              <a:rPr lang="en-US" sz="1250" b="1" kern="0" spc="200" dirty="0">
                <a:solidFill>
                  <a:srgbClr val="5B4FE9"/>
                </a:solidFill>
                <a:latin typeface="Calibri" pitchFamily="34" charset="0"/>
                <a:ea typeface="Calibri" pitchFamily="34" charset="-122"/>
                <a:cs typeface="Calibri" pitchFamily="34" charset="-120"/>
              </a:rPr>
              <a:t>MEMORY MODEL</a:t>
            </a:r>
            <a:endParaRPr lang="en-US" sz="1250" dirty="0"/>
          </a:p>
        </p:txBody>
      </p:sp>
      <p:sp>
        <p:nvSpPr>
          <p:cNvPr id="3" name="Text 1"/>
          <p:cNvSpPr txBox="1"/>
          <p:nvPr/>
        </p:nvSpPr>
        <p:spPr>
          <a:xfrm>
            <a:off x="548640" y="566928"/>
            <a:ext cx="10515600" cy="640080"/>
          </a:xfrm>
          <a:prstGeom prst="rect">
            <a:avLst/>
          </a:prstGeom>
          <a:noFill/>
          <a:ln/>
        </p:spPr>
        <p:txBody>
          <a:bodyPr wrap="square" rtlCol="0" anchor="ctr"/>
          <a:lstStyle/>
          <a:p>
            <a:pPr marL="0" indent="0">
              <a:buNone/>
            </a:pPr>
            <a:r>
              <a:rPr lang="en-US" sz="3000" b="1" dirty="0">
                <a:solidFill>
                  <a:srgbClr val="14163A"/>
                </a:solidFill>
                <a:latin typeface="Cambria" pitchFamily="34" charset="0"/>
                <a:ea typeface="Cambria" pitchFamily="34" charset="-122"/>
                <a:cs typeface="Cambria" pitchFamily="34" charset="-120"/>
              </a:rPr>
              <a:t>What Does the System Remember?</a:t>
            </a:r>
            <a:endParaRPr lang="en-US" sz="3000" dirty="0"/>
          </a:p>
        </p:txBody>
      </p:sp>
      <p:sp>
        <p:nvSpPr>
          <p:cNvPr id="4" name="Text 2"/>
          <p:cNvSpPr txBox="1"/>
          <p:nvPr/>
        </p:nvSpPr>
        <p:spPr>
          <a:xfrm>
            <a:off x="548640" y="1298448"/>
            <a:ext cx="7315200" cy="320040"/>
          </a:xfrm>
          <a:prstGeom prst="rect">
            <a:avLst/>
          </a:prstGeom>
          <a:noFill/>
          <a:ln/>
        </p:spPr>
        <p:txBody>
          <a:bodyPr wrap="square" rtlCol="0" anchor="ctr"/>
          <a:lstStyle/>
          <a:p>
            <a:pPr marL="0" indent="0">
              <a:buNone/>
            </a:pPr>
            <a:r>
              <a:rPr lang="en-US" sz="1300" dirty="0">
                <a:solidFill>
                  <a:srgbClr val="6B6F9E"/>
                </a:solidFill>
                <a:latin typeface="Calibri" pitchFamily="34" charset="0"/>
                <a:ea typeface="Calibri" pitchFamily="34" charset="-122"/>
                <a:cs typeface="Calibri" pitchFamily="34" charset="-120"/>
              </a:rPr>
              <a:t>Each memory contains both the fact and its state.</a:t>
            </a:r>
            <a:endParaRPr lang="en-US" sz="1300" dirty="0"/>
          </a:p>
        </p:txBody>
      </p:sp>
      <p:sp>
        <p:nvSpPr>
          <p:cNvPr id="5" name="Shape 3"/>
          <p:cNvSpPr/>
          <p:nvPr/>
        </p:nvSpPr>
        <p:spPr>
          <a:xfrm>
            <a:off x="548640" y="1783080"/>
            <a:ext cx="5120640" cy="4297680"/>
          </a:xfrm>
          <a:prstGeom prst="roundRect">
            <a:avLst>
              <a:gd name="adj" fmla="val 1702"/>
            </a:avLst>
          </a:prstGeom>
          <a:solidFill>
            <a:srgbClr val="14163A"/>
          </a:solidFill>
          <a:ln/>
          <a:effectLst>
            <a:outerShdw blurRad="101600" dist="38100" dir="5400000" algn="bl" rotWithShape="0">
              <a:srgbClr val="14163A">
                <a:alpha val="12000"/>
              </a:srgbClr>
            </a:outerShdw>
          </a:effectLst>
        </p:spPr>
      </p:sp>
      <p:sp>
        <p:nvSpPr>
          <p:cNvPr id="6" name="Shape 4"/>
          <p:cNvSpPr/>
          <p:nvPr/>
        </p:nvSpPr>
        <p:spPr>
          <a:xfrm>
            <a:off x="777240" y="1965960"/>
            <a:ext cx="128016" cy="128016"/>
          </a:xfrm>
          <a:prstGeom prst="ellipse">
            <a:avLst/>
          </a:prstGeom>
          <a:solidFill>
            <a:srgbClr val="E8635C"/>
          </a:solidFill>
          <a:ln/>
        </p:spPr>
      </p:sp>
      <p:sp>
        <p:nvSpPr>
          <p:cNvPr id="7" name="Shape 5"/>
          <p:cNvSpPr/>
          <p:nvPr/>
        </p:nvSpPr>
        <p:spPr>
          <a:xfrm>
            <a:off x="969264" y="1965960"/>
            <a:ext cx="128016" cy="128016"/>
          </a:xfrm>
          <a:prstGeom prst="ellipse">
            <a:avLst/>
          </a:prstGeom>
          <a:solidFill>
            <a:srgbClr val="F5A623"/>
          </a:solidFill>
          <a:ln/>
        </p:spPr>
      </p:sp>
      <p:sp>
        <p:nvSpPr>
          <p:cNvPr id="8" name="Shape 6"/>
          <p:cNvSpPr/>
          <p:nvPr/>
        </p:nvSpPr>
        <p:spPr>
          <a:xfrm>
            <a:off x="1161288" y="1965960"/>
            <a:ext cx="128016" cy="128016"/>
          </a:xfrm>
          <a:prstGeom prst="ellipse">
            <a:avLst/>
          </a:prstGeom>
          <a:solidFill>
            <a:srgbClr val="2ECC87"/>
          </a:solidFill>
          <a:ln/>
        </p:spPr>
      </p:sp>
      <p:sp>
        <p:nvSpPr>
          <p:cNvPr id="9" name="Text 7"/>
          <p:cNvSpPr txBox="1"/>
          <p:nvPr/>
        </p:nvSpPr>
        <p:spPr>
          <a:xfrm>
            <a:off x="822960" y="2286000"/>
            <a:ext cx="4572000" cy="3566160"/>
          </a:xfrm>
          <a:prstGeom prst="rect">
            <a:avLst/>
          </a:prstGeom>
          <a:noFill/>
          <a:ln/>
        </p:spPr>
        <p:txBody>
          <a:bodyPr wrap="square" rtlCol="0" anchor="ctr"/>
          <a:lstStyle/>
          <a:p>
            <a:pPr marL="0" indent="0">
              <a:lnSpc>
                <a:spcPct val="125000"/>
              </a:lnSpc>
              <a:buNone/>
            </a:pPr>
            <a:r>
              <a:rPr lang="en-US" sz="1250" dirty="0">
                <a:solidFill>
                  <a:srgbClr val="D9D9F5"/>
                </a:solidFill>
                <a:latin typeface="Courier New" pitchFamily="34" charset="0"/>
                <a:ea typeface="Courier New" pitchFamily="34" charset="-122"/>
                <a:cs typeface="Courier New" pitchFamily="34" charset="-120"/>
              </a:rPr>
              <a:t>{</a:t>
            </a:r>
            <a:endParaRPr lang="en-US" sz="1250" dirty="0"/>
          </a:p>
          <a:p>
            <a:pPr marL="0" indent="0">
              <a:lnSpc>
                <a:spcPct val="125000"/>
              </a:lnSpc>
              <a:buNone/>
            </a:pPr>
            <a:r>
              <a:rPr lang="en-US" sz="1250" dirty="0">
                <a:solidFill>
                  <a:srgbClr val="D9D9F5"/>
                </a:solidFill>
                <a:latin typeface="Courier New" pitchFamily="34" charset="0"/>
                <a:ea typeface="Courier New" pitchFamily="34" charset="-122"/>
                <a:cs typeface="Courier New" pitchFamily="34" charset="-120"/>
              </a:rPr>
              <a:t>  "memory_id": "M102",</a:t>
            </a:r>
            <a:endParaRPr lang="en-US" sz="1250" dirty="0"/>
          </a:p>
          <a:p>
            <a:pPr marL="0" indent="0">
              <a:lnSpc>
                <a:spcPct val="125000"/>
              </a:lnSpc>
              <a:buNone/>
            </a:pPr>
            <a:r>
              <a:rPr lang="en-US" sz="1250" dirty="0">
                <a:solidFill>
                  <a:srgbClr val="D9D9F5"/>
                </a:solidFill>
                <a:latin typeface="Courier New" pitchFamily="34" charset="0"/>
                <a:ea typeface="Courier New" pitchFamily="34" charset="-122"/>
                <a:cs typeface="Courier New" pitchFamily="34" charset="-120"/>
              </a:rPr>
              <a:t>  "user_id": "U001",</a:t>
            </a:r>
            <a:endParaRPr lang="en-US" sz="1250" dirty="0"/>
          </a:p>
          <a:p>
            <a:pPr marL="0" indent="0">
              <a:lnSpc>
                <a:spcPct val="125000"/>
              </a:lnSpc>
              <a:buNone/>
            </a:pPr>
            <a:r>
              <a:rPr lang="en-US" sz="1250" dirty="0">
                <a:solidFill>
                  <a:srgbClr val="D9D9F5"/>
                </a:solidFill>
                <a:latin typeface="Courier New" pitchFamily="34" charset="0"/>
                <a:ea typeface="Courier New" pitchFamily="34" charset="-122"/>
                <a:cs typeface="Courier New" pitchFamily="34" charset="-120"/>
              </a:rPr>
              <a:t>  "fact": "User prefers Java",</a:t>
            </a:r>
            <a:endParaRPr lang="en-US" sz="1250" dirty="0"/>
          </a:p>
          <a:p>
            <a:pPr marL="0" indent="0">
              <a:lnSpc>
                <a:spcPct val="125000"/>
              </a:lnSpc>
              <a:buNone/>
            </a:pPr>
            <a:r>
              <a:rPr lang="en-US" sz="1250" dirty="0">
                <a:solidFill>
                  <a:srgbClr val="D9D9F5"/>
                </a:solidFill>
                <a:latin typeface="Courier New" pitchFamily="34" charset="0"/>
                <a:ea typeface="Courier New" pitchFamily="34" charset="-122"/>
                <a:cs typeface="Courier New" pitchFamily="34" charset="-120"/>
              </a:rPr>
              <a:t>  "category": "preference",</a:t>
            </a:r>
            <a:endParaRPr lang="en-US" sz="1250" dirty="0"/>
          </a:p>
          <a:p>
            <a:pPr marL="0" indent="0">
              <a:lnSpc>
                <a:spcPct val="125000"/>
              </a:lnSpc>
              <a:buNone/>
            </a:pPr>
            <a:r>
              <a:rPr lang="en-US" sz="1250" dirty="0">
                <a:solidFill>
                  <a:srgbClr val="D9D9F5"/>
                </a:solidFill>
                <a:latin typeface="Courier New" pitchFamily="34" charset="0"/>
                <a:ea typeface="Courier New" pitchFamily="34" charset="-122"/>
                <a:cs typeface="Courier New" pitchFamily="34" charset="-120"/>
              </a:rPr>
              <a:t>  "confidence": 0.95,</a:t>
            </a:r>
            <a:endParaRPr lang="en-US" sz="1250" dirty="0"/>
          </a:p>
          <a:p>
            <a:pPr marL="0" indent="0">
              <a:lnSpc>
                <a:spcPct val="125000"/>
              </a:lnSpc>
              <a:buNone/>
            </a:pPr>
            <a:r>
              <a:rPr lang="en-US" sz="1250" dirty="0">
                <a:solidFill>
                  <a:srgbClr val="D9D9F5"/>
                </a:solidFill>
                <a:latin typeface="Courier New" pitchFamily="34" charset="0"/>
                <a:ea typeface="Courier New" pitchFamily="34" charset="-122"/>
                <a:cs typeface="Courier New" pitchFamily="34" charset="-120"/>
              </a:rPr>
              <a:t>  "importance": 0.85,</a:t>
            </a:r>
            <a:endParaRPr lang="en-US" sz="1250" dirty="0"/>
          </a:p>
          <a:p>
            <a:pPr marL="0" indent="0">
              <a:lnSpc>
                <a:spcPct val="125000"/>
              </a:lnSpc>
              <a:buNone/>
            </a:pPr>
            <a:r>
              <a:rPr lang="en-US" sz="1250" dirty="0">
                <a:solidFill>
                  <a:srgbClr val="D9D9F5"/>
                </a:solidFill>
                <a:latin typeface="Courier New" pitchFamily="34" charset="0"/>
                <a:ea typeface="Courier New" pitchFamily="34" charset="-122"/>
                <a:cs typeface="Courier New" pitchFamily="34" charset="-120"/>
              </a:rPr>
              <a:t>  "status": "ACTIVE",</a:t>
            </a:r>
            <a:endParaRPr lang="en-US" sz="1250" dirty="0"/>
          </a:p>
          <a:p>
            <a:pPr marL="0" indent="0">
              <a:lnSpc>
                <a:spcPct val="125000"/>
              </a:lnSpc>
              <a:buNone/>
            </a:pPr>
            <a:r>
              <a:rPr lang="en-US" sz="1250" dirty="0">
                <a:solidFill>
                  <a:srgbClr val="D9D9F5"/>
                </a:solidFill>
                <a:latin typeface="Courier New" pitchFamily="34" charset="0"/>
                <a:ea typeface="Courier New" pitchFamily="34" charset="-122"/>
                <a:cs typeface="Courier New" pitchFamily="34" charset="-120"/>
              </a:rPr>
              <a:t>  "version": 2,</a:t>
            </a:r>
            <a:endParaRPr lang="en-US" sz="1250" dirty="0"/>
          </a:p>
          <a:p>
            <a:pPr marL="0" indent="0">
              <a:lnSpc>
                <a:spcPct val="125000"/>
              </a:lnSpc>
              <a:buNone/>
            </a:pPr>
            <a:r>
              <a:rPr lang="en-US" sz="1250" dirty="0">
                <a:solidFill>
                  <a:srgbClr val="D9D9F5"/>
                </a:solidFill>
                <a:latin typeface="Courier New" pitchFamily="34" charset="0"/>
                <a:ea typeface="Courier New" pitchFamily="34" charset="-122"/>
                <a:cs typeface="Courier New" pitchFamily="34" charset="-120"/>
              </a:rPr>
              <a:t>  "updated_at": "2026-09-17"</a:t>
            </a:r>
            <a:endParaRPr lang="en-US" sz="1250" dirty="0"/>
          </a:p>
          <a:p>
            <a:pPr marL="0" indent="0">
              <a:lnSpc>
                <a:spcPct val="125000"/>
              </a:lnSpc>
              <a:buNone/>
            </a:pPr>
            <a:r>
              <a:rPr lang="en-US" sz="1250" dirty="0">
                <a:solidFill>
                  <a:srgbClr val="D9D9F5"/>
                </a:solidFill>
                <a:latin typeface="Courier New" pitchFamily="34" charset="0"/>
                <a:ea typeface="Courier New" pitchFamily="34" charset="-122"/>
                <a:cs typeface="Courier New" pitchFamily="34" charset="-120"/>
              </a:rPr>
              <a:t>}</a:t>
            </a:r>
            <a:endParaRPr lang="en-US" sz="1250" dirty="0"/>
          </a:p>
        </p:txBody>
      </p:sp>
      <p:sp>
        <p:nvSpPr>
          <p:cNvPr id="10" name="Text 8"/>
          <p:cNvSpPr txBox="1"/>
          <p:nvPr/>
        </p:nvSpPr>
        <p:spPr>
          <a:xfrm>
            <a:off x="5989320" y="1783080"/>
            <a:ext cx="5486400" cy="274320"/>
          </a:xfrm>
          <a:prstGeom prst="rect">
            <a:avLst/>
          </a:prstGeom>
          <a:noFill/>
          <a:ln/>
        </p:spPr>
        <p:txBody>
          <a:bodyPr wrap="square" rtlCol="0" anchor="ctr"/>
          <a:lstStyle/>
          <a:p>
            <a:pPr marL="0" indent="0">
              <a:buNone/>
            </a:pPr>
            <a:r>
              <a:rPr lang="en-US" sz="1200" b="1" kern="0" spc="200" dirty="0">
                <a:solidFill>
                  <a:srgbClr val="5B4FE9"/>
                </a:solidFill>
                <a:latin typeface="Calibri" pitchFamily="34" charset="0"/>
                <a:ea typeface="Calibri" pitchFamily="34" charset="-122"/>
                <a:cs typeface="Calibri" pitchFamily="34" charset="-120"/>
              </a:rPr>
              <a:t>MEMORY CATEGORIES</a:t>
            </a:r>
            <a:endParaRPr lang="en-US" sz="1200" dirty="0"/>
          </a:p>
        </p:txBody>
      </p:sp>
      <p:sp>
        <p:nvSpPr>
          <p:cNvPr id="11" name="Shape 9"/>
          <p:cNvSpPr/>
          <p:nvPr/>
        </p:nvSpPr>
        <p:spPr>
          <a:xfrm>
            <a:off x="5989320" y="2194560"/>
            <a:ext cx="5623560" cy="868680"/>
          </a:xfrm>
          <a:prstGeom prst="roundRect">
            <a:avLst>
              <a:gd name="adj" fmla="val 9474"/>
            </a:avLst>
          </a:prstGeom>
          <a:solidFill>
            <a:srgbClr val="FFFFFF"/>
          </a:solidFill>
          <a:ln w="9525">
            <a:solidFill>
              <a:srgbClr val="DCDCF0"/>
            </a:solidFill>
            <a:prstDash val="solid"/>
          </a:ln>
          <a:effectLst>
            <a:outerShdw blurRad="101600" dist="38100" dir="5400000" algn="bl" rotWithShape="0">
              <a:srgbClr val="14163A">
                <a:alpha val="12000"/>
              </a:srgbClr>
            </a:outerShdw>
          </a:effectLst>
        </p:spPr>
      </p:sp>
      <p:sp>
        <p:nvSpPr>
          <p:cNvPr id="12" name="Shape 10"/>
          <p:cNvSpPr/>
          <p:nvPr/>
        </p:nvSpPr>
        <p:spPr>
          <a:xfrm>
            <a:off x="6286500" y="2377440"/>
            <a:ext cx="502920" cy="502920"/>
          </a:xfrm>
          <a:prstGeom prst="ellipse">
            <a:avLst/>
          </a:prstGeom>
          <a:solidFill>
            <a:srgbClr val="5B4FE9"/>
          </a:solidFill>
          <a:ln/>
        </p:spPr>
      </p:sp>
      <p:pic>
        <p:nvPicPr>
          <p:cNvPr id="13" name="Image 0" descr="preencoded.png"/>
          <p:cNvPicPr>
            <a:picLocks noChangeAspect="1"/>
          </p:cNvPicPr>
          <p:nvPr/>
        </p:nvPicPr>
        <p:blipFill>
          <a:blip r:embed="rId3"/>
          <a:stretch>
            <a:fillRect/>
          </a:stretch>
        </p:blipFill>
        <p:spPr>
          <a:xfrm>
            <a:off x="6412230" y="2503170"/>
            <a:ext cx="251460" cy="251460"/>
          </a:xfrm>
          <a:prstGeom prst="rect">
            <a:avLst/>
          </a:prstGeom>
        </p:spPr>
      </p:pic>
      <p:sp>
        <p:nvSpPr>
          <p:cNvPr id="14" name="Text 11"/>
          <p:cNvSpPr txBox="1"/>
          <p:nvPr/>
        </p:nvSpPr>
        <p:spPr>
          <a:xfrm>
            <a:off x="6949440" y="2304288"/>
            <a:ext cx="4480560" cy="320040"/>
          </a:xfrm>
          <a:prstGeom prst="rect">
            <a:avLst/>
          </a:prstGeom>
          <a:noFill/>
          <a:ln/>
        </p:spPr>
        <p:txBody>
          <a:bodyPr wrap="square" rtlCol="0" anchor="ctr"/>
          <a:lstStyle/>
          <a:p>
            <a:pPr marL="0" indent="0">
              <a:buNone/>
            </a:pPr>
            <a:r>
              <a:rPr lang="en-US" sz="1400" b="1" dirty="0">
                <a:solidFill>
                  <a:srgbClr val="14163A"/>
                </a:solidFill>
                <a:latin typeface="Calibri" pitchFamily="34" charset="0"/>
                <a:ea typeface="Calibri" pitchFamily="34" charset="-122"/>
                <a:cs typeface="Calibri" pitchFamily="34" charset="-120"/>
              </a:rPr>
              <a:t>Profile</a:t>
            </a:r>
            <a:endParaRPr lang="en-US" sz="1400" dirty="0"/>
          </a:p>
        </p:txBody>
      </p:sp>
      <p:sp>
        <p:nvSpPr>
          <p:cNvPr id="15" name="Text 12"/>
          <p:cNvSpPr txBox="1"/>
          <p:nvPr/>
        </p:nvSpPr>
        <p:spPr>
          <a:xfrm>
            <a:off x="6949440" y="2633472"/>
            <a:ext cx="4480560" cy="320040"/>
          </a:xfrm>
          <a:prstGeom prst="rect">
            <a:avLst/>
          </a:prstGeom>
          <a:noFill/>
          <a:ln/>
        </p:spPr>
        <p:txBody>
          <a:bodyPr wrap="square" rtlCol="0" anchor="ctr"/>
          <a:lstStyle/>
          <a:p>
            <a:pPr marL="0" indent="0">
              <a:buNone/>
            </a:pPr>
            <a:r>
              <a:rPr lang="en-US" sz="1200" dirty="0">
                <a:solidFill>
                  <a:srgbClr val="6B6F9E"/>
                </a:solidFill>
                <a:latin typeface="Calibri" pitchFamily="34" charset="0"/>
                <a:ea typeface="Calibri" pitchFamily="34" charset="-122"/>
                <a:cs typeface="Calibri" pitchFamily="34" charset="-120"/>
              </a:rPr>
              <a:t>Name, college</a:t>
            </a:r>
            <a:endParaRPr lang="en-US" sz="1200" dirty="0"/>
          </a:p>
        </p:txBody>
      </p:sp>
      <p:sp>
        <p:nvSpPr>
          <p:cNvPr id="16" name="Shape 13"/>
          <p:cNvSpPr/>
          <p:nvPr/>
        </p:nvSpPr>
        <p:spPr>
          <a:xfrm>
            <a:off x="5989320" y="3227832"/>
            <a:ext cx="5623560" cy="868680"/>
          </a:xfrm>
          <a:prstGeom prst="roundRect">
            <a:avLst>
              <a:gd name="adj" fmla="val 9474"/>
            </a:avLst>
          </a:prstGeom>
          <a:solidFill>
            <a:srgbClr val="FFFFFF"/>
          </a:solidFill>
          <a:ln w="9525">
            <a:solidFill>
              <a:srgbClr val="DCDCF0"/>
            </a:solidFill>
            <a:prstDash val="solid"/>
          </a:ln>
          <a:effectLst>
            <a:outerShdw blurRad="101600" dist="38100" dir="5400000" algn="bl" rotWithShape="0">
              <a:srgbClr val="14163A">
                <a:alpha val="12000"/>
              </a:srgbClr>
            </a:outerShdw>
          </a:effectLst>
        </p:spPr>
      </p:sp>
      <p:sp>
        <p:nvSpPr>
          <p:cNvPr id="17" name="Shape 14"/>
          <p:cNvSpPr/>
          <p:nvPr/>
        </p:nvSpPr>
        <p:spPr>
          <a:xfrm>
            <a:off x="6286500" y="3410712"/>
            <a:ext cx="502920" cy="502920"/>
          </a:xfrm>
          <a:prstGeom prst="ellipse">
            <a:avLst/>
          </a:prstGeom>
          <a:solidFill>
            <a:srgbClr val="00D9C0"/>
          </a:solidFill>
          <a:ln/>
        </p:spPr>
      </p:sp>
      <p:pic>
        <p:nvPicPr>
          <p:cNvPr id="18" name="Image 1" descr="preencoded.png"/>
          <p:cNvPicPr>
            <a:picLocks noChangeAspect="1"/>
          </p:cNvPicPr>
          <p:nvPr/>
        </p:nvPicPr>
        <p:blipFill>
          <a:blip r:embed="rId4"/>
          <a:stretch>
            <a:fillRect/>
          </a:stretch>
        </p:blipFill>
        <p:spPr>
          <a:xfrm>
            <a:off x="6412230" y="3536442"/>
            <a:ext cx="251460" cy="251460"/>
          </a:xfrm>
          <a:prstGeom prst="rect">
            <a:avLst/>
          </a:prstGeom>
        </p:spPr>
      </p:pic>
      <p:sp>
        <p:nvSpPr>
          <p:cNvPr id="19" name="Text 15"/>
          <p:cNvSpPr txBox="1"/>
          <p:nvPr/>
        </p:nvSpPr>
        <p:spPr>
          <a:xfrm>
            <a:off x="6949440" y="3337560"/>
            <a:ext cx="4480560" cy="320040"/>
          </a:xfrm>
          <a:prstGeom prst="rect">
            <a:avLst/>
          </a:prstGeom>
          <a:noFill/>
          <a:ln/>
        </p:spPr>
        <p:txBody>
          <a:bodyPr wrap="square" rtlCol="0" anchor="ctr"/>
          <a:lstStyle/>
          <a:p>
            <a:pPr marL="0" indent="0">
              <a:buNone/>
            </a:pPr>
            <a:r>
              <a:rPr lang="en-US" sz="1400" b="1" dirty="0">
                <a:solidFill>
                  <a:srgbClr val="14163A"/>
                </a:solidFill>
                <a:latin typeface="Calibri" pitchFamily="34" charset="0"/>
                <a:ea typeface="Calibri" pitchFamily="34" charset="-122"/>
                <a:cs typeface="Calibri" pitchFamily="34" charset="-120"/>
              </a:rPr>
              <a:t>Preference</a:t>
            </a:r>
            <a:endParaRPr lang="en-US" sz="1400" dirty="0"/>
          </a:p>
        </p:txBody>
      </p:sp>
      <p:sp>
        <p:nvSpPr>
          <p:cNvPr id="20" name="Text 16"/>
          <p:cNvSpPr txBox="1"/>
          <p:nvPr/>
        </p:nvSpPr>
        <p:spPr>
          <a:xfrm>
            <a:off x="6949440" y="3666744"/>
            <a:ext cx="4480560" cy="320040"/>
          </a:xfrm>
          <a:prstGeom prst="rect">
            <a:avLst/>
          </a:prstGeom>
          <a:noFill/>
          <a:ln/>
        </p:spPr>
        <p:txBody>
          <a:bodyPr wrap="square" rtlCol="0" anchor="ctr"/>
          <a:lstStyle/>
          <a:p>
            <a:pPr marL="0" indent="0">
              <a:buNone/>
            </a:pPr>
            <a:r>
              <a:rPr lang="en-US" sz="1200" dirty="0">
                <a:solidFill>
                  <a:srgbClr val="6B6F9E"/>
                </a:solidFill>
                <a:latin typeface="Calibri" pitchFamily="34" charset="0"/>
                <a:ea typeface="Calibri" pitchFamily="34" charset="-122"/>
                <a:cs typeface="Calibri" pitchFamily="34" charset="-120"/>
              </a:rPr>
              <a:t>Likes cricket</a:t>
            </a:r>
            <a:endParaRPr lang="en-US" sz="1200" dirty="0"/>
          </a:p>
        </p:txBody>
      </p:sp>
      <p:sp>
        <p:nvSpPr>
          <p:cNvPr id="21" name="Shape 17"/>
          <p:cNvSpPr/>
          <p:nvPr/>
        </p:nvSpPr>
        <p:spPr>
          <a:xfrm>
            <a:off x="5989320" y="4261104"/>
            <a:ext cx="5623560" cy="868680"/>
          </a:xfrm>
          <a:prstGeom prst="roundRect">
            <a:avLst>
              <a:gd name="adj" fmla="val 9474"/>
            </a:avLst>
          </a:prstGeom>
          <a:solidFill>
            <a:srgbClr val="FFFFFF"/>
          </a:solidFill>
          <a:ln w="9525">
            <a:solidFill>
              <a:srgbClr val="DCDCF0"/>
            </a:solidFill>
            <a:prstDash val="solid"/>
          </a:ln>
          <a:effectLst>
            <a:outerShdw blurRad="101600" dist="38100" dir="5400000" algn="bl" rotWithShape="0">
              <a:srgbClr val="14163A">
                <a:alpha val="12000"/>
              </a:srgbClr>
            </a:outerShdw>
          </a:effectLst>
        </p:spPr>
      </p:sp>
      <p:sp>
        <p:nvSpPr>
          <p:cNvPr id="22" name="Shape 18"/>
          <p:cNvSpPr/>
          <p:nvPr/>
        </p:nvSpPr>
        <p:spPr>
          <a:xfrm>
            <a:off x="6286500" y="4443984"/>
            <a:ext cx="502920" cy="502920"/>
          </a:xfrm>
          <a:prstGeom prst="ellipse">
            <a:avLst/>
          </a:prstGeom>
          <a:solidFill>
            <a:srgbClr val="14163A"/>
          </a:solidFill>
          <a:ln/>
        </p:spPr>
      </p:sp>
      <p:pic>
        <p:nvPicPr>
          <p:cNvPr id="23" name="Image 2" descr="preencoded.png"/>
          <p:cNvPicPr>
            <a:picLocks noChangeAspect="1"/>
          </p:cNvPicPr>
          <p:nvPr/>
        </p:nvPicPr>
        <p:blipFill>
          <a:blip r:embed="rId5"/>
          <a:stretch>
            <a:fillRect/>
          </a:stretch>
        </p:blipFill>
        <p:spPr>
          <a:xfrm>
            <a:off x="6412230" y="4569714"/>
            <a:ext cx="251460" cy="251460"/>
          </a:xfrm>
          <a:prstGeom prst="rect">
            <a:avLst/>
          </a:prstGeom>
        </p:spPr>
      </p:pic>
      <p:sp>
        <p:nvSpPr>
          <p:cNvPr id="24" name="Text 19"/>
          <p:cNvSpPr txBox="1"/>
          <p:nvPr/>
        </p:nvSpPr>
        <p:spPr>
          <a:xfrm>
            <a:off x="6949440" y="4370832"/>
            <a:ext cx="4480560" cy="320040"/>
          </a:xfrm>
          <a:prstGeom prst="rect">
            <a:avLst/>
          </a:prstGeom>
          <a:noFill/>
          <a:ln/>
        </p:spPr>
        <p:txBody>
          <a:bodyPr wrap="square" rtlCol="0" anchor="ctr"/>
          <a:lstStyle/>
          <a:p>
            <a:pPr marL="0" indent="0">
              <a:buNone/>
            </a:pPr>
            <a:r>
              <a:rPr lang="en-US" sz="1400" b="1" dirty="0">
                <a:solidFill>
                  <a:srgbClr val="14163A"/>
                </a:solidFill>
                <a:latin typeface="Calibri" pitchFamily="34" charset="0"/>
                <a:ea typeface="Calibri" pitchFamily="34" charset="-122"/>
                <a:cs typeface="Calibri" pitchFamily="34" charset="-120"/>
              </a:rPr>
              <a:t>Decision</a:t>
            </a:r>
            <a:endParaRPr lang="en-US" sz="1400" dirty="0"/>
          </a:p>
        </p:txBody>
      </p:sp>
      <p:sp>
        <p:nvSpPr>
          <p:cNvPr id="25" name="Text 20"/>
          <p:cNvSpPr txBox="1"/>
          <p:nvPr/>
        </p:nvSpPr>
        <p:spPr>
          <a:xfrm>
            <a:off x="6949440" y="4700016"/>
            <a:ext cx="4480560" cy="320040"/>
          </a:xfrm>
          <a:prstGeom prst="rect">
            <a:avLst/>
          </a:prstGeom>
          <a:noFill/>
          <a:ln/>
        </p:spPr>
        <p:txBody>
          <a:bodyPr wrap="square" rtlCol="0" anchor="ctr"/>
          <a:lstStyle/>
          <a:p>
            <a:pPr marL="0" indent="0">
              <a:buNone/>
            </a:pPr>
            <a:r>
              <a:rPr lang="en-US" sz="1200" dirty="0">
                <a:solidFill>
                  <a:srgbClr val="6B6F9E"/>
                </a:solidFill>
                <a:latin typeface="Calibri" pitchFamily="34" charset="0"/>
                <a:ea typeface="Calibri" pitchFamily="34" charset="-122"/>
                <a:cs typeface="Calibri" pitchFamily="34" charset="-120"/>
              </a:rPr>
              <a:t>Selected Java for project</a:t>
            </a:r>
            <a:endParaRPr lang="en-US" sz="1200" dirty="0"/>
          </a:p>
        </p:txBody>
      </p:sp>
      <p:sp>
        <p:nvSpPr>
          <p:cNvPr id="26" name="Shape 21"/>
          <p:cNvSpPr/>
          <p:nvPr/>
        </p:nvSpPr>
        <p:spPr>
          <a:xfrm>
            <a:off x="5989320" y="5294376"/>
            <a:ext cx="5623560" cy="868680"/>
          </a:xfrm>
          <a:prstGeom prst="roundRect">
            <a:avLst>
              <a:gd name="adj" fmla="val 9474"/>
            </a:avLst>
          </a:prstGeom>
          <a:solidFill>
            <a:srgbClr val="FFFFFF"/>
          </a:solidFill>
          <a:ln w="9525">
            <a:solidFill>
              <a:srgbClr val="DCDCF0"/>
            </a:solidFill>
            <a:prstDash val="solid"/>
          </a:ln>
          <a:effectLst>
            <a:outerShdw blurRad="101600" dist="38100" dir="5400000" algn="bl" rotWithShape="0">
              <a:srgbClr val="14163A">
                <a:alpha val="12000"/>
              </a:srgbClr>
            </a:outerShdw>
          </a:effectLst>
        </p:spPr>
      </p:sp>
      <p:sp>
        <p:nvSpPr>
          <p:cNvPr id="27" name="Shape 22"/>
          <p:cNvSpPr/>
          <p:nvPr/>
        </p:nvSpPr>
        <p:spPr>
          <a:xfrm>
            <a:off x="6286500" y="5477256"/>
            <a:ext cx="502920" cy="502920"/>
          </a:xfrm>
          <a:prstGeom prst="ellipse">
            <a:avLst/>
          </a:prstGeom>
          <a:solidFill>
            <a:srgbClr val="F5A623"/>
          </a:solidFill>
          <a:ln/>
        </p:spPr>
      </p:sp>
      <p:pic>
        <p:nvPicPr>
          <p:cNvPr id="28" name="Image 3" descr="preencoded.png"/>
          <p:cNvPicPr>
            <a:picLocks noChangeAspect="1"/>
          </p:cNvPicPr>
          <p:nvPr/>
        </p:nvPicPr>
        <p:blipFill>
          <a:blip r:embed="rId6"/>
          <a:stretch>
            <a:fillRect/>
          </a:stretch>
        </p:blipFill>
        <p:spPr>
          <a:xfrm>
            <a:off x="6412230" y="5602986"/>
            <a:ext cx="251460" cy="251460"/>
          </a:xfrm>
          <a:prstGeom prst="rect">
            <a:avLst/>
          </a:prstGeom>
        </p:spPr>
      </p:pic>
      <p:sp>
        <p:nvSpPr>
          <p:cNvPr id="29" name="Text 23"/>
          <p:cNvSpPr txBox="1"/>
          <p:nvPr/>
        </p:nvSpPr>
        <p:spPr>
          <a:xfrm>
            <a:off x="6949440" y="5404104"/>
            <a:ext cx="4480560" cy="320040"/>
          </a:xfrm>
          <a:prstGeom prst="rect">
            <a:avLst/>
          </a:prstGeom>
          <a:noFill/>
          <a:ln/>
        </p:spPr>
        <p:txBody>
          <a:bodyPr wrap="square" rtlCol="0" anchor="ctr"/>
          <a:lstStyle/>
          <a:p>
            <a:pPr marL="0" indent="0">
              <a:buNone/>
            </a:pPr>
            <a:r>
              <a:rPr lang="en-US" sz="1400" b="1" dirty="0">
                <a:solidFill>
                  <a:srgbClr val="14163A"/>
                </a:solidFill>
                <a:latin typeface="Calibri" pitchFamily="34" charset="0"/>
                <a:ea typeface="Calibri" pitchFamily="34" charset="-122"/>
                <a:cs typeface="Calibri" pitchFamily="34" charset="-120"/>
              </a:rPr>
              <a:t>Temporary</a:t>
            </a:r>
            <a:endParaRPr lang="en-US" sz="1400" dirty="0"/>
          </a:p>
        </p:txBody>
      </p:sp>
      <p:sp>
        <p:nvSpPr>
          <p:cNvPr id="30" name="Text 24"/>
          <p:cNvSpPr txBox="1"/>
          <p:nvPr/>
        </p:nvSpPr>
        <p:spPr>
          <a:xfrm>
            <a:off x="6949440" y="5733288"/>
            <a:ext cx="4480560" cy="320040"/>
          </a:xfrm>
          <a:prstGeom prst="rect">
            <a:avLst/>
          </a:prstGeom>
          <a:noFill/>
          <a:ln/>
        </p:spPr>
        <p:txBody>
          <a:bodyPr wrap="square" rtlCol="0" anchor="ctr"/>
          <a:lstStyle/>
          <a:p>
            <a:pPr marL="0" indent="0">
              <a:buNone/>
            </a:pPr>
            <a:r>
              <a:rPr lang="en-US" sz="1200" dirty="0">
                <a:solidFill>
                  <a:srgbClr val="6B6F9E"/>
                </a:solidFill>
                <a:latin typeface="Calibri" pitchFamily="34" charset="0"/>
                <a:ea typeface="Calibri" pitchFamily="34" charset="-122"/>
                <a:cs typeface="Calibri" pitchFamily="34" charset="-120"/>
              </a:rPr>
              <a:t>Exam tomorrow</a:t>
            </a:r>
            <a:endParaRPr lang="en-US" sz="1200" dirty="0"/>
          </a:p>
        </p:txBody>
      </p:sp>
      <p:sp>
        <p:nvSpPr>
          <p:cNvPr id="31" name="Text 25"/>
          <p:cNvSpPr txBox="1"/>
          <p:nvPr/>
        </p:nvSpPr>
        <p:spPr>
          <a:xfrm>
            <a:off x="11475720" y="6473952"/>
            <a:ext cx="548640" cy="274320"/>
          </a:xfrm>
          <a:prstGeom prst="rect">
            <a:avLst/>
          </a:prstGeom>
          <a:noFill/>
          <a:ln/>
        </p:spPr>
        <p:txBody>
          <a:bodyPr wrap="square" rtlCol="0" anchor="ctr"/>
          <a:lstStyle/>
          <a:p>
            <a:pPr marL="0" indent="0" algn="r">
              <a:buNone/>
            </a:pPr>
            <a:r>
              <a:rPr lang="en-US" sz="900" dirty="0">
                <a:solidFill>
                  <a:srgbClr val="6B6F9E"/>
                </a:solidFill>
                <a:latin typeface="Calibri" pitchFamily="34" charset="0"/>
                <a:ea typeface="Calibri" pitchFamily="34" charset="-122"/>
                <a:cs typeface="Calibri" pitchFamily="34" charset="-120"/>
              </a:rPr>
              <a:t>07</a:t>
            </a:r>
            <a:endParaRPr lang="en-US" sz="900" dirty="0"/>
          </a:p>
        </p:txBody>
      </p:sp>
      <p:sp>
        <p:nvSpPr>
          <p:cNvPr id="32" name="Text 26"/>
          <p:cNvSpPr txBox="1"/>
          <p:nvPr/>
        </p:nvSpPr>
        <p:spPr>
          <a:xfrm>
            <a:off x="548640" y="6473952"/>
            <a:ext cx="2743200" cy="274320"/>
          </a:xfrm>
          <a:prstGeom prst="rect">
            <a:avLst/>
          </a:prstGeom>
          <a:noFill/>
          <a:ln/>
        </p:spPr>
        <p:txBody>
          <a:bodyPr wrap="square" rtlCol="0" anchor="ctr"/>
          <a:lstStyle/>
          <a:p>
            <a:pPr marL="0" indent="0">
              <a:buNone/>
            </a:pPr>
            <a:r>
              <a:rPr lang="en-US" sz="900" kern="0" spc="100" dirty="0">
                <a:solidFill>
                  <a:srgbClr val="6B6F9E"/>
                </a:solidFill>
                <a:latin typeface="Calibri" pitchFamily="34" charset="0"/>
                <a:ea typeface="Calibri" pitchFamily="34" charset="-122"/>
                <a:cs typeface="Calibri" pitchFamily="34" charset="-120"/>
              </a:rPr>
              <a:t>MEMORA</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6FC"/>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rtlCol="0" anchor="ctr"/>
          <a:lstStyle/>
          <a:p>
            <a:pPr marL="0" indent="0">
              <a:buNone/>
            </a:pPr>
            <a:r>
              <a:rPr lang="en-US" sz="1250" b="1" kern="0" spc="200" dirty="0">
                <a:solidFill>
                  <a:srgbClr val="5B4FE9"/>
                </a:solidFill>
                <a:latin typeface="Calibri" pitchFamily="34" charset="0"/>
                <a:ea typeface="Calibri" pitchFamily="34" charset="-122"/>
                <a:cs typeface="Calibri" pitchFamily="34" charset="-120"/>
              </a:rPr>
              <a:t>MEMORY LIFECYCLE</a:t>
            </a:r>
            <a:endParaRPr lang="en-US" sz="1250" dirty="0"/>
          </a:p>
        </p:txBody>
      </p:sp>
      <p:sp>
        <p:nvSpPr>
          <p:cNvPr id="3" name="Text 1"/>
          <p:cNvSpPr txBox="1"/>
          <p:nvPr/>
        </p:nvSpPr>
        <p:spPr>
          <a:xfrm>
            <a:off x="548640" y="566928"/>
            <a:ext cx="10515600" cy="640080"/>
          </a:xfrm>
          <a:prstGeom prst="rect">
            <a:avLst/>
          </a:prstGeom>
          <a:noFill/>
          <a:ln/>
        </p:spPr>
        <p:txBody>
          <a:bodyPr wrap="square" rtlCol="0" anchor="ctr"/>
          <a:lstStyle/>
          <a:p>
            <a:pPr marL="0" indent="0">
              <a:buNone/>
            </a:pPr>
            <a:r>
              <a:rPr lang="en-US" sz="2700" b="1" dirty="0">
                <a:solidFill>
                  <a:srgbClr val="14163A"/>
                </a:solidFill>
                <a:latin typeface="Cambria" pitchFamily="34" charset="0"/>
                <a:ea typeface="Cambria" pitchFamily="34" charset="-122"/>
                <a:cs typeface="Cambria" pitchFamily="34" charset="-120"/>
              </a:rPr>
              <a:t>Memory Is Not Permanent by Default</a:t>
            </a:r>
            <a:endParaRPr lang="en-US" sz="2700" dirty="0"/>
          </a:p>
        </p:txBody>
      </p:sp>
      <p:sp>
        <p:nvSpPr>
          <p:cNvPr id="4" name="Shape 2"/>
          <p:cNvSpPr/>
          <p:nvPr/>
        </p:nvSpPr>
        <p:spPr>
          <a:xfrm>
            <a:off x="668884" y="1600200"/>
            <a:ext cx="1417320" cy="868680"/>
          </a:xfrm>
          <a:prstGeom prst="roundRect">
            <a:avLst>
              <a:gd name="adj" fmla="val 9474"/>
            </a:avLst>
          </a:prstGeom>
          <a:solidFill>
            <a:srgbClr val="FFFFFF"/>
          </a:solidFill>
          <a:ln w="9525">
            <a:solidFill>
              <a:srgbClr val="DCDCF0"/>
            </a:solidFill>
            <a:prstDash val="solid"/>
          </a:ln>
          <a:effectLst>
            <a:outerShdw blurRad="101600" dist="38100" dir="5400000" algn="bl" rotWithShape="0">
              <a:srgbClr val="14163A">
                <a:alpha val="12000"/>
              </a:srgbClr>
            </a:outerShdw>
          </a:effectLst>
        </p:spPr>
      </p:sp>
      <p:sp>
        <p:nvSpPr>
          <p:cNvPr id="5" name="Text 3"/>
          <p:cNvSpPr txBox="1"/>
          <p:nvPr/>
        </p:nvSpPr>
        <p:spPr>
          <a:xfrm>
            <a:off x="723748" y="1600200"/>
            <a:ext cx="1307592" cy="868680"/>
          </a:xfrm>
          <a:prstGeom prst="rect">
            <a:avLst/>
          </a:prstGeom>
          <a:noFill/>
          <a:ln/>
        </p:spPr>
        <p:txBody>
          <a:bodyPr wrap="square" rtlCol="0" anchor="ctr"/>
          <a:lstStyle/>
          <a:p>
            <a:pPr marL="0" indent="0" algn="ctr">
              <a:buNone/>
            </a:pPr>
            <a:r>
              <a:rPr lang="en-US" sz="1050" b="1" dirty="0">
                <a:solidFill>
                  <a:srgbClr val="14163A"/>
                </a:solidFill>
                <a:latin typeface="Calibri" pitchFamily="34" charset="0"/>
                <a:ea typeface="Calibri" pitchFamily="34" charset="-122"/>
                <a:cs typeface="Calibri" pitchFamily="34" charset="-120"/>
              </a:rPr>
              <a:t>New</a:t>
            </a:r>
            <a:endParaRPr lang="en-US" sz="1050" dirty="0"/>
          </a:p>
          <a:p>
            <a:pPr marL="0" indent="0" algn="ctr">
              <a:buNone/>
            </a:pPr>
            <a:r>
              <a:rPr lang="en-US" sz="1050" b="1" dirty="0">
                <a:solidFill>
                  <a:srgbClr val="14163A"/>
                </a:solidFill>
                <a:latin typeface="Calibri" pitchFamily="34" charset="0"/>
                <a:ea typeface="Calibri" pitchFamily="34" charset="-122"/>
                <a:cs typeface="Calibri" pitchFamily="34" charset="-120"/>
              </a:rPr>
              <a:t>Information</a:t>
            </a:r>
            <a:endParaRPr lang="en-US" sz="1050" dirty="0"/>
          </a:p>
        </p:txBody>
      </p:sp>
      <p:sp>
        <p:nvSpPr>
          <p:cNvPr id="6" name="Shape 4"/>
          <p:cNvSpPr/>
          <p:nvPr/>
        </p:nvSpPr>
        <p:spPr>
          <a:xfrm>
            <a:off x="2086204" y="2034540"/>
            <a:ext cx="155448" cy="0"/>
          </a:xfrm>
          <a:prstGeom prst="line">
            <a:avLst/>
          </a:prstGeom>
          <a:noFill/>
          <a:ln w="19050">
            <a:solidFill>
              <a:srgbClr val="6B6F9E"/>
            </a:solidFill>
            <a:prstDash val="solid"/>
            <a:tailEnd type="triangle"/>
          </a:ln>
        </p:spPr>
      </p:sp>
      <p:sp>
        <p:nvSpPr>
          <p:cNvPr id="7" name="Shape 5"/>
          <p:cNvSpPr/>
          <p:nvPr/>
        </p:nvSpPr>
        <p:spPr>
          <a:xfrm>
            <a:off x="2241652" y="1600200"/>
            <a:ext cx="1417320" cy="868680"/>
          </a:xfrm>
          <a:prstGeom prst="roundRect">
            <a:avLst>
              <a:gd name="adj" fmla="val 9474"/>
            </a:avLst>
          </a:prstGeom>
          <a:solidFill>
            <a:srgbClr val="FFFFFF"/>
          </a:solidFill>
          <a:ln w="9525">
            <a:solidFill>
              <a:srgbClr val="DCDCF0"/>
            </a:solidFill>
            <a:prstDash val="solid"/>
          </a:ln>
          <a:effectLst>
            <a:outerShdw blurRad="101600" dist="38100" dir="5400000" algn="bl" rotWithShape="0">
              <a:srgbClr val="14163A">
                <a:alpha val="12000"/>
              </a:srgbClr>
            </a:outerShdw>
          </a:effectLst>
        </p:spPr>
      </p:sp>
      <p:sp>
        <p:nvSpPr>
          <p:cNvPr id="8" name="Text 6"/>
          <p:cNvSpPr txBox="1"/>
          <p:nvPr/>
        </p:nvSpPr>
        <p:spPr>
          <a:xfrm>
            <a:off x="2296516" y="1600200"/>
            <a:ext cx="1307592" cy="868680"/>
          </a:xfrm>
          <a:prstGeom prst="rect">
            <a:avLst/>
          </a:prstGeom>
          <a:noFill/>
          <a:ln/>
        </p:spPr>
        <p:txBody>
          <a:bodyPr wrap="square" rtlCol="0" anchor="ctr"/>
          <a:lstStyle/>
          <a:p>
            <a:pPr marL="0" indent="0" algn="ctr">
              <a:buNone/>
            </a:pPr>
            <a:r>
              <a:rPr lang="en-US" sz="1050" b="1" dirty="0">
                <a:solidFill>
                  <a:srgbClr val="14163A"/>
                </a:solidFill>
                <a:latin typeface="Calibri" pitchFamily="34" charset="0"/>
                <a:ea typeface="Calibri" pitchFamily="34" charset="-122"/>
                <a:cs typeface="Calibri" pitchFamily="34" charset="-120"/>
              </a:rPr>
              <a:t>Extraction &amp;</a:t>
            </a:r>
            <a:endParaRPr lang="en-US" sz="1050" dirty="0"/>
          </a:p>
          <a:p>
            <a:pPr marL="0" indent="0" algn="ctr">
              <a:buNone/>
            </a:pPr>
            <a:r>
              <a:rPr lang="en-US" sz="1050" b="1" dirty="0">
                <a:solidFill>
                  <a:srgbClr val="14163A"/>
                </a:solidFill>
                <a:latin typeface="Calibri" pitchFamily="34" charset="0"/>
                <a:ea typeface="Calibri" pitchFamily="34" charset="-122"/>
                <a:cs typeface="Calibri" pitchFamily="34" charset="-120"/>
              </a:rPr>
              <a:t>Classification</a:t>
            </a:r>
            <a:endParaRPr lang="en-US" sz="1050" dirty="0"/>
          </a:p>
        </p:txBody>
      </p:sp>
      <p:sp>
        <p:nvSpPr>
          <p:cNvPr id="9" name="Shape 7"/>
          <p:cNvSpPr/>
          <p:nvPr/>
        </p:nvSpPr>
        <p:spPr>
          <a:xfrm>
            <a:off x="3658972" y="2034540"/>
            <a:ext cx="155448" cy="0"/>
          </a:xfrm>
          <a:prstGeom prst="line">
            <a:avLst/>
          </a:prstGeom>
          <a:noFill/>
          <a:ln w="19050">
            <a:solidFill>
              <a:srgbClr val="6B6F9E"/>
            </a:solidFill>
            <a:prstDash val="solid"/>
            <a:tailEnd type="triangle"/>
          </a:ln>
        </p:spPr>
      </p:sp>
      <p:sp>
        <p:nvSpPr>
          <p:cNvPr id="10" name="Shape 8"/>
          <p:cNvSpPr/>
          <p:nvPr/>
        </p:nvSpPr>
        <p:spPr>
          <a:xfrm>
            <a:off x="3814420" y="1600200"/>
            <a:ext cx="1417320" cy="868680"/>
          </a:xfrm>
          <a:prstGeom prst="roundRect">
            <a:avLst>
              <a:gd name="adj" fmla="val 9474"/>
            </a:avLst>
          </a:prstGeom>
          <a:solidFill>
            <a:srgbClr val="F5A623"/>
          </a:solidFill>
          <a:ln/>
          <a:effectLst>
            <a:outerShdw blurRad="101600" dist="38100" dir="5400000" algn="bl" rotWithShape="0">
              <a:srgbClr val="14163A">
                <a:alpha val="12000"/>
              </a:srgbClr>
            </a:outerShdw>
          </a:effectLst>
        </p:spPr>
      </p:sp>
      <p:sp>
        <p:nvSpPr>
          <p:cNvPr id="11" name="Text 9"/>
          <p:cNvSpPr txBox="1"/>
          <p:nvPr/>
        </p:nvSpPr>
        <p:spPr>
          <a:xfrm>
            <a:off x="3869284" y="1600200"/>
            <a:ext cx="1307592" cy="86868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Conflict</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Check</a:t>
            </a:r>
            <a:endParaRPr lang="en-US" sz="1050" dirty="0"/>
          </a:p>
        </p:txBody>
      </p:sp>
      <p:sp>
        <p:nvSpPr>
          <p:cNvPr id="12" name="Shape 10"/>
          <p:cNvSpPr/>
          <p:nvPr/>
        </p:nvSpPr>
        <p:spPr>
          <a:xfrm>
            <a:off x="5231740" y="2034540"/>
            <a:ext cx="155448" cy="0"/>
          </a:xfrm>
          <a:prstGeom prst="line">
            <a:avLst/>
          </a:prstGeom>
          <a:noFill/>
          <a:ln w="19050">
            <a:solidFill>
              <a:srgbClr val="6B6F9E"/>
            </a:solidFill>
            <a:prstDash val="solid"/>
            <a:tailEnd type="triangle"/>
          </a:ln>
        </p:spPr>
      </p:sp>
      <p:sp>
        <p:nvSpPr>
          <p:cNvPr id="13" name="Shape 11"/>
          <p:cNvSpPr/>
          <p:nvPr/>
        </p:nvSpPr>
        <p:spPr>
          <a:xfrm>
            <a:off x="5387188" y="1600200"/>
            <a:ext cx="1417320" cy="868680"/>
          </a:xfrm>
          <a:prstGeom prst="roundRect">
            <a:avLst>
              <a:gd name="adj" fmla="val 9474"/>
            </a:avLst>
          </a:prstGeom>
          <a:solidFill>
            <a:srgbClr val="FFFFFF"/>
          </a:solidFill>
          <a:ln w="9525">
            <a:solidFill>
              <a:srgbClr val="DCDCF0"/>
            </a:solidFill>
            <a:prstDash val="solid"/>
          </a:ln>
          <a:effectLst>
            <a:outerShdw blurRad="101600" dist="38100" dir="5400000" algn="bl" rotWithShape="0">
              <a:srgbClr val="14163A">
                <a:alpha val="12000"/>
              </a:srgbClr>
            </a:outerShdw>
          </a:effectLst>
        </p:spPr>
      </p:sp>
      <p:sp>
        <p:nvSpPr>
          <p:cNvPr id="14" name="Text 12"/>
          <p:cNvSpPr txBox="1"/>
          <p:nvPr/>
        </p:nvSpPr>
        <p:spPr>
          <a:xfrm>
            <a:off x="5442052" y="1600200"/>
            <a:ext cx="1307592" cy="868680"/>
          </a:xfrm>
          <a:prstGeom prst="rect">
            <a:avLst/>
          </a:prstGeom>
          <a:noFill/>
          <a:ln/>
        </p:spPr>
        <p:txBody>
          <a:bodyPr wrap="square" rtlCol="0" anchor="ctr"/>
          <a:lstStyle/>
          <a:p>
            <a:pPr marL="0" indent="0" algn="ctr">
              <a:buNone/>
            </a:pPr>
            <a:r>
              <a:rPr lang="en-US" sz="1050" b="1" dirty="0">
                <a:solidFill>
                  <a:srgbClr val="14163A"/>
                </a:solidFill>
                <a:latin typeface="Calibri" pitchFamily="34" charset="0"/>
                <a:ea typeface="Calibri" pitchFamily="34" charset="-122"/>
                <a:cs typeface="Calibri" pitchFamily="34" charset="-120"/>
              </a:rPr>
              <a:t>Create</a:t>
            </a:r>
            <a:endParaRPr lang="en-US" sz="1050" dirty="0"/>
          </a:p>
          <a:p>
            <a:pPr marL="0" indent="0" algn="ctr">
              <a:buNone/>
            </a:pPr>
            <a:r>
              <a:rPr lang="en-US" sz="1050" b="1" dirty="0">
                <a:solidFill>
                  <a:srgbClr val="14163A"/>
                </a:solidFill>
                <a:latin typeface="Calibri" pitchFamily="34" charset="0"/>
                <a:ea typeface="Calibri" pitchFamily="34" charset="-122"/>
                <a:cs typeface="Calibri" pitchFamily="34" charset="-120"/>
              </a:rPr>
              <a:t>Version</a:t>
            </a:r>
            <a:endParaRPr lang="en-US" sz="1050" dirty="0"/>
          </a:p>
        </p:txBody>
      </p:sp>
      <p:sp>
        <p:nvSpPr>
          <p:cNvPr id="15" name="Shape 13"/>
          <p:cNvSpPr/>
          <p:nvPr/>
        </p:nvSpPr>
        <p:spPr>
          <a:xfrm>
            <a:off x="6804508" y="2034540"/>
            <a:ext cx="155448" cy="0"/>
          </a:xfrm>
          <a:prstGeom prst="line">
            <a:avLst/>
          </a:prstGeom>
          <a:noFill/>
          <a:ln w="19050">
            <a:solidFill>
              <a:srgbClr val="6B6F9E"/>
            </a:solidFill>
            <a:prstDash val="solid"/>
            <a:tailEnd type="triangle"/>
          </a:ln>
        </p:spPr>
      </p:sp>
      <p:sp>
        <p:nvSpPr>
          <p:cNvPr id="16" name="Shape 14"/>
          <p:cNvSpPr/>
          <p:nvPr/>
        </p:nvSpPr>
        <p:spPr>
          <a:xfrm>
            <a:off x="6959956" y="1600200"/>
            <a:ext cx="1417320" cy="868680"/>
          </a:xfrm>
          <a:prstGeom prst="roundRect">
            <a:avLst>
              <a:gd name="adj" fmla="val 9474"/>
            </a:avLst>
          </a:prstGeom>
          <a:solidFill>
            <a:srgbClr val="FFFFFF"/>
          </a:solidFill>
          <a:ln w="9525">
            <a:solidFill>
              <a:srgbClr val="DCDCF0"/>
            </a:solidFill>
            <a:prstDash val="solid"/>
          </a:ln>
          <a:effectLst>
            <a:outerShdw blurRad="101600" dist="38100" dir="5400000" algn="bl" rotWithShape="0">
              <a:srgbClr val="14163A">
                <a:alpha val="12000"/>
              </a:srgbClr>
            </a:outerShdw>
          </a:effectLst>
        </p:spPr>
      </p:sp>
      <p:sp>
        <p:nvSpPr>
          <p:cNvPr id="17" name="Text 15"/>
          <p:cNvSpPr txBox="1"/>
          <p:nvPr/>
        </p:nvSpPr>
        <p:spPr>
          <a:xfrm>
            <a:off x="7014820" y="1600200"/>
            <a:ext cx="1307592" cy="868680"/>
          </a:xfrm>
          <a:prstGeom prst="rect">
            <a:avLst/>
          </a:prstGeom>
          <a:noFill/>
          <a:ln/>
        </p:spPr>
        <p:txBody>
          <a:bodyPr wrap="square" rtlCol="0" anchor="ctr"/>
          <a:lstStyle/>
          <a:p>
            <a:pPr marL="0" indent="0" algn="ctr">
              <a:buNone/>
            </a:pPr>
            <a:r>
              <a:rPr lang="en-US" sz="1050" b="1" dirty="0">
                <a:solidFill>
                  <a:srgbClr val="14163A"/>
                </a:solidFill>
                <a:latin typeface="Calibri" pitchFamily="34" charset="0"/>
                <a:ea typeface="Calibri" pitchFamily="34" charset="-122"/>
                <a:cs typeface="Calibri" pitchFamily="34" charset="-120"/>
              </a:rPr>
              <a:t>Supersede</a:t>
            </a:r>
            <a:endParaRPr lang="en-US" sz="1050" dirty="0"/>
          </a:p>
          <a:p>
            <a:pPr marL="0" indent="0" algn="ctr">
              <a:buNone/>
            </a:pPr>
            <a:r>
              <a:rPr lang="en-US" sz="1050" b="1" dirty="0">
                <a:solidFill>
                  <a:srgbClr val="14163A"/>
                </a:solidFill>
                <a:latin typeface="Calibri" pitchFamily="34" charset="0"/>
                <a:ea typeface="Calibri" pitchFamily="34" charset="-122"/>
                <a:cs typeface="Calibri" pitchFamily="34" charset="-120"/>
              </a:rPr>
              <a:t>Old</a:t>
            </a:r>
            <a:endParaRPr lang="en-US" sz="1050" dirty="0"/>
          </a:p>
        </p:txBody>
      </p:sp>
      <p:sp>
        <p:nvSpPr>
          <p:cNvPr id="18" name="Shape 16"/>
          <p:cNvSpPr/>
          <p:nvPr/>
        </p:nvSpPr>
        <p:spPr>
          <a:xfrm>
            <a:off x="8377276" y="2034540"/>
            <a:ext cx="155448" cy="0"/>
          </a:xfrm>
          <a:prstGeom prst="line">
            <a:avLst/>
          </a:prstGeom>
          <a:noFill/>
          <a:ln w="19050">
            <a:solidFill>
              <a:srgbClr val="6B6F9E"/>
            </a:solidFill>
            <a:prstDash val="solid"/>
            <a:tailEnd type="triangle"/>
          </a:ln>
        </p:spPr>
      </p:sp>
      <p:sp>
        <p:nvSpPr>
          <p:cNvPr id="19" name="Shape 17"/>
          <p:cNvSpPr/>
          <p:nvPr/>
        </p:nvSpPr>
        <p:spPr>
          <a:xfrm>
            <a:off x="8532724" y="1600200"/>
            <a:ext cx="1417320" cy="868680"/>
          </a:xfrm>
          <a:prstGeom prst="roundRect">
            <a:avLst>
              <a:gd name="adj" fmla="val 9474"/>
            </a:avLst>
          </a:prstGeom>
          <a:solidFill>
            <a:srgbClr val="2ECC87"/>
          </a:solidFill>
          <a:ln/>
          <a:effectLst>
            <a:outerShdw blurRad="101600" dist="38100" dir="5400000" algn="bl" rotWithShape="0">
              <a:srgbClr val="14163A">
                <a:alpha val="12000"/>
              </a:srgbClr>
            </a:outerShdw>
          </a:effectLst>
        </p:spPr>
      </p:sp>
      <p:sp>
        <p:nvSpPr>
          <p:cNvPr id="20" name="Text 18"/>
          <p:cNvSpPr txBox="1"/>
          <p:nvPr/>
        </p:nvSpPr>
        <p:spPr>
          <a:xfrm>
            <a:off x="8587588" y="1600200"/>
            <a:ext cx="1307592" cy="86868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Active</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Memory</a:t>
            </a:r>
            <a:endParaRPr lang="en-US" sz="1050" dirty="0"/>
          </a:p>
        </p:txBody>
      </p:sp>
      <p:sp>
        <p:nvSpPr>
          <p:cNvPr id="21" name="Shape 19"/>
          <p:cNvSpPr/>
          <p:nvPr/>
        </p:nvSpPr>
        <p:spPr>
          <a:xfrm>
            <a:off x="9950044" y="2034540"/>
            <a:ext cx="155448" cy="0"/>
          </a:xfrm>
          <a:prstGeom prst="line">
            <a:avLst/>
          </a:prstGeom>
          <a:noFill/>
          <a:ln w="19050">
            <a:solidFill>
              <a:srgbClr val="6B6F9E"/>
            </a:solidFill>
            <a:prstDash val="solid"/>
            <a:tailEnd type="triangle"/>
          </a:ln>
        </p:spPr>
      </p:sp>
      <p:sp>
        <p:nvSpPr>
          <p:cNvPr id="22" name="Shape 20"/>
          <p:cNvSpPr/>
          <p:nvPr/>
        </p:nvSpPr>
        <p:spPr>
          <a:xfrm>
            <a:off x="10105492" y="1600200"/>
            <a:ext cx="1417320" cy="868680"/>
          </a:xfrm>
          <a:prstGeom prst="roundRect">
            <a:avLst>
              <a:gd name="adj" fmla="val 9474"/>
            </a:avLst>
          </a:prstGeom>
          <a:solidFill>
            <a:srgbClr val="FFFFFF"/>
          </a:solidFill>
          <a:ln w="9525">
            <a:solidFill>
              <a:srgbClr val="DCDCF0"/>
            </a:solidFill>
            <a:prstDash val="solid"/>
          </a:ln>
          <a:effectLst>
            <a:outerShdw blurRad="101600" dist="38100" dir="5400000" algn="bl" rotWithShape="0">
              <a:srgbClr val="14163A">
                <a:alpha val="12000"/>
              </a:srgbClr>
            </a:outerShdw>
          </a:effectLst>
        </p:spPr>
      </p:sp>
      <p:sp>
        <p:nvSpPr>
          <p:cNvPr id="23" name="Text 21"/>
          <p:cNvSpPr txBox="1"/>
          <p:nvPr/>
        </p:nvSpPr>
        <p:spPr>
          <a:xfrm>
            <a:off x="10160356" y="1600200"/>
            <a:ext cx="1307592" cy="868680"/>
          </a:xfrm>
          <a:prstGeom prst="rect">
            <a:avLst/>
          </a:prstGeom>
          <a:noFill/>
          <a:ln/>
        </p:spPr>
        <p:txBody>
          <a:bodyPr wrap="square" rtlCol="0" anchor="ctr"/>
          <a:lstStyle/>
          <a:p>
            <a:pPr marL="0" indent="0" algn="ctr">
              <a:buNone/>
            </a:pPr>
            <a:r>
              <a:rPr lang="en-US" sz="1050" b="1" dirty="0">
                <a:solidFill>
                  <a:srgbClr val="14163A"/>
                </a:solidFill>
                <a:latin typeface="Calibri" pitchFamily="34" charset="0"/>
                <a:ea typeface="Calibri" pitchFamily="34" charset="-122"/>
                <a:cs typeface="Calibri" pitchFamily="34" charset="-120"/>
              </a:rPr>
              <a:t>Time</a:t>
            </a:r>
            <a:endParaRPr lang="en-US" sz="1050" dirty="0"/>
          </a:p>
          <a:p>
            <a:pPr marL="0" indent="0" algn="ctr">
              <a:buNone/>
            </a:pPr>
            <a:r>
              <a:rPr lang="en-US" sz="1050" b="1" dirty="0">
                <a:solidFill>
                  <a:srgbClr val="14163A"/>
                </a:solidFill>
                <a:latin typeface="Calibri" pitchFamily="34" charset="0"/>
                <a:ea typeface="Calibri" pitchFamily="34" charset="-122"/>
                <a:cs typeface="Calibri" pitchFamily="34" charset="-120"/>
              </a:rPr>
              <a:t>Decay</a:t>
            </a:r>
            <a:endParaRPr lang="en-US" sz="1050" dirty="0"/>
          </a:p>
        </p:txBody>
      </p:sp>
      <p:sp>
        <p:nvSpPr>
          <p:cNvPr id="24" name="Shape 22"/>
          <p:cNvSpPr/>
          <p:nvPr/>
        </p:nvSpPr>
        <p:spPr>
          <a:xfrm>
            <a:off x="668884" y="2880360"/>
            <a:ext cx="3017520" cy="777240"/>
          </a:xfrm>
          <a:prstGeom prst="roundRect">
            <a:avLst>
              <a:gd name="adj" fmla="val 10588"/>
            </a:avLst>
          </a:prstGeom>
          <a:solidFill>
            <a:srgbClr val="FDE7E6"/>
          </a:solidFill>
          <a:ln/>
        </p:spPr>
      </p:sp>
      <p:sp>
        <p:nvSpPr>
          <p:cNvPr id="25" name="Text 23"/>
          <p:cNvSpPr txBox="1"/>
          <p:nvPr/>
        </p:nvSpPr>
        <p:spPr>
          <a:xfrm>
            <a:off x="851764" y="2880360"/>
            <a:ext cx="2651760" cy="777240"/>
          </a:xfrm>
          <a:prstGeom prst="rect">
            <a:avLst/>
          </a:prstGeom>
          <a:noFill/>
          <a:ln/>
        </p:spPr>
        <p:txBody>
          <a:bodyPr wrap="square" rtlCol="0" anchor="ctr"/>
          <a:lstStyle/>
          <a:p>
            <a:pPr marL="0" indent="0">
              <a:buNone/>
            </a:pPr>
            <a:r>
              <a:rPr lang="en-US" sz="1100" i="1" dirty="0">
                <a:solidFill>
                  <a:srgbClr val="E8635C"/>
                </a:solidFill>
                <a:latin typeface="Calibri" pitchFamily="34" charset="0"/>
                <a:ea typeface="Calibri" pitchFamily="34" charset="-122"/>
                <a:cs typeface="Calibri" pitchFamily="34" charset="-120"/>
              </a:rPr>
              <a:t>Not important → discarded and never stored</a:t>
            </a:r>
            <a:endParaRPr lang="en-US" sz="1100" dirty="0"/>
          </a:p>
        </p:txBody>
      </p:sp>
      <p:sp>
        <p:nvSpPr>
          <p:cNvPr id="26" name="Shape 24"/>
          <p:cNvSpPr/>
          <p:nvPr/>
        </p:nvSpPr>
        <p:spPr>
          <a:xfrm>
            <a:off x="3915004" y="2880360"/>
            <a:ext cx="3291840" cy="777240"/>
          </a:xfrm>
          <a:prstGeom prst="roundRect">
            <a:avLst>
              <a:gd name="adj" fmla="val 10588"/>
            </a:avLst>
          </a:prstGeom>
          <a:solidFill>
            <a:srgbClr val="E6FBF8"/>
          </a:solidFill>
          <a:ln/>
        </p:spPr>
      </p:sp>
      <p:sp>
        <p:nvSpPr>
          <p:cNvPr id="27" name="Text 25"/>
          <p:cNvSpPr txBox="1"/>
          <p:nvPr/>
        </p:nvSpPr>
        <p:spPr>
          <a:xfrm>
            <a:off x="4097884" y="2880360"/>
            <a:ext cx="2926080" cy="777240"/>
          </a:xfrm>
          <a:prstGeom prst="rect">
            <a:avLst/>
          </a:prstGeom>
          <a:noFill/>
          <a:ln/>
        </p:spPr>
        <p:txBody>
          <a:bodyPr wrap="square" rtlCol="0" anchor="ctr"/>
          <a:lstStyle/>
          <a:p>
            <a:pPr marL="0" indent="0">
              <a:buNone/>
            </a:pPr>
            <a:r>
              <a:rPr lang="en-US" sz="1100" i="1" dirty="0">
                <a:solidFill>
                  <a:srgbClr val="0E8C7C"/>
                </a:solidFill>
                <a:latin typeface="Calibri" pitchFamily="34" charset="0"/>
                <a:ea typeface="Calibri" pitchFamily="34" charset="-122"/>
                <a:cs typeface="Calibri" pitchFamily="34" charset="-120"/>
              </a:rPr>
              <a:t>No conflict found → memory is stored directly as ACTIVE</a:t>
            </a:r>
            <a:endParaRPr lang="en-US" sz="1100" dirty="0"/>
          </a:p>
        </p:txBody>
      </p:sp>
      <p:sp>
        <p:nvSpPr>
          <p:cNvPr id="28" name="Shape 26"/>
          <p:cNvSpPr/>
          <p:nvPr/>
        </p:nvSpPr>
        <p:spPr>
          <a:xfrm>
            <a:off x="10814152" y="2468880"/>
            <a:ext cx="0" cy="1508760"/>
          </a:xfrm>
          <a:prstGeom prst="line">
            <a:avLst/>
          </a:prstGeom>
          <a:noFill/>
          <a:ln w="15875">
            <a:solidFill>
              <a:srgbClr val="6B6F9E"/>
            </a:solidFill>
            <a:prstDash val="solid"/>
            <a:tailEnd type="triangle"/>
          </a:ln>
        </p:spPr>
      </p:sp>
      <p:sp>
        <p:nvSpPr>
          <p:cNvPr id="29" name="Shape 27"/>
          <p:cNvSpPr/>
          <p:nvPr/>
        </p:nvSpPr>
        <p:spPr>
          <a:xfrm>
            <a:off x="9762592" y="3977640"/>
            <a:ext cx="2103120" cy="438912"/>
          </a:xfrm>
          <a:prstGeom prst="roundRect">
            <a:avLst>
              <a:gd name="adj" fmla="val 50000"/>
            </a:avLst>
          </a:prstGeom>
          <a:solidFill>
            <a:srgbClr val="8A8DB0"/>
          </a:solidFill>
          <a:ln/>
        </p:spPr>
      </p:sp>
      <p:sp>
        <p:nvSpPr>
          <p:cNvPr id="30" name="Text 28"/>
          <p:cNvSpPr txBox="1"/>
          <p:nvPr/>
        </p:nvSpPr>
        <p:spPr>
          <a:xfrm>
            <a:off x="9762592" y="3959352"/>
            <a:ext cx="2103120" cy="438912"/>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STALE → ARCHIVED</a:t>
            </a:r>
            <a:endParaRPr lang="en-US" sz="1050" dirty="0"/>
          </a:p>
        </p:txBody>
      </p:sp>
      <p:sp>
        <p:nvSpPr>
          <p:cNvPr id="31" name="Text 29"/>
          <p:cNvSpPr txBox="1"/>
          <p:nvPr/>
        </p:nvSpPr>
        <p:spPr>
          <a:xfrm>
            <a:off x="548640" y="5074920"/>
            <a:ext cx="2743200" cy="274320"/>
          </a:xfrm>
          <a:prstGeom prst="rect">
            <a:avLst/>
          </a:prstGeom>
          <a:noFill/>
          <a:ln/>
        </p:spPr>
        <p:txBody>
          <a:bodyPr wrap="square" rtlCol="0" anchor="ctr"/>
          <a:lstStyle/>
          <a:p>
            <a:pPr marL="0" indent="0">
              <a:buNone/>
            </a:pPr>
            <a:r>
              <a:rPr lang="en-US" sz="1150" b="1" kern="0" spc="200" dirty="0">
                <a:solidFill>
                  <a:srgbClr val="6B6F9E"/>
                </a:solidFill>
                <a:latin typeface="Calibri" pitchFamily="34" charset="0"/>
                <a:ea typeface="Calibri" pitchFamily="34" charset="-122"/>
                <a:cs typeface="Calibri" pitchFamily="34" charset="-120"/>
              </a:rPr>
              <a:t>STATUS LEGEND</a:t>
            </a:r>
            <a:endParaRPr lang="en-US" sz="1150" dirty="0"/>
          </a:p>
        </p:txBody>
      </p:sp>
      <p:sp>
        <p:nvSpPr>
          <p:cNvPr id="32" name="Shape 30"/>
          <p:cNvSpPr/>
          <p:nvPr/>
        </p:nvSpPr>
        <p:spPr>
          <a:xfrm>
            <a:off x="548640" y="5440680"/>
            <a:ext cx="1600200" cy="438912"/>
          </a:xfrm>
          <a:prstGeom prst="roundRect">
            <a:avLst>
              <a:gd name="adj" fmla="val 50000"/>
            </a:avLst>
          </a:prstGeom>
          <a:solidFill>
            <a:srgbClr val="2ECC87"/>
          </a:solidFill>
          <a:ln/>
        </p:spPr>
      </p:sp>
      <p:sp>
        <p:nvSpPr>
          <p:cNvPr id="33" name="Text 31"/>
          <p:cNvSpPr txBox="1"/>
          <p:nvPr/>
        </p:nvSpPr>
        <p:spPr>
          <a:xfrm>
            <a:off x="548640" y="5422392"/>
            <a:ext cx="1600200" cy="438912"/>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ACTIVE</a:t>
            </a:r>
            <a:endParaRPr lang="en-US" sz="1050" dirty="0"/>
          </a:p>
        </p:txBody>
      </p:sp>
      <p:sp>
        <p:nvSpPr>
          <p:cNvPr id="34" name="Shape 32"/>
          <p:cNvSpPr/>
          <p:nvPr/>
        </p:nvSpPr>
        <p:spPr>
          <a:xfrm>
            <a:off x="2331720" y="5440680"/>
            <a:ext cx="1600200" cy="438912"/>
          </a:xfrm>
          <a:prstGeom prst="roundRect">
            <a:avLst>
              <a:gd name="adj" fmla="val 50000"/>
            </a:avLst>
          </a:prstGeom>
          <a:solidFill>
            <a:srgbClr val="F5A623"/>
          </a:solidFill>
          <a:ln/>
        </p:spPr>
      </p:sp>
      <p:sp>
        <p:nvSpPr>
          <p:cNvPr id="35" name="Text 33"/>
          <p:cNvSpPr txBox="1"/>
          <p:nvPr/>
        </p:nvSpPr>
        <p:spPr>
          <a:xfrm>
            <a:off x="2331720" y="5422392"/>
            <a:ext cx="1600200" cy="438912"/>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STALE</a:t>
            </a:r>
            <a:endParaRPr lang="en-US" sz="1050" dirty="0"/>
          </a:p>
        </p:txBody>
      </p:sp>
      <p:sp>
        <p:nvSpPr>
          <p:cNvPr id="36" name="Shape 34"/>
          <p:cNvSpPr/>
          <p:nvPr/>
        </p:nvSpPr>
        <p:spPr>
          <a:xfrm>
            <a:off x="4114800" y="5440680"/>
            <a:ext cx="1600200" cy="438912"/>
          </a:xfrm>
          <a:prstGeom prst="roundRect">
            <a:avLst>
              <a:gd name="adj" fmla="val 50000"/>
            </a:avLst>
          </a:prstGeom>
          <a:solidFill>
            <a:srgbClr val="8A8DB0"/>
          </a:solidFill>
          <a:ln/>
        </p:spPr>
      </p:sp>
      <p:sp>
        <p:nvSpPr>
          <p:cNvPr id="37" name="Text 35"/>
          <p:cNvSpPr txBox="1"/>
          <p:nvPr/>
        </p:nvSpPr>
        <p:spPr>
          <a:xfrm>
            <a:off x="4114800" y="5422392"/>
            <a:ext cx="1600200" cy="438912"/>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ARCHIVED</a:t>
            </a:r>
            <a:endParaRPr lang="en-US" sz="1050" dirty="0"/>
          </a:p>
        </p:txBody>
      </p:sp>
      <p:sp>
        <p:nvSpPr>
          <p:cNvPr id="38" name="Shape 36"/>
          <p:cNvSpPr/>
          <p:nvPr/>
        </p:nvSpPr>
        <p:spPr>
          <a:xfrm>
            <a:off x="5897880" y="5440680"/>
            <a:ext cx="1600200" cy="438912"/>
          </a:xfrm>
          <a:prstGeom prst="roundRect">
            <a:avLst>
              <a:gd name="adj" fmla="val 50000"/>
            </a:avLst>
          </a:prstGeom>
          <a:solidFill>
            <a:srgbClr val="E8635C"/>
          </a:solidFill>
          <a:ln/>
        </p:spPr>
      </p:sp>
      <p:sp>
        <p:nvSpPr>
          <p:cNvPr id="39" name="Text 37"/>
          <p:cNvSpPr txBox="1"/>
          <p:nvPr/>
        </p:nvSpPr>
        <p:spPr>
          <a:xfrm>
            <a:off x="5897880" y="5422392"/>
            <a:ext cx="1600200" cy="438912"/>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SUPERSEDED</a:t>
            </a:r>
            <a:endParaRPr lang="en-US" sz="1050" dirty="0"/>
          </a:p>
        </p:txBody>
      </p:sp>
      <p:sp>
        <p:nvSpPr>
          <p:cNvPr id="40" name="Text 38"/>
          <p:cNvSpPr txBox="1"/>
          <p:nvPr/>
        </p:nvSpPr>
        <p:spPr>
          <a:xfrm>
            <a:off x="11475720" y="6473952"/>
            <a:ext cx="548640" cy="274320"/>
          </a:xfrm>
          <a:prstGeom prst="rect">
            <a:avLst/>
          </a:prstGeom>
          <a:noFill/>
          <a:ln/>
        </p:spPr>
        <p:txBody>
          <a:bodyPr wrap="square" rtlCol="0" anchor="ctr"/>
          <a:lstStyle/>
          <a:p>
            <a:pPr marL="0" indent="0" algn="r">
              <a:buNone/>
            </a:pPr>
            <a:r>
              <a:rPr lang="en-US" sz="900" dirty="0">
                <a:solidFill>
                  <a:srgbClr val="6B6F9E"/>
                </a:solidFill>
                <a:latin typeface="Calibri" pitchFamily="34" charset="0"/>
                <a:ea typeface="Calibri" pitchFamily="34" charset="-122"/>
                <a:cs typeface="Calibri" pitchFamily="34" charset="-120"/>
              </a:rPr>
              <a:t>08</a:t>
            </a:r>
            <a:endParaRPr lang="en-US" sz="900" dirty="0"/>
          </a:p>
        </p:txBody>
      </p:sp>
      <p:sp>
        <p:nvSpPr>
          <p:cNvPr id="41" name="Text 39"/>
          <p:cNvSpPr txBox="1"/>
          <p:nvPr/>
        </p:nvSpPr>
        <p:spPr>
          <a:xfrm>
            <a:off x="548640" y="6473952"/>
            <a:ext cx="2743200" cy="274320"/>
          </a:xfrm>
          <a:prstGeom prst="rect">
            <a:avLst/>
          </a:prstGeom>
          <a:noFill/>
          <a:ln/>
        </p:spPr>
        <p:txBody>
          <a:bodyPr wrap="square" rtlCol="0" anchor="ctr"/>
          <a:lstStyle/>
          <a:p>
            <a:pPr marL="0" indent="0">
              <a:buNone/>
            </a:pPr>
            <a:r>
              <a:rPr lang="en-US" sz="900" kern="0" spc="100" dirty="0">
                <a:solidFill>
                  <a:srgbClr val="6B6F9E"/>
                </a:solidFill>
                <a:latin typeface="Calibri" pitchFamily="34" charset="0"/>
                <a:ea typeface="Calibri" pitchFamily="34" charset="-122"/>
                <a:cs typeface="Calibri" pitchFamily="34" charset="-120"/>
              </a:rPr>
              <a:t>MEMORA</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6FC"/>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rtlCol="0" anchor="ctr"/>
          <a:lstStyle/>
          <a:p>
            <a:pPr marL="0" indent="0">
              <a:buNone/>
            </a:pPr>
            <a:r>
              <a:rPr lang="en-US" sz="1250" b="1" kern="0" spc="200" dirty="0">
                <a:solidFill>
                  <a:srgbClr val="5B4FE9"/>
                </a:solidFill>
                <a:latin typeface="Calibri" pitchFamily="34" charset="0"/>
                <a:ea typeface="Calibri" pitchFamily="34" charset="-122"/>
                <a:cs typeface="Calibri" pitchFamily="34" charset="-120"/>
              </a:rPr>
              <a:t>THE KEY INNOVATION</a:t>
            </a:r>
            <a:endParaRPr lang="en-US" sz="1250" dirty="0"/>
          </a:p>
        </p:txBody>
      </p:sp>
      <p:sp>
        <p:nvSpPr>
          <p:cNvPr id="3" name="Text 1"/>
          <p:cNvSpPr txBox="1"/>
          <p:nvPr/>
        </p:nvSpPr>
        <p:spPr>
          <a:xfrm>
            <a:off x="548640" y="566928"/>
            <a:ext cx="10515600" cy="640080"/>
          </a:xfrm>
          <a:prstGeom prst="rect">
            <a:avLst/>
          </a:prstGeom>
          <a:noFill/>
          <a:ln/>
        </p:spPr>
        <p:txBody>
          <a:bodyPr wrap="square" rtlCol="0" anchor="ctr"/>
          <a:lstStyle/>
          <a:p>
            <a:pPr marL="0" indent="0">
              <a:buNone/>
            </a:pPr>
            <a:r>
              <a:rPr lang="en-US" sz="3000" b="1" dirty="0">
                <a:solidFill>
                  <a:srgbClr val="14163A"/>
                </a:solidFill>
                <a:latin typeface="Cambria" pitchFamily="34" charset="0"/>
                <a:ea typeface="Cambria" pitchFamily="34" charset="-122"/>
                <a:cs typeface="Cambria" pitchFamily="34" charset="-120"/>
              </a:rPr>
              <a:t>Contradiction Handling</a:t>
            </a:r>
            <a:endParaRPr lang="en-US" sz="3000" dirty="0"/>
          </a:p>
        </p:txBody>
      </p:sp>
      <p:sp>
        <p:nvSpPr>
          <p:cNvPr id="4" name="Shape 2"/>
          <p:cNvSpPr/>
          <p:nvPr/>
        </p:nvSpPr>
        <p:spPr>
          <a:xfrm>
            <a:off x="548640" y="1417320"/>
            <a:ext cx="3566160" cy="2148840"/>
          </a:xfrm>
          <a:prstGeom prst="roundRect">
            <a:avLst>
              <a:gd name="adj" fmla="val 4255"/>
            </a:avLst>
          </a:prstGeom>
          <a:solidFill>
            <a:srgbClr val="FFFFFF"/>
          </a:solidFill>
          <a:ln w="9525">
            <a:solidFill>
              <a:srgbClr val="DCDCF0"/>
            </a:solidFill>
            <a:prstDash val="solid"/>
          </a:ln>
          <a:effectLst>
            <a:outerShdw blurRad="101600" dist="38100" dir="5400000" algn="bl" rotWithShape="0">
              <a:srgbClr val="14163A">
                <a:alpha val="12000"/>
              </a:srgbClr>
            </a:outerShdw>
          </a:effectLst>
        </p:spPr>
      </p:sp>
      <p:sp>
        <p:nvSpPr>
          <p:cNvPr id="5" name="Shape 3"/>
          <p:cNvSpPr/>
          <p:nvPr/>
        </p:nvSpPr>
        <p:spPr>
          <a:xfrm>
            <a:off x="822960" y="1645920"/>
            <a:ext cx="1005840" cy="365760"/>
          </a:xfrm>
          <a:prstGeom prst="roundRect">
            <a:avLst>
              <a:gd name="adj" fmla="val 50000"/>
            </a:avLst>
          </a:prstGeom>
          <a:solidFill>
            <a:srgbClr val="5B4FE9"/>
          </a:solidFill>
          <a:ln/>
        </p:spPr>
      </p:sp>
      <p:sp>
        <p:nvSpPr>
          <p:cNvPr id="6" name="Text 4"/>
          <p:cNvSpPr txBox="1"/>
          <p:nvPr/>
        </p:nvSpPr>
        <p:spPr>
          <a:xfrm>
            <a:off x="822960" y="1627632"/>
            <a:ext cx="1005840"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DAY 1</a:t>
            </a:r>
            <a:endParaRPr lang="en-US" sz="1100" dirty="0"/>
          </a:p>
        </p:txBody>
      </p:sp>
      <p:sp>
        <p:nvSpPr>
          <p:cNvPr id="7" name="Text 5"/>
          <p:cNvSpPr txBox="1"/>
          <p:nvPr/>
        </p:nvSpPr>
        <p:spPr>
          <a:xfrm>
            <a:off x="822960" y="2148840"/>
            <a:ext cx="3017520" cy="502920"/>
          </a:xfrm>
          <a:prstGeom prst="rect">
            <a:avLst/>
          </a:prstGeom>
          <a:noFill/>
          <a:ln/>
        </p:spPr>
        <p:txBody>
          <a:bodyPr wrap="square" rtlCol="0" anchor="ctr"/>
          <a:lstStyle/>
          <a:p>
            <a:pPr marL="0" indent="0">
              <a:buNone/>
            </a:pPr>
            <a:r>
              <a:rPr lang="en-US" sz="1500" i="1" dirty="0">
                <a:solidFill>
                  <a:srgbClr val="14163A"/>
                </a:solidFill>
                <a:latin typeface="Cambria" pitchFamily="34" charset="0"/>
                <a:ea typeface="Cambria" pitchFamily="34" charset="-122"/>
                <a:cs typeface="Cambria" pitchFamily="34" charset="-120"/>
              </a:rPr>
              <a:t>"I prefer Python."</a:t>
            </a:r>
            <a:endParaRPr lang="en-US" sz="1500" dirty="0"/>
          </a:p>
        </p:txBody>
      </p:sp>
      <p:sp>
        <p:nvSpPr>
          <p:cNvPr id="8" name="Shape 6"/>
          <p:cNvSpPr/>
          <p:nvPr/>
        </p:nvSpPr>
        <p:spPr>
          <a:xfrm>
            <a:off x="822960" y="2743200"/>
            <a:ext cx="3017520" cy="685800"/>
          </a:xfrm>
          <a:prstGeom prst="roundRect">
            <a:avLst>
              <a:gd name="adj" fmla="val 10667"/>
            </a:avLst>
          </a:prstGeom>
          <a:solidFill>
            <a:srgbClr val="E6FBF8"/>
          </a:solidFill>
          <a:ln/>
        </p:spPr>
      </p:sp>
      <p:sp>
        <p:nvSpPr>
          <p:cNvPr id="9" name="Text 7"/>
          <p:cNvSpPr txBox="1"/>
          <p:nvPr/>
        </p:nvSpPr>
        <p:spPr>
          <a:xfrm>
            <a:off x="960120" y="2816352"/>
            <a:ext cx="2743200" cy="274320"/>
          </a:xfrm>
          <a:prstGeom prst="rect">
            <a:avLst/>
          </a:prstGeom>
          <a:noFill/>
          <a:ln/>
        </p:spPr>
        <p:txBody>
          <a:bodyPr wrap="square" rtlCol="0" anchor="ctr"/>
          <a:lstStyle/>
          <a:p>
            <a:pPr marL="0" indent="0">
              <a:buNone/>
            </a:pPr>
            <a:r>
              <a:rPr lang="en-US" sz="1100" b="1" dirty="0">
                <a:solidFill>
                  <a:srgbClr val="14163A"/>
                </a:solidFill>
                <a:latin typeface="Courier New" pitchFamily="34" charset="0"/>
                <a:ea typeface="Courier New" pitchFamily="34" charset="-122"/>
                <a:cs typeface="Courier New" pitchFamily="34" charset="-120"/>
              </a:rPr>
              <a:t>M001 · Python</a:t>
            </a:r>
            <a:endParaRPr lang="en-US" sz="1100" dirty="0"/>
          </a:p>
        </p:txBody>
      </p:sp>
      <p:sp>
        <p:nvSpPr>
          <p:cNvPr id="10" name="Shape 8"/>
          <p:cNvSpPr/>
          <p:nvPr/>
        </p:nvSpPr>
        <p:spPr>
          <a:xfrm>
            <a:off x="960120" y="3108960"/>
            <a:ext cx="1463040" cy="274320"/>
          </a:xfrm>
          <a:prstGeom prst="roundRect">
            <a:avLst>
              <a:gd name="adj" fmla="val 50000"/>
            </a:avLst>
          </a:prstGeom>
          <a:solidFill>
            <a:srgbClr val="2ECC87"/>
          </a:solidFill>
          <a:ln/>
        </p:spPr>
      </p:sp>
      <p:sp>
        <p:nvSpPr>
          <p:cNvPr id="11" name="Text 9"/>
          <p:cNvSpPr txBox="1"/>
          <p:nvPr/>
        </p:nvSpPr>
        <p:spPr>
          <a:xfrm>
            <a:off x="960120" y="3090672"/>
            <a:ext cx="1463040" cy="27432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ACTIVE · v1</a:t>
            </a:r>
            <a:endParaRPr lang="en-US" sz="950" dirty="0"/>
          </a:p>
        </p:txBody>
      </p:sp>
      <p:sp>
        <p:nvSpPr>
          <p:cNvPr id="12" name="Shape 10"/>
          <p:cNvSpPr/>
          <p:nvPr/>
        </p:nvSpPr>
        <p:spPr>
          <a:xfrm>
            <a:off x="4160520" y="2468880"/>
            <a:ext cx="548640" cy="0"/>
          </a:xfrm>
          <a:prstGeom prst="line">
            <a:avLst/>
          </a:prstGeom>
          <a:noFill/>
          <a:ln w="25400">
            <a:solidFill>
              <a:srgbClr val="5B4FE9"/>
            </a:solidFill>
            <a:prstDash val="solid"/>
            <a:tailEnd type="triangle"/>
          </a:ln>
        </p:spPr>
      </p:sp>
      <p:sp>
        <p:nvSpPr>
          <p:cNvPr id="13" name="Shape 11"/>
          <p:cNvSpPr/>
          <p:nvPr/>
        </p:nvSpPr>
        <p:spPr>
          <a:xfrm>
            <a:off x="4754880" y="1417320"/>
            <a:ext cx="3566160" cy="2148840"/>
          </a:xfrm>
          <a:prstGeom prst="roundRect">
            <a:avLst>
              <a:gd name="adj" fmla="val 4255"/>
            </a:avLst>
          </a:prstGeom>
          <a:solidFill>
            <a:srgbClr val="FFFFFF"/>
          </a:solidFill>
          <a:ln w="9525">
            <a:solidFill>
              <a:srgbClr val="DCDCF0"/>
            </a:solidFill>
            <a:prstDash val="solid"/>
          </a:ln>
          <a:effectLst>
            <a:outerShdw blurRad="101600" dist="38100" dir="5400000" algn="bl" rotWithShape="0">
              <a:srgbClr val="14163A">
                <a:alpha val="12000"/>
              </a:srgbClr>
            </a:outerShdw>
          </a:effectLst>
        </p:spPr>
      </p:sp>
      <p:sp>
        <p:nvSpPr>
          <p:cNvPr id="14" name="Shape 12"/>
          <p:cNvSpPr/>
          <p:nvPr/>
        </p:nvSpPr>
        <p:spPr>
          <a:xfrm>
            <a:off x="5029200" y="1645920"/>
            <a:ext cx="1005840" cy="365760"/>
          </a:xfrm>
          <a:prstGeom prst="roundRect">
            <a:avLst>
              <a:gd name="adj" fmla="val 50000"/>
            </a:avLst>
          </a:prstGeom>
          <a:solidFill>
            <a:srgbClr val="14163A"/>
          </a:solidFill>
          <a:ln/>
        </p:spPr>
      </p:sp>
      <p:sp>
        <p:nvSpPr>
          <p:cNvPr id="15" name="Text 13"/>
          <p:cNvSpPr txBox="1"/>
          <p:nvPr/>
        </p:nvSpPr>
        <p:spPr>
          <a:xfrm>
            <a:off x="5029200" y="1627632"/>
            <a:ext cx="1005840"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DAY 3</a:t>
            </a:r>
            <a:endParaRPr lang="en-US" sz="1100" dirty="0"/>
          </a:p>
        </p:txBody>
      </p:sp>
      <p:sp>
        <p:nvSpPr>
          <p:cNvPr id="16" name="Text 14"/>
          <p:cNvSpPr txBox="1"/>
          <p:nvPr/>
        </p:nvSpPr>
        <p:spPr>
          <a:xfrm>
            <a:off x="5029200" y="2103120"/>
            <a:ext cx="3017520" cy="594360"/>
          </a:xfrm>
          <a:prstGeom prst="rect">
            <a:avLst/>
          </a:prstGeom>
          <a:noFill/>
          <a:ln/>
        </p:spPr>
        <p:txBody>
          <a:bodyPr wrap="square" rtlCol="0" anchor="ctr"/>
          <a:lstStyle/>
          <a:p>
            <a:pPr marL="0" indent="0">
              <a:buNone/>
            </a:pPr>
            <a:r>
              <a:rPr lang="en-US" sz="1500" i="1" dirty="0">
                <a:solidFill>
                  <a:srgbClr val="14163A"/>
                </a:solidFill>
                <a:latin typeface="Cambria" pitchFamily="34" charset="0"/>
                <a:ea typeface="Cambria" pitchFamily="34" charset="-122"/>
                <a:cs typeface="Cambria" pitchFamily="34" charset="-120"/>
              </a:rPr>
              <a:t>"Actually, I prefer</a:t>
            </a:r>
            <a:endParaRPr lang="en-US" sz="1500" dirty="0"/>
          </a:p>
          <a:p>
            <a:pPr marL="0" indent="0">
              <a:buNone/>
            </a:pPr>
            <a:r>
              <a:rPr lang="en-US" sz="1500" i="1" dirty="0">
                <a:solidFill>
                  <a:srgbClr val="14163A"/>
                </a:solidFill>
                <a:latin typeface="Cambria" pitchFamily="34" charset="0"/>
                <a:ea typeface="Cambria" pitchFamily="34" charset="-122"/>
                <a:cs typeface="Cambria" pitchFamily="34" charset="-120"/>
              </a:rPr>
              <a:t>Java now."</a:t>
            </a:r>
            <a:endParaRPr lang="en-US" sz="1500" dirty="0"/>
          </a:p>
        </p:txBody>
      </p:sp>
      <p:sp>
        <p:nvSpPr>
          <p:cNvPr id="17" name="Shape 15"/>
          <p:cNvSpPr/>
          <p:nvPr/>
        </p:nvSpPr>
        <p:spPr>
          <a:xfrm>
            <a:off x="5029200" y="2788920"/>
            <a:ext cx="1417320" cy="685800"/>
          </a:xfrm>
          <a:prstGeom prst="roundRect">
            <a:avLst>
              <a:gd name="adj" fmla="val 10667"/>
            </a:avLst>
          </a:prstGeom>
          <a:solidFill>
            <a:srgbClr val="FDE7E6"/>
          </a:solidFill>
          <a:ln/>
        </p:spPr>
      </p:sp>
      <p:sp>
        <p:nvSpPr>
          <p:cNvPr id="18" name="Text 16"/>
          <p:cNvSpPr txBox="1"/>
          <p:nvPr/>
        </p:nvSpPr>
        <p:spPr>
          <a:xfrm>
            <a:off x="5120640" y="2852928"/>
            <a:ext cx="1234440" cy="256032"/>
          </a:xfrm>
          <a:prstGeom prst="rect">
            <a:avLst/>
          </a:prstGeom>
          <a:noFill/>
          <a:ln/>
        </p:spPr>
        <p:txBody>
          <a:bodyPr wrap="square" rtlCol="0" anchor="ctr"/>
          <a:lstStyle/>
          <a:p>
            <a:pPr marL="0" indent="0">
              <a:buNone/>
            </a:pPr>
            <a:r>
              <a:rPr lang="en-US" sz="1050" b="1" dirty="0">
                <a:solidFill>
                  <a:srgbClr val="14163A"/>
                </a:solidFill>
                <a:latin typeface="Courier New" pitchFamily="34" charset="0"/>
                <a:ea typeface="Courier New" pitchFamily="34" charset="-122"/>
                <a:cs typeface="Courier New" pitchFamily="34" charset="-120"/>
              </a:rPr>
              <a:t>M001</a:t>
            </a:r>
            <a:endParaRPr lang="en-US" sz="1050" dirty="0"/>
          </a:p>
        </p:txBody>
      </p:sp>
      <p:sp>
        <p:nvSpPr>
          <p:cNvPr id="19" name="Shape 17"/>
          <p:cNvSpPr/>
          <p:nvPr/>
        </p:nvSpPr>
        <p:spPr>
          <a:xfrm>
            <a:off x="5120640" y="3127248"/>
            <a:ext cx="1234440" cy="274320"/>
          </a:xfrm>
          <a:prstGeom prst="roundRect">
            <a:avLst>
              <a:gd name="adj" fmla="val 50000"/>
            </a:avLst>
          </a:prstGeom>
          <a:solidFill>
            <a:srgbClr val="E8635C"/>
          </a:solidFill>
          <a:ln/>
        </p:spPr>
      </p:sp>
      <p:sp>
        <p:nvSpPr>
          <p:cNvPr id="20" name="Text 18"/>
          <p:cNvSpPr txBox="1"/>
          <p:nvPr/>
        </p:nvSpPr>
        <p:spPr>
          <a:xfrm>
            <a:off x="5120640" y="3108960"/>
            <a:ext cx="1234440" cy="274320"/>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SUPERSEDED</a:t>
            </a:r>
            <a:endParaRPr lang="en-US" sz="800" dirty="0"/>
          </a:p>
        </p:txBody>
      </p:sp>
      <p:sp>
        <p:nvSpPr>
          <p:cNvPr id="21" name="Shape 19"/>
          <p:cNvSpPr/>
          <p:nvPr/>
        </p:nvSpPr>
        <p:spPr>
          <a:xfrm>
            <a:off x="6583680" y="2788920"/>
            <a:ext cx="1508760" cy="685800"/>
          </a:xfrm>
          <a:prstGeom prst="roundRect">
            <a:avLst>
              <a:gd name="adj" fmla="val 10667"/>
            </a:avLst>
          </a:prstGeom>
          <a:solidFill>
            <a:srgbClr val="E6FBF8"/>
          </a:solidFill>
          <a:ln/>
        </p:spPr>
      </p:sp>
      <p:sp>
        <p:nvSpPr>
          <p:cNvPr id="22" name="Text 20"/>
          <p:cNvSpPr txBox="1"/>
          <p:nvPr/>
        </p:nvSpPr>
        <p:spPr>
          <a:xfrm>
            <a:off x="6675120" y="2852928"/>
            <a:ext cx="1371600" cy="256032"/>
          </a:xfrm>
          <a:prstGeom prst="rect">
            <a:avLst/>
          </a:prstGeom>
          <a:noFill/>
          <a:ln/>
        </p:spPr>
        <p:txBody>
          <a:bodyPr wrap="square" rtlCol="0" anchor="ctr"/>
          <a:lstStyle/>
          <a:p>
            <a:pPr marL="0" indent="0">
              <a:buNone/>
            </a:pPr>
            <a:r>
              <a:rPr lang="en-US" sz="1000" b="1" dirty="0">
                <a:solidFill>
                  <a:srgbClr val="14163A"/>
                </a:solidFill>
                <a:latin typeface="Courier New" pitchFamily="34" charset="0"/>
                <a:ea typeface="Courier New" pitchFamily="34" charset="-122"/>
                <a:cs typeface="Courier New" pitchFamily="34" charset="-120"/>
              </a:rPr>
              <a:t>M002 · Java</a:t>
            </a:r>
            <a:endParaRPr lang="en-US" sz="1000" dirty="0"/>
          </a:p>
        </p:txBody>
      </p:sp>
      <p:sp>
        <p:nvSpPr>
          <p:cNvPr id="23" name="Shape 21"/>
          <p:cNvSpPr/>
          <p:nvPr/>
        </p:nvSpPr>
        <p:spPr>
          <a:xfrm>
            <a:off x="6675120" y="3127248"/>
            <a:ext cx="1325880" cy="274320"/>
          </a:xfrm>
          <a:prstGeom prst="roundRect">
            <a:avLst>
              <a:gd name="adj" fmla="val 50000"/>
            </a:avLst>
          </a:prstGeom>
          <a:solidFill>
            <a:srgbClr val="2ECC87"/>
          </a:solidFill>
          <a:ln/>
        </p:spPr>
      </p:sp>
      <p:sp>
        <p:nvSpPr>
          <p:cNvPr id="24" name="Text 22"/>
          <p:cNvSpPr txBox="1"/>
          <p:nvPr/>
        </p:nvSpPr>
        <p:spPr>
          <a:xfrm>
            <a:off x="6675120" y="3108960"/>
            <a:ext cx="1325880" cy="274320"/>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ACTIVE · v2</a:t>
            </a:r>
            <a:endParaRPr lang="en-US" sz="850" dirty="0"/>
          </a:p>
        </p:txBody>
      </p:sp>
      <p:sp>
        <p:nvSpPr>
          <p:cNvPr id="25" name="Text 23"/>
          <p:cNvSpPr txBox="1"/>
          <p:nvPr/>
        </p:nvSpPr>
        <p:spPr>
          <a:xfrm>
            <a:off x="8549640" y="1600200"/>
            <a:ext cx="3108960" cy="1737360"/>
          </a:xfrm>
          <a:prstGeom prst="rect">
            <a:avLst/>
          </a:prstGeom>
          <a:noFill/>
          <a:ln/>
        </p:spPr>
        <p:txBody>
          <a:bodyPr wrap="square" rtlCol="0" anchor="t"/>
          <a:lstStyle/>
          <a:p>
            <a:pPr marL="0" indent="0">
              <a:buNone/>
            </a:pPr>
            <a:r>
              <a:rPr lang="en-US" sz="1200" dirty="0">
                <a:solidFill>
                  <a:srgbClr val="6B6F9E"/>
                </a:solidFill>
                <a:latin typeface="Calibri" pitchFamily="34" charset="0"/>
                <a:ea typeface="Calibri" pitchFamily="34" charset="-122"/>
                <a:cs typeface="Calibri" pitchFamily="34" charset="-120"/>
              </a:rPr>
              <a:t>Instead of deleting the old memory, MEMORA preserves it with a superseded status — keeping full historical context while the newer fact becomes the current truth.</a:t>
            </a:r>
            <a:endParaRPr lang="en-US" sz="1200" dirty="0"/>
          </a:p>
        </p:txBody>
      </p:sp>
      <p:sp>
        <p:nvSpPr>
          <p:cNvPr id="26" name="Shape 24"/>
          <p:cNvSpPr/>
          <p:nvPr/>
        </p:nvSpPr>
        <p:spPr>
          <a:xfrm>
            <a:off x="548640" y="3977640"/>
            <a:ext cx="11064240" cy="2148840"/>
          </a:xfrm>
          <a:prstGeom prst="roundRect">
            <a:avLst>
              <a:gd name="adj" fmla="val 4255"/>
            </a:avLst>
          </a:prstGeom>
          <a:solidFill>
            <a:srgbClr val="14163A"/>
          </a:solidFill>
          <a:ln/>
        </p:spPr>
      </p:sp>
      <p:sp>
        <p:nvSpPr>
          <p:cNvPr id="27" name="Shape 25"/>
          <p:cNvSpPr/>
          <p:nvPr/>
        </p:nvSpPr>
        <p:spPr>
          <a:xfrm>
            <a:off x="1120140" y="4503420"/>
            <a:ext cx="777240" cy="777240"/>
          </a:xfrm>
          <a:prstGeom prst="ellipse">
            <a:avLst/>
          </a:prstGeom>
          <a:solidFill>
            <a:srgbClr val="5B4FE9"/>
          </a:solidFill>
          <a:ln/>
        </p:spPr>
      </p:sp>
      <p:pic>
        <p:nvPicPr>
          <p:cNvPr id="28" name="Image 0" descr="preencoded.png"/>
          <p:cNvPicPr>
            <a:picLocks noChangeAspect="1"/>
          </p:cNvPicPr>
          <p:nvPr/>
        </p:nvPicPr>
        <p:blipFill>
          <a:blip r:embed="rId3"/>
          <a:stretch>
            <a:fillRect/>
          </a:stretch>
        </p:blipFill>
        <p:spPr>
          <a:xfrm>
            <a:off x="1314450" y="4697730"/>
            <a:ext cx="388620" cy="388620"/>
          </a:xfrm>
          <a:prstGeom prst="rect">
            <a:avLst/>
          </a:prstGeom>
        </p:spPr>
      </p:pic>
      <p:sp>
        <p:nvSpPr>
          <p:cNvPr id="29" name="Text 26"/>
          <p:cNvSpPr txBox="1"/>
          <p:nvPr/>
        </p:nvSpPr>
        <p:spPr>
          <a:xfrm>
            <a:off x="2148840" y="4297680"/>
            <a:ext cx="5577840" cy="548640"/>
          </a:xfrm>
          <a:prstGeom prst="rect">
            <a:avLst/>
          </a:prstGeom>
          <a:noFill/>
          <a:ln/>
        </p:spPr>
        <p:txBody>
          <a:bodyPr wrap="square" rtlCol="0" anchor="ctr"/>
          <a:lstStyle/>
          <a:p>
            <a:pPr marL="0" indent="0">
              <a:buNone/>
            </a:pPr>
            <a:r>
              <a:rPr lang="en-US" sz="1500" i="1" dirty="0">
                <a:solidFill>
                  <a:srgbClr val="FFFFFF"/>
                </a:solidFill>
                <a:latin typeface="Cambria" pitchFamily="34" charset="0"/>
                <a:ea typeface="Cambria" pitchFamily="34" charset="-122"/>
                <a:cs typeface="Cambria" pitchFamily="34" charset="-120"/>
              </a:rPr>
              <a:t>"Which programming language do I prefer?"</a:t>
            </a:r>
            <a:endParaRPr lang="en-US" sz="1500" dirty="0"/>
          </a:p>
        </p:txBody>
      </p:sp>
      <p:sp>
        <p:nvSpPr>
          <p:cNvPr id="30" name="Text 27"/>
          <p:cNvSpPr txBox="1"/>
          <p:nvPr/>
        </p:nvSpPr>
        <p:spPr>
          <a:xfrm>
            <a:off x="2148840" y="4892040"/>
            <a:ext cx="2743200" cy="274320"/>
          </a:xfrm>
          <a:prstGeom prst="rect">
            <a:avLst/>
          </a:prstGeom>
          <a:noFill/>
          <a:ln/>
        </p:spPr>
        <p:txBody>
          <a:bodyPr wrap="square" rtlCol="0" anchor="ctr"/>
          <a:lstStyle/>
          <a:p>
            <a:pPr marL="0" indent="0">
              <a:buNone/>
            </a:pPr>
            <a:r>
              <a:rPr lang="en-US" sz="1050" b="1" kern="0" spc="200" dirty="0">
                <a:solidFill>
                  <a:srgbClr val="00D9C0"/>
                </a:solidFill>
                <a:latin typeface="Calibri" pitchFamily="34" charset="0"/>
                <a:ea typeface="Calibri" pitchFamily="34" charset="-122"/>
                <a:cs typeface="Calibri" pitchFamily="34" charset="-120"/>
              </a:rPr>
              <a:t>RESULT</a:t>
            </a:r>
            <a:endParaRPr lang="en-US" sz="1050" dirty="0"/>
          </a:p>
        </p:txBody>
      </p:sp>
      <p:sp>
        <p:nvSpPr>
          <p:cNvPr id="31" name="Text 28"/>
          <p:cNvSpPr txBox="1"/>
          <p:nvPr/>
        </p:nvSpPr>
        <p:spPr>
          <a:xfrm>
            <a:off x="2148840" y="5166360"/>
            <a:ext cx="5577840" cy="457200"/>
          </a:xfrm>
          <a:prstGeom prst="rect">
            <a:avLst/>
          </a:prstGeom>
          <a:noFill/>
          <a:ln/>
        </p:spPr>
        <p:txBody>
          <a:bodyPr wrap="square" rtlCol="0" anchor="ctr"/>
          <a:lstStyle/>
          <a:p>
            <a:pPr marL="0" indent="0">
              <a:buNone/>
            </a:pPr>
            <a:r>
              <a:rPr lang="en-US" sz="1900" b="1" dirty="0">
                <a:solidFill>
                  <a:srgbClr val="00D9C0"/>
                </a:solidFill>
                <a:latin typeface="Cambria" pitchFamily="34" charset="0"/>
                <a:ea typeface="Cambria" pitchFamily="34" charset="-122"/>
                <a:cs typeface="Cambria" pitchFamily="34" charset="-120"/>
              </a:rPr>
              <a:t>Java — the latest active memory.</a:t>
            </a:r>
            <a:endParaRPr lang="en-US" sz="1900" dirty="0"/>
          </a:p>
        </p:txBody>
      </p:sp>
      <p:sp>
        <p:nvSpPr>
          <p:cNvPr id="32" name="Text 29"/>
          <p:cNvSpPr txBox="1"/>
          <p:nvPr/>
        </p:nvSpPr>
        <p:spPr>
          <a:xfrm>
            <a:off x="7955280" y="4480560"/>
            <a:ext cx="3429000" cy="1371600"/>
          </a:xfrm>
          <a:prstGeom prst="rect">
            <a:avLst/>
          </a:prstGeom>
          <a:noFill/>
          <a:ln/>
        </p:spPr>
        <p:txBody>
          <a:bodyPr wrap="square" rtlCol="0" anchor="ctr"/>
          <a:lstStyle/>
          <a:p>
            <a:pPr marL="0" indent="0">
              <a:buNone/>
            </a:pPr>
            <a:r>
              <a:rPr lang="en-US" sz="1200" dirty="0">
                <a:solidFill>
                  <a:srgbClr val="CADCFC"/>
                </a:solidFill>
                <a:latin typeface="Calibri" pitchFamily="34" charset="0"/>
                <a:ea typeface="Calibri" pitchFamily="34" charset="-122"/>
                <a:cs typeface="Calibri" pitchFamily="34" charset="-120"/>
              </a:rPr>
              <a:t>This preserves historical context while maintaining</a:t>
            </a:r>
            <a:endParaRPr lang="en-US" sz="1200" dirty="0"/>
          </a:p>
          <a:p>
            <a:pPr marL="0" indent="0">
              <a:buNone/>
            </a:pPr>
            <a:r>
              <a:rPr lang="en-US" sz="1200" dirty="0">
                <a:solidFill>
                  <a:srgbClr val="CADCFC"/>
                </a:solidFill>
                <a:latin typeface="Calibri" pitchFamily="34" charset="0"/>
                <a:ea typeface="Calibri" pitchFamily="34" charset="-122"/>
                <a:cs typeface="Calibri" pitchFamily="34" charset="-120"/>
              </a:rPr>
              <a:t>the current truth.</a:t>
            </a:r>
            <a:endParaRPr lang="en-US" sz="1200" dirty="0"/>
          </a:p>
        </p:txBody>
      </p:sp>
      <p:sp>
        <p:nvSpPr>
          <p:cNvPr id="33" name="Text 30"/>
          <p:cNvSpPr txBox="1"/>
          <p:nvPr/>
        </p:nvSpPr>
        <p:spPr>
          <a:xfrm>
            <a:off x="11475720" y="6473952"/>
            <a:ext cx="548640" cy="274320"/>
          </a:xfrm>
          <a:prstGeom prst="rect">
            <a:avLst/>
          </a:prstGeom>
          <a:noFill/>
          <a:ln/>
        </p:spPr>
        <p:txBody>
          <a:bodyPr wrap="square" rtlCol="0" anchor="ctr"/>
          <a:lstStyle/>
          <a:p>
            <a:pPr marL="0" indent="0" algn="r">
              <a:buNone/>
            </a:pPr>
            <a:r>
              <a:rPr lang="en-US" sz="900" dirty="0">
                <a:solidFill>
                  <a:srgbClr val="6B6F9E"/>
                </a:solidFill>
                <a:latin typeface="Calibri" pitchFamily="34" charset="0"/>
                <a:ea typeface="Calibri" pitchFamily="34" charset="-122"/>
                <a:cs typeface="Calibri" pitchFamily="34" charset="-120"/>
              </a:rPr>
              <a:t>09</a:t>
            </a:r>
            <a:endParaRPr lang="en-US" sz="900" dirty="0"/>
          </a:p>
        </p:txBody>
      </p:sp>
      <p:sp>
        <p:nvSpPr>
          <p:cNvPr id="34" name="Text 31"/>
          <p:cNvSpPr txBox="1"/>
          <p:nvPr/>
        </p:nvSpPr>
        <p:spPr>
          <a:xfrm>
            <a:off x="548640" y="6473952"/>
            <a:ext cx="2743200" cy="274320"/>
          </a:xfrm>
          <a:prstGeom prst="rect">
            <a:avLst/>
          </a:prstGeom>
          <a:noFill/>
          <a:ln/>
        </p:spPr>
        <p:txBody>
          <a:bodyPr wrap="square" rtlCol="0" anchor="ctr"/>
          <a:lstStyle/>
          <a:p>
            <a:pPr marL="0" indent="0">
              <a:buNone/>
            </a:pPr>
            <a:r>
              <a:rPr lang="en-US" sz="900" kern="0" spc="100" dirty="0">
                <a:solidFill>
                  <a:srgbClr val="6B6F9E"/>
                </a:solidFill>
                <a:latin typeface="Calibri" pitchFamily="34" charset="0"/>
                <a:ea typeface="Calibri" pitchFamily="34" charset="-122"/>
                <a:cs typeface="Calibri" pitchFamily="34" charset="-120"/>
              </a:rPr>
              <a:t>MEMORA</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6FC"/>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rtlCol="0" anchor="ctr"/>
          <a:lstStyle/>
          <a:p>
            <a:pPr marL="0" indent="0">
              <a:buNone/>
            </a:pPr>
            <a:r>
              <a:rPr lang="en-US" sz="1250" b="1" kern="0" spc="200" dirty="0">
                <a:solidFill>
                  <a:srgbClr val="5B4FE9"/>
                </a:solidFill>
                <a:latin typeface="Calibri" pitchFamily="34" charset="0"/>
                <a:ea typeface="Calibri" pitchFamily="34" charset="-122"/>
                <a:cs typeface="Calibri" pitchFamily="34" charset="-120"/>
              </a:rPr>
              <a:t>MEMORY RETRIEVAL</a:t>
            </a:r>
            <a:endParaRPr lang="en-US" sz="1250" dirty="0"/>
          </a:p>
        </p:txBody>
      </p:sp>
      <p:sp>
        <p:nvSpPr>
          <p:cNvPr id="3" name="Text 1"/>
          <p:cNvSpPr txBox="1"/>
          <p:nvPr/>
        </p:nvSpPr>
        <p:spPr>
          <a:xfrm>
            <a:off x="548640" y="566928"/>
            <a:ext cx="10515600" cy="640080"/>
          </a:xfrm>
          <a:prstGeom prst="rect">
            <a:avLst/>
          </a:prstGeom>
          <a:noFill/>
          <a:ln/>
        </p:spPr>
        <p:txBody>
          <a:bodyPr wrap="square" rtlCol="0" anchor="ctr"/>
          <a:lstStyle/>
          <a:p>
            <a:pPr marL="0" indent="0">
              <a:buNone/>
            </a:pPr>
            <a:r>
              <a:rPr lang="en-US" sz="2700" b="1" dirty="0">
                <a:solidFill>
                  <a:srgbClr val="14163A"/>
                </a:solidFill>
                <a:latin typeface="Cambria" pitchFamily="34" charset="0"/>
                <a:ea typeface="Cambria" pitchFamily="34" charset="-122"/>
                <a:cs typeface="Cambria" pitchFamily="34" charset="-120"/>
              </a:rPr>
              <a:t>From Simple Lookup to Ranked Truth</a:t>
            </a:r>
            <a:endParaRPr lang="en-US" sz="2700" dirty="0"/>
          </a:p>
        </p:txBody>
      </p:sp>
      <p:sp>
        <p:nvSpPr>
          <p:cNvPr id="4" name="Text 2"/>
          <p:cNvSpPr txBox="1"/>
          <p:nvPr/>
        </p:nvSpPr>
        <p:spPr>
          <a:xfrm>
            <a:off x="548640" y="1325880"/>
            <a:ext cx="3657600" cy="274320"/>
          </a:xfrm>
          <a:prstGeom prst="rect">
            <a:avLst/>
          </a:prstGeom>
          <a:noFill/>
          <a:ln/>
        </p:spPr>
        <p:txBody>
          <a:bodyPr wrap="square" rtlCol="0" anchor="ctr"/>
          <a:lstStyle/>
          <a:p>
            <a:pPr marL="0" indent="0">
              <a:buNone/>
            </a:pPr>
            <a:r>
              <a:rPr lang="en-US" sz="1150" b="1" kern="0" spc="150" dirty="0">
                <a:solidFill>
                  <a:srgbClr val="6B6F9E"/>
                </a:solidFill>
                <a:latin typeface="Calibri" pitchFamily="34" charset="0"/>
                <a:ea typeface="Calibri" pitchFamily="34" charset="-122"/>
                <a:cs typeface="Calibri" pitchFamily="34" charset="-120"/>
              </a:rPr>
              <a:t>TRADITIONAL RAG</a:t>
            </a:r>
            <a:endParaRPr lang="en-US" sz="1150" dirty="0"/>
          </a:p>
        </p:txBody>
      </p:sp>
      <p:sp>
        <p:nvSpPr>
          <p:cNvPr id="5" name="Shape 3"/>
          <p:cNvSpPr/>
          <p:nvPr/>
        </p:nvSpPr>
        <p:spPr>
          <a:xfrm>
            <a:off x="548640" y="1691640"/>
            <a:ext cx="3474720" cy="502920"/>
          </a:xfrm>
          <a:prstGeom prst="roundRect">
            <a:avLst>
              <a:gd name="adj" fmla="val 14545"/>
            </a:avLst>
          </a:prstGeom>
          <a:solidFill>
            <a:srgbClr val="FFFFFF"/>
          </a:solidFill>
          <a:ln w="9525">
            <a:solidFill>
              <a:srgbClr val="DCDCF0"/>
            </a:solidFill>
            <a:prstDash val="solid"/>
          </a:ln>
        </p:spPr>
      </p:sp>
      <p:sp>
        <p:nvSpPr>
          <p:cNvPr id="6" name="Text 4"/>
          <p:cNvSpPr txBox="1"/>
          <p:nvPr/>
        </p:nvSpPr>
        <p:spPr>
          <a:xfrm>
            <a:off x="548640" y="1691640"/>
            <a:ext cx="3474720" cy="502920"/>
          </a:xfrm>
          <a:prstGeom prst="rect">
            <a:avLst/>
          </a:prstGeom>
          <a:noFill/>
          <a:ln/>
        </p:spPr>
        <p:txBody>
          <a:bodyPr wrap="square" rtlCol="0" anchor="ctr"/>
          <a:lstStyle/>
          <a:p>
            <a:pPr marL="0" indent="0" algn="ctr">
              <a:buNone/>
            </a:pPr>
            <a:r>
              <a:rPr lang="en-US" sz="1250" b="1" dirty="0">
                <a:solidFill>
                  <a:srgbClr val="14163A"/>
                </a:solidFill>
                <a:latin typeface="Calibri" pitchFamily="34" charset="0"/>
                <a:ea typeface="Calibri" pitchFamily="34" charset="-122"/>
                <a:cs typeface="Calibri" pitchFamily="34" charset="-120"/>
              </a:rPr>
              <a:t>Query</a:t>
            </a:r>
            <a:endParaRPr lang="en-US" sz="1250" dirty="0"/>
          </a:p>
        </p:txBody>
      </p:sp>
      <p:sp>
        <p:nvSpPr>
          <p:cNvPr id="7" name="Shape 5"/>
          <p:cNvSpPr/>
          <p:nvPr/>
        </p:nvSpPr>
        <p:spPr>
          <a:xfrm>
            <a:off x="2286000" y="2194560"/>
            <a:ext cx="0" cy="274320"/>
          </a:xfrm>
          <a:prstGeom prst="line">
            <a:avLst/>
          </a:prstGeom>
          <a:noFill/>
          <a:ln w="15875">
            <a:solidFill>
              <a:srgbClr val="6B6F9E"/>
            </a:solidFill>
            <a:prstDash val="solid"/>
            <a:tailEnd type="triangle"/>
          </a:ln>
        </p:spPr>
      </p:sp>
      <p:sp>
        <p:nvSpPr>
          <p:cNvPr id="8" name="Shape 6"/>
          <p:cNvSpPr/>
          <p:nvPr/>
        </p:nvSpPr>
        <p:spPr>
          <a:xfrm>
            <a:off x="548640" y="2468880"/>
            <a:ext cx="3474720" cy="502920"/>
          </a:xfrm>
          <a:prstGeom prst="roundRect">
            <a:avLst>
              <a:gd name="adj" fmla="val 14545"/>
            </a:avLst>
          </a:prstGeom>
          <a:solidFill>
            <a:srgbClr val="FFFFFF"/>
          </a:solidFill>
          <a:ln w="9525">
            <a:solidFill>
              <a:srgbClr val="DCDCF0"/>
            </a:solidFill>
            <a:prstDash val="solid"/>
          </a:ln>
        </p:spPr>
      </p:sp>
      <p:sp>
        <p:nvSpPr>
          <p:cNvPr id="9" name="Text 7"/>
          <p:cNvSpPr txBox="1"/>
          <p:nvPr/>
        </p:nvSpPr>
        <p:spPr>
          <a:xfrm>
            <a:off x="548640" y="2468880"/>
            <a:ext cx="3474720" cy="502920"/>
          </a:xfrm>
          <a:prstGeom prst="rect">
            <a:avLst/>
          </a:prstGeom>
          <a:noFill/>
          <a:ln/>
        </p:spPr>
        <p:txBody>
          <a:bodyPr wrap="square" rtlCol="0" anchor="ctr"/>
          <a:lstStyle/>
          <a:p>
            <a:pPr marL="0" indent="0" algn="ctr">
              <a:buNone/>
            </a:pPr>
            <a:r>
              <a:rPr lang="en-US" sz="1250" b="1" dirty="0">
                <a:solidFill>
                  <a:srgbClr val="14163A"/>
                </a:solidFill>
                <a:latin typeface="Calibri" pitchFamily="34" charset="0"/>
                <a:ea typeface="Calibri" pitchFamily="34" charset="-122"/>
                <a:cs typeface="Calibri" pitchFamily="34" charset="-120"/>
              </a:rPr>
              <a:t>Top-K Vectors</a:t>
            </a:r>
            <a:endParaRPr lang="en-US" sz="1250" dirty="0"/>
          </a:p>
        </p:txBody>
      </p:sp>
      <p:sp>
        <p:nvSpPr>
          <p:cNvPr id="10" name="Shape 8"/>
          <p:cNvSpPr/>
          <p:nvPr/>
        </p:nvSpPr>
        <p:spPr>
          <a:xfrm>
            <a:off x="2286000" y="2971800"/>
            <a:ext cx="0" cy="274320"/>
          </a:xfrm>
          <a:prstGeom prst="line">
            <a:avLst/>
          </a:prstGeom>
          <a:noFill/>
          <a:ln w="15875">
            <a:solidFill>
              <a:srgbClr val="6B6F9E"/>
            </a:solidFill>
            <a:prstDash val="solid"/>
            <a:tailEnd type="triangle"/>
          </a:ln>
        </p:spPr>
      </p:sp>
      <p:sp>
        <p:nvSpPr>
          <p:cNvPr id="11" name="Shape 9"/>
          <p:cNvSpPr/>
          <p:nvPr/>
        </p:nvSpPr>
        <p:spPr>
          <a:xfrm>
            <a:off x="548640" y="3246120"/>
            <a:ext cx="3474720" cy="502920"/>
          </a:xfrm>
          <a:prstGeom prst="roundRect">
            <a:avLst>
              <a:gd name="adj" fmla="val 14545"/>
            </a:avLst>
          </a:prstGeom>
          <a:solidFill>
            <a:srgbClr val="FFFFFF"/>
          </a:solidFill>
          <a:ln w="9525">
            <a:solidFill>
              <a:srgbClr val="DCDCF0"/>
            </a:solidFill>
            <a:prstDash val="solid"/>
          </a:ln>
        </p:spPr>
      </p:sp>
      <p:sp>
        <p:nvSpPr>
          <p:cNvPr id="12" name="Text 10"/>
          <p:cNvSpPr txBox="1"/>
          <p:nvPr/>
        </p:nvSpPr>
        <p:spPr>
          <a:xfrm>
            <a:off x="548640" y="3246120"/>
            <a:ext cx="3474720" cy="502920"/>
          </a:xfrm>
          <a:prstGeom prst="rect">
            <a:avLst/>
          </a:prstGeom>
          <a:noFill/>
          <a:ln/>
        </p:spPr>
        <p:txBody>
          <a:bodyPr wrap="square" rtlCol="0" anchor="ctr"/>
          <a:lstStyle/>
          <a:p>
            <a:pPr marL="0" indent="0" algn="ctr">
              <a:buNone/>
            </a:pPr>
            <a:r>
              <a:rPr lang="en-US" sz="1250" b="1" dirty="0">
                <a:solidFill>
                  <a:srgbClr val="14163A"/>
                </a:solidFill>
                <a:latin typeface="Calibri" pitchFamily="34" charset="0"/>
                <a:ea typeface="Calibri" pitchFamily="34" charset="-122"/>
                <a:cs typeface="Calibri" pitchFamily="34" charset="-120"/>
              </a:rPr>
              <a:t>LLM</a:t>
            </a:r>
            <a:endParaRPr lang="en-US" sz="1250" dirty="0"/>
          </a:p>
        </p:txBody>
      </p:sp>
      <p:sp>
        <p:nvSpPr>
          <p:cNvPr id="13" name="Shape 11"/>
          <p:cNvSpPr/>
          <p:nvPr/>
        </p:nvSpPr>
        <p:spPr>
          <a:xfrm>
            <a:off x="548640" y="4160520"/>
            <a:ext cx="3474720" cy="868680"/>
          </a:xfrm>
          <a:prstGeom prst="roundRect">
            <a:avLst>
              <a:gd name="adj" fmla="val 9474"/>
            </a:avLst>
          </a:prstGeom>
          <a:solidFill>
            <a:srgbClr val="FDE7E6"/>
          </a:solidFill>
          <a:ln/>
        </p:spPr>
      </p:sp>
      <p:sp>
        <p:nvSpPr>
          <p:cNvPr id="14" name="Text 12"/>
          <p:cNvSpPr txBox="1"/>
          <p:nvPr/>
        </p:nvSpPr>
        <p:spPr>
          <a:xfrm>
            <a:off x="731520" y="4160520"/>
            <a:ext cx="3108960" cy="868680"/>
          </a:xfrm>
          <a:prstGeom prst="rect">
            <a:avLst/>
          </a:prstGeom>
          <a:noFill/>
          <a:ln/>
        </p:spPr>
        <p:txBody>
          <a:bodyPr wrap="square" rtlCol="0" anchor="ctr"/>
          <a:lstStyle/>
          <a:p>
            <a:pPr marL="0" indent="0">
              <a:buNone/>
            </a:pPr>
            <a:r>
              <a:rPr lang="en-US" sz="1050" i="1" dirty="0">
                <a:solidFill>
                  <a:srgbClr val="E8635C"/>
                </a:solidFill>
                <a:latin typeface="Calibri" pitchFamily="34" charset="0"/>
                <a:ea typeface="Calibri" pitchFamily="34" charset="-122"/>
                <a:cs typeface="Calibri" pitchFamily="34" charset="-120"/>
              </a:rPr>
              <a:t>No user filtering, no freshness or confidence check — old and new information treated equally.</a:t>
            </a:r>
            <a:endParaRPr lang="en-US" sz="1050" dirty="0"/>
          </a:p>
        </p:txBody>
      </p:sp>
      <p:sp>
        <p:nvSpPr>
          <p:cNvPr id="15" name="Text 13"/>
          <p:cNvSpPr txBox="1"/>
          <p:nvPr/>
        </p:nvSpPr>
        <p:spPr>
          <a:xfrm>
            <a:off x="4663440" y="1325880"/>
            <a:ext cx="3657600" cy="274320"/>
          </a:xfrm>
          <a:prstGeom prst="rect">
            <a:avLst/>
          </a:prstGeom>
          <a:noFill/>
          <a:ln/>
        </p:spPr>
        <p:txBody>
          <a:bodyPr wrap="square" rtlCol="0" anchor="ctr"/>
          <a:lstStyle/>
          <a:p>
            <a:pPr marL="0" indent="0">
              <a:buNone/>
            </a:pPr>
            <a:r>
              <a:rPr lang="en-US" sz="1150" b="1" kern="0" spc="150" dirty="0">
                <a:solidFill>
                  <a:srgbClr val="5B4FE9"/>
                </a:solidFill>
                <a:latin typeface="Calibri" pitchFamily="34" charset="0"/>
                <a:ea typeface="Calibri" pitchFamily="34" charset="-122"/>
                <a:cs typeface="Calibri" pitchFamily="34" charset="-120"/>
              </a:rPr>
              <a:t>MEMORA'S APPROACH</a:t>
            </a:r>
            <a:endParaRPr lang="en-US" sz="1150" dirty="0"/>
          </a:p>
        </p:txBody>
      </p:sp>
      <p:sp>
        <p:nvSpPr>
          <p:cNvPr id="16" name="Shape 14"/>
          <p:cNvSpPr/>
          <p:nvPr/>
        </p:nvSpPr>
        <p:spPr>
          <a:xfrm>
            <a:off x="4663440" y="1691640"/>
            <a:ext cx="6949440" cy="310896"/>
          </a:xfrm>
          <a:prstGeom prst="roundRect">
            <a:avLst>
              <a:gd name="adj" fmla="val 20588"/>
            </a:avLst>
          </a:prstGeom>
          <a:solidFill>
            <a:srgbClr val="FFFFFF"/>
          </a:solidFill>
          <a:ln w="9525">
            <a:solidFill>
              <a:srgbClr val="DCDCF0"/>
            </a:solidFill>
            <a:prstDash val="solid"/>
          </a:ln>
        </p:spPr>
      </p:sp>
      <p:sp>
        <p:nvSpPr>
          <p:cNvPr id="17" name="Text 15"/>
          <p:cNvSpPr txBox="1"/>
          <p:nvPr/>
        </p:nvSpPr>
        <p:spPr>
          <a:xfrm>
            <a:off x="4663440" y="1691640"/>
            <a:ext cx="6949440" cy="310896"/>
          </a:xfrm>
          <a:prstGeom prst="rect">
            <a:avLst/>
          </a:prstGeom>
          <a:noFill/>
          <a:ln/>
        </p:spPr>
        <p:txBody>
          <a:bodyPr wrap="square" rtlCol="0" anchor="ctr"/>
          <a:lstStyle/>
          <a:p>
            <a:pPr marL="0" indent="0" algn="ctr">
              <a:buNone/>
            </a:pPr>
            <a:r>
              <a:rPr lang="en-US" sz="1000" b="1" dirty="0">
                <a:solidFill>
                  <a:srgbClr val="14163A"/>
                </a:solidFill>
                <a:latin typeface="Calibri" pitchFamily="34" charset="0"/>
                <a:ea typeface="Calibri" pitchFamily="34" charset="-122"/>
                <a:cs typeface="Calibri" pitchFamily="34" charset="-120"/>
              </a:rPr>
              <a:t>User Query</a:t>
            </a:r>
            <a:endParaRPr lang="en-US" sz="1000" dirty="0"/>
          </a:p>
        </p:txBody>
      </p:sp>
      <p:sp>
        <p:nvSpPr>
          <p:cNvPr id="18" name="Shape 16"/>
          <p:cNvSpPr/>
          <p:nvPr/>
        </p:nvSpPr>
        <p:spPr>
          <a:xfrm>
            <a:off x="8138160" y="2002536"/>
            <a:ext cx="0" cy="59436"/>
          </a:xfrm>
          <a:prstGeom prst="line">
            <a:avLst/>
          </a:prstGeom>
          <a:noFill/>
          <a:ln w="12700">
            <a:solidFill>
              <a:srgbClr val="6B6F9E"/>
            </a:solidFill>
            <a:prstDash val="solid"/>
            <a:tailEnd type="triangle"/>
          </a:ln>
        </p:spPr>
      </p:sp>
      <p:sp>
        <p:nvSpPr>
          <p:cNvPr id="19" name="Shape 17"/>
          <p:cNvSpPr/>
          <p:nvPr/>
        </p:nvSpPr>
        <p:spPr>
          <a:xfrm>
            <a:off x="4663440" y="2061972"/>
            <a:ext cx="6949440" cy="310896"/>
          </a:xfrm>
          <a:prstGeom prst="roundRect">
            <a:avLst>
              <a:gd name="adj" fmla="val 20588"/>
            </a:avLst>
          </a:prstGeom>
          <a:solidFill>
            <a:srgbClr val="FFFFFF"/>
          </a:solidFill>
          <a:ln w="9525">
            <a:solidFill>
              <a:srgbClr val="DCDCF0"/>
            </a:solidFill>
            <a:prstDash val="solid"/>
          </a:ln>
        </p:spPr>
      </p:sp>
      <p:sp>
        <p:nvSpPr>
          <p:cNvPr id="20" name="Text 18"/>
          <p:cNvSpPr txBox="1"/>
          <p:nvPr/>
        </p:nvSpPr>
        <p:spPr>
          <a:xfrm>
            <a:off x="4663440" y="2061972"/>
            <a:ext cx="6949440" cy="310896"/>
          </a:xfrm>
          <a:prstGeom prst="rect">
            <a:avLst/>
          </a:prstGeom>
          <a:noFill/>
          <a:ln/>
        </p:spPr>
        <p:txBody>
          <a:bodyPr wrap="square" rtlCol="0" anchor="ctr"/>
          <a:lstStyle/>
          <a:p>
            <a:pPr marL="0" indent="0" algn="ctr">
              <a:buNone/>
            </a:pPr>
            <a:r>
              <a:rPr lang="en-US" sz="1000" b="1" dirty="0">
                <a:solidFill>
                  <a:srgbClr val="14163A"/>
                </a:solidFill>
                <a:latin typeface="Calibri" pitchFamily="34" charset="0"/>
                <a:ea typeface="Calibri" pitchFamily="34" charset="-122"/>
                <a:cs typeface="Calibri" pitchFamily="34" charset="-120"/>
              </a:rPr>
              <a:t>Semantic Search</a:t>
            </a:r>
            <a:endParaRPr lang="en-US" sz="1000" dirty="0"/>
          </a:p>
        </p:txBody>
      </p:sp>
      <p:sp>
        <p:nvSpPr>
          <p:cNvPr id="21" name="Shape 19"/>
          <p:cNvSpPr/>
          <p:nvPr/>
        </p:nvSpPr>
        <p:spPr>
          <a:xfrm>
            <a:off x="8138160" y="2372868"/>
            <a:ext cx="0" cy="59436"/>
          </a:xfrm>
          <a:prstGeom prst="line">
            <a:avLst/>
          </a:prstGeom>
          <a:noFill/>
          <a:ln w="12700">
            <a:solidFill>
              <a:srgbClr val="6B6F9E"/>
            </a:solidFill>
            <a:prstDash val="solid"/>
            <a:tailEnd type="triangle"/>
          </a:ln>
        </p:spPr>
      </p:sp>
      <p:sp>
        <p:nvSpPr>
          <p:cNvPr id="22" name="Shape 20"/>
          <p:cNvSpPr/>
          <p:nvPr/>
        </p:nvSpPr>
        <p:spPr>
          <a:xfrm>
            <a:off x="4663440" y="2432304"/>
            <a:ext cx="6949440" cy="310896"/>
          </a:xfrm>
          <a:prstGeom prst="roundRect">
            <a:avLst>
              <a:gd name="adj" fmla="val 20588"/>
            </a:avLst>
          </a:prstGeom>
          <a:solidFill>
            <a:srgbClr val="FFFFFF"/>
          </a:solidFill>
          <a:ln w="9525">
            <a:solidFill>
              <a:srgbClr val="DCDCF0"/>
            </a:solidFill>
            <a:prstDash val="solid"/>
          </a:ln>
        </p:spPr>
      </p:sp>
      <p:sp>
        <p:nvSpPr>
          <p:cNvPr id="23" name="Text 21"/>
          <p:cNvSpPr txBox="1"/>
          <p:nvPr/>
        </p:nvSpPr>
        <p:spPr>
          <a:xfrm>
            <a:off x="4663440" y="2432304"/>
            <a:ext cx="6949440" cy="310896"/>
          </a:xfrm>
          <a:prstGeom prst="rect">
            <a:avLst/>
          </a:prstGeom>
          <a:noFill/>
          <a:ln/>
        </p:spPr>
        <p:txBody>
          <a:bodyPr wrap="square" rtlCol="0" anchor="ctr"/>
          <a:lstStyle/>
          <a:p>
            <a:pPr marL="0" indent="0" algn="ctr">
              <a:buNone/>
            </a:pPr>
            <a:r>
              <a:rPr lang="en-US" sz="1000" b="1" dirty="0">
                <a:solidFill>
                  <a:srgbClr val="14163A"/>
                </a:solidFill>
                <a:latin typeface="Calibri" pitchFamily="34" charset="0"/>
                <a:ea typeface="Calibri" pitchFamily="34" charset="-122"/>
                <a:cs typeface="Calibri" pitchFamily="34" charset="-120"/>
              </a:rPr>
              <a:t>Candidate Memories</a:t>
            </a:r>
            <a:endParaRPr lang="en-US" sz="1000" dirty="0"/>
          </a:p>
        </p:txBody>
      </p:sp>
      <p:sp>
        <p:nvSpPr>
          <p:cNvPr id="24" name="Shape 22"/>
          <p:cNvSpPr/>
          <p:nvPr/>
        </p:nvSpPr>
        <p:spPr>
          <a:xfrm>
            <a:off x="8138160" y="2743200"/>
            <a:ext cx="0" cy="59436"/>
          </a:xfrm>
          <a:prstGeom prst="line">
            <a:avLst/>
          </a:prstGeom>
          <a:noFill/>
          <a:ln w="12700">
            <a:solidFill>
              <a:srgbClr val="6B6F9E"/>
            </a:solidFill>
            <a:prstDash val="solid"/>
            <a:tailEnd type="triangle"/>
          </a:ln>
        </p:spPr>
      </p:sp>
      <p:sp>
        <p:nvSpPr>
          <p:cNvPr id="25" name="Shape 23"/>
          <p:cNvSpPr/>
          <p:nvPr/>
        </p:nvSpPr>
        <p:spPr>
          <a:xfrm>
            <a:off x="4663440" y="2802636"/>
            <a:ext cx="6949440" cy="310896"/>
          </a:xfrm>
          <a:prstGeom prst="roundRect">
            <a:avLst>
              <a:gd name="adj" fmla="val 20588"/>
            </a:avLst>
          </a:prstGeom>
          <a:solidFill>
            <a:srgbClr val="FFFFFF"/>
          </a:solidFill>
          <a:ln w="9525">
            <a:solidFill>
              <a:srgbClr val="DCDCF0"/>
            </a:solidFill>
            <a:prstDash val="solid"/>
          </a:ln>
        </p:spPr>
      </p:sp>
      <p:sp>
        <p:nvSpPr>
          <p:cNvPr id="26" name="Text 24"/>
          <p:cNvSpPr txBox="1"/>
          <p:nvPr/>
        </p:nvSpPr>
        <p:spPr>
          <a:xfrm>
            <a:off x="4663440" y="2802636"/>
            <a:ext cx="6949440" cy="310896"/>
          </a:xfrm>
          <a:prstGeom prst="rect">
            <a:avLst/>
          </a:prstGeom>
          <a:noFill/>
          <a:ln/>
        </p:spPr>
        <p:txBody>
          <a:bodyPr wrap="square" rtlCol="0" anchor="ctr"/>
          <a:lstStyle/>
          <a:p>
            <a:pPr marL="0" indent="0" algn="ctr">
              <a:buNone/>
            </a:pPr>
            <a:r>
              <a:rPr lang="en-US" sz="1000" b="1" dirty="0">
                <a:solidFill>
                  <a:srgbClr val="14163A"/>
                </a:solidFill>
                <a:latin typeface="Calibri" pitchFamily="34" charset="0"/>
                <a:ea typeface="Calibri" pitchFamily="34" charset="-122"/>
                <a:cs typeface="Calibri" pitchFamily="34" charset="-120"/>
              </a:rPr>
              <a:t>User Filtering</a:t>
            </a:r>
            <a:endParaRPr lang="en-US" sz="1000" dirty="0"/>
          </a:p>
        </p:txBody>
      </p:sp>
      <p:sp>
        <p:nvSpPr>
          <p:cNvPr id="27" name="Shape 25"/>
          <p:cNvSpPr/>
          <p:nvPr/>
        </p:nvSpPr>
        <p:spPr>
          <a:xfrm>
            <a:off x="8138160" y="3113532"/>
            <a:ext cx="0" cy="59436"/>
          </a:xfrm>
          <a:prstGeom prst="line">
            <a:avLst/>
          </a:prstGeom>
          <a:noFill/>
          <a:ln w="12700">
            <a:solidFill>
              <a:srgbClr val="6B6F9E"/>
            </a:solidFill>
            <a:prstDash val="solid"/>
            <a:tailEnd type="triangle"/>
          </a:ln>
        </p:spPr>
      </p:sp>
      <p:sp>
        <p:nvSpPr>
          <p:cNvPr id="28" name="Shape 26"/>
          <p:cNvSpPr/>
          <p:nvPr/>
        </p:nvSpPr>
        <p:spPr>
          <a:xfrm>
            <a:off x="4663440" y="3172968"/>
            <a:ext cx="6949440" cy="310896"/>
          </a:xfrm>
          <a:prstGeom prst="roundRect">
            <a:avLst>
              <a:gd name="adj" fmla="val 20588"/>
            </a:avLst>
          </a:prstGeom>
          <a:solidFill>
            <a:srgbClr val="FFFFFF"/>
          </a:solidFill>
          <a:ln w="9525">
            <a:solidFill>
              <a:srgbClr val="DCDCF0"/>
            </a:solidFill>
            <a:prstDash val="solid"/>
          </a:ln>
        </p:spPr>
      </p:sp>
      <p:sp>
        <p:nvSpPr>
          <p:cNvPr id="29" name="Text 27"/>
          <p:cNvSpPr txBox="1"/>
          <p:nvPr/>
        </p:nvSpPr>
        <p:spPr>
          <a:xfrm>
            <a:off x="4663440" y="3172968"/>
            <a:ext cx="6949440" cy="310896"/>
          </a:xfrm>
          <a:prstGeom prst="rect">
            <a:avLst/>
          </a:prstGeom>
          <a:noFill/>
          <a:ln/>
        </p:spPr>
        <p:txBody>
          <a:bodyPr wrap="square" rtlCol="0" anchor="ctr"/>
          <a:lstStyle/>
          <a:p>
            <a:pPr marL="0" indent="0" algn="ctr">
              <a:buNone/>
            </a:pPr>
            <a:r>
              <a:rPr lang="en-US" sz="1000" b="1" dirty="0">
                <a:solidFill>
                  <a:srgbClr val="14163A"/>
                </a:solidFill>
                <a:latin typeface="Calibri" pitchFamily="34" charset="0"/>
                <a:ea typeface="Calibri" pitchFamily="34" charset="-122"/>
                <a:cs typeface="Calibri" pitchFamily="34" charset="-120"/>
              </a:rPr>
              <a:t>Status Filtering</a:t>
            </a:r>
            <a:endParaRPr lang="en-US" sz="1000" dirty="0"/>
          </a:p>
        </p:txBody>
      </p:sp>
      <p:sp>
        <p:nvSpPr>
          <p:cNvPr id="30" name="Shape 28"/>
          <p:cNvSpPr/>
          <p:nvPr/>
        </p:nvSpPr>
        <p:spPr>
          <a:xfrm>
            <a:off x="8138160" y="3483864"/>
            <a:ext cx="0" cy="59436"/>
          </a:xfrm>
          <a:prstGeom prst="line">
            <a:avLst/>
          </a:prstGeom>
          <a:noFill/>
          <a:ln w="12700">
            <a:solidFill>
              <a:srgbClr val="6B6F9E"/>
            </a:solidFill>
            <a:prstDash val="solid"/>
            <a:tailEnd type="triangle"/>
          </a:ln>
        </p:spPr>
      </p:sp>
      <p:sp>
        <p:nvSpPr>
          <p:cNvPr id="31" name="Shape 29"/>
          <p:cNvSpPr/>
          <p:nvPr/>
        </p:nvSpPr>
        <p:spPr>
          <a:xfrm>
            <a:off x="4663440" y="3543300"/>
            <a:ext cx="6949440" cy="310896"/>
          </a:xfrm>
          <a:prstGeom prst="roundRect">
            <a:avLst>
              <a:gd name="adj" fmla="val 20588"/>
            </a:avLst>
          </a:prstGeom>
          <a:solidFill>
            <a:srgbClr val="FFFFFF"/>
          </a:solidFill>
          <a:ln w="9525">
            <a:solidFill>
              <a:srgbClr val="DCDCF0"/>
            </a:solidFill>
            <a:prstDash val="solid"/>
          </a:ln>
        </p:spPr>
      </p:sp>
      <p:sp>
        <p:nvSpPr>
          <p:cNvPr id="32" name="Text 30"/>
          <p:cNvSpPr txBox="1"/>
          <p:nvPr/>
        </p:nvSpPr>
        <p:spPr>
          <a:xfrm>
            <a:off x="4663440" y="3543300"/>
            <a:ext cx="6949440" cy="310896"/>
          </a:xfrm>
          <a:prstGeom prst="rect">
            <a:avLst/>
          </a:prstGeom>
          <a:noFill/>
          <a:ln/>
        </p:spPr>
        <p:txBody>
          <a:bodyPr wrap="square" rtlCol="0" anchor="ctr"/>
          <a:lstStyle/>
          <a:p>
            <a:pPr marL="0" indent="0" algn="ctr">
              <a:buNone/>
            </a:pPr>
            <a:r>
              <a:rPr lang="en-US" sz="1000" b="1" dirty="0">
                <a:solidFill>
                  <a:srgbClr val="14163A"/>
                </a:solidFill>
                <a:latin typeface="Calibri" pitchFamily="34" charset="0"/>
                <a:ea typeface="Calibri" pitchFamily="34" charset="-122"/>
                <a:cs typeface="Calibri" pitchFamily="34" charset="-120"/>
              </a:rPr>
              <a:t>Confidence Check</a:t>
            </a:r>
            <a:endParaRPr lang="en-US" sz="1000" dirty="0"/>
          </a:p>
        </p:txBody>
      </p:sp>
      <p:sp>
        <p:nvSpPr>
          <p:cNvPr id="33" name="Shape 31"/>
          <p:cNvSpPr/>
          <p:nvPr/>
        </p:nvSpPr>
        <p:spPr>
          <a:xfrm>
            <a:off x="8138160" y="3854196"/>
            <a:ext cx="0" cy="59436"/>
          </a:xfrm>
          <a:prstGeom prst="line">
            <a:avLst/>
          </a:prstGeom>
          <a:noFill/>
          <a:ln w="12700">
            <a:solidFill>
              <a:srgbClr val="6B6F9E"/>
            </a:solidFill>
            <a:prstDash val="solid"/>
            <a:tailEnd type="triangle"/>
          </a:ln>
        </p:spPr>
      </p:sp>
      <p:sp>
        <p:nvSpPr>
          <p:cNvPr id="34" name="Shape 32"/>
          <p:cNvSpPr/>
          <p:nvPr/>
        </p:nvSpPr>
        <p:spPr>
          <a:xfrm>
            <a:off x="4663440" y="3913632"/>
            <a:ext cx="6949440" cy="310896"/>
          </a:xfrm>
          <a:prstGeom prst="roundRect">
            <a:avLst>
              <a:gd name="adj" fmla="val 20588"/>
            </a:avLst>
          </a:prstGeom>
          <a:solidFill>
            <a:srgbClr val="FFFFFF"/>
          </a:solidFill>
          <a:ln w="9525">
            <a:solidFill>
              <a:srgbClr val="DCDCF0"/>
            </a:solidFill>
            <a:prstDash val="solid"/>
          </a:ln>
        </p:spPr>
      </p:sp>
      <p:sp>
        <p:nvSpPr>
          <p:cNvPr id="35" name="Text 33"/>
          <p:cNvSpPr txBox="1"/>
          <p:nvPr/>
        </p:nvSpPr>
        <p:spPr>
          <a:xfrm>
            <a:off x="4663440" y="3913632"/>
            <a:ext cx="6949440" cy="310896"/>
          </a:xfrm>
          <a:prstGeom prst="rect">
            <a:avLst/>
          </a:prstGeom>
          <a:noFill/>
          <a:ln/>
        </p:spPr>
        <p:txBody>
          <a:bodyPr wrap="square" rtlCol="0" anchor="ctr"/>
          <a:lstStyle/>
          <a:p>
            <a:pPr marL="0" indent="0" algn="ctr">
              <a:buNone/>
            </a:pPr>
            <a:r>
              <a:rPr lang="en-US" sz="1000" b="1" dirty="0">
                <a:solidFill>
                  <a:srgbClr val="14163A"/>
                </a:solidFill>
                <a:latin typeface="Calibri" pitchFamily="34" charset="0"/>
                <a:ea typeface="Calibri" pitchFamily="34" charset="-122"/>
                <a:cs typeface="Calibri" pitchFamily="34" charset="-120"/>
              </a:rPr>
              <a:t>Freshness / Decay</a:t>
            </a:r>
            <a:endParaRPr lang="en-US" sz="1000" dirty="0"/>
          </a:p>
        </p:txBody>
      </p:sp>
      <p:sp>
        <p:nvSpPr>
          <p:cNvPr id="36" name="Shape 34"/>
          <p:cNvSpPr/>
          <p:nvPr/>
        </p:nvSpPr>
        <p:spPr>
          <a:xfrm>
            <a:off x="8138160" y="4224528"/>
            <a:ext cx="0" cy="59436"/>
          </a:xfrm>
          <a:prstGeom prst="line">
            <a:avLst/>
          </a:prstGeom>
          <a:noFill/>
          <a:ln w="12700">
            <a:solidFill>
              <a:srgbClr val="6B6F9E"/>
            </a:solidFill>
            <a:prstDash val="solid"/>
            <a:tailEnd type="triangle"/>
          </a:ln>
        </p:spPr>
      </p:sp>
      <p:sp>
        <p:nvSpPr>
          <p:cNvPr id="37" name="Shape 35"/>
          <p:cNvSpPr/>
          <p:nvPr/>
        </p:nvSpPr>
        <p:spPr>
          <a:xfrm>
            <a:off x="4663440" y="4283964"/>
            <a:ext cx="6949440" cy="310896"/>
          </a:xfrm>
          <a:prstGeom prst="roundRect">
            <a:avLst>
              <a:gd name="adj" fmla="val 20588"/>
            </a:avLst>
          </a:prstGeom>
          <a:solidFill>
            <a:srgbClr val="FFFFFF"/>
          </a:solidFill>
          <a:ln w="9525">
            <a:solidFill>
              <a:srgbClr val="DCDCF0"/>
            </a:solidFill>
            <a:prstDash val="solid"/>
          </a:ln>
        </p:spPr>
      </p:sp>
      <p:sp>
        <p:nvSpPr>
          <p:cNvPr id="38" name="Text 36"/>
          <p:cNvSpPr txBox="1"/>
          <p:nvPr/>
        </p:nvSpPr>
        <p:spPr>
          <a:xfrm>
            <a:off x="4663440" y="4283964"/>
            <a:ext cx="6949440" cy="310896"/>
          </a:xfrm>
          <a:prstGeom prst="rect">
            <a:avLst/>
          </a:prstGeom>
          <a:noFill/>
          <a:ln/>
        </p:spPr>
        <p:txBody>
          <a:bodyPr wrap="square" rtlCol="0" anchor="ctr"/>
          <a:lstStyle/>
          <a:p>
            <a:pPr marL="0" indent="0" algn="ctr">
              <a:buNone/>
            </a:pPr>
            <a:r>
              <a:rPr lang="en-US" sz="1000" b="1" dirty="0">
                <a:solidFill>
                  <a:srgbClr val="14163A"/>
                </a:solidFill>
                <a:latin typeface="Calibri" pitchFamily="34" charset="0"/>
                <a:ea typeface="Calibri" pitchFamily="34" charset="-122"/>
                <a:cs typeface="Calibri" pitchFamily="34" charset="-120"/>
              </a:rPr>
              <a:t>Conflict Resolution</a:t>
            </a:r>
            <a:endParaRPr lang="en-US" sz="1000" dirty="0"/>
          </a:p>
        </p:txBody>
      </p:sp>
      <p:sp>
        <p:nvSpPr>
          <p:cNvPr id="39" name="Shape 37"/>
          <p:cNvSpPr/>
          <p:nvPr/>
        </p:nvSpPr>
        <p:spPr>
          <a:xfrm>
            <a:off x="8138160" y="4594860"/>
            <a:ext cx="0" cy="59436"/>
          </a:xfrm>
          <a:prstGeom prst="line">
            <a:avLst/>
          </a:prstGeom>
          <a:noFill/>
          <a:ln w="12700">
            <a:solidFill>
              <a:srgbClr val="6B6F9E"/>
            </a:solidFill>
            <a:prstDash val="solid"/>
            <a:tailEnd type="triangle"/>
          </a:ln>
        </p:spPr>
      </p:sp>
      <p:sp>
        <p:nvSpPr>
          <p:cNvPr id="40" name="Shape 38"/>
          <p:cNvSpPr/>
          <p:nvPr/>
        </p:nvSpPr>
        <p:spPr>
          <a:xfrm>
            <a:off x="4663440" y="4654296"/>
            <a:ext cx="6949440" cy="310896"/>
          </a:xfrm>
          <a:prstGeom prst="roundRect">
            <a:avLst>
              <a:gd name="adj" fmla="val 20588"/>
            </a:avLst>
          </a:prstGeom>
          <a:solidFill>
            <a:srgbClr val="5B4FE9"/>
          </a:solidFill>
          <a:ln/>
        </p:spPr>
      </p:sp>
      <p:sp>
        <p:nvSpPr>
          <p:cNvPr id="41" name="Text 39"/>
          <p:cNvSpPr txBox="1"/>
          <p:nvPr/>
        </p:nvSpPr>
        <p:spPr>
          <a:xfrm>
            <a:off x="4663440" y="4654296"/>
            <a:ext cx="6949440"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Relevant Active Memories → LLM</a:t>
            </a:r>
            <a:endParaRPr lang="en-US" sz="1100" dirty="0"/>
          </a:p>
        </p:txBody>
      </p:sp>
      <p:sp>
        <p:nvSpPr>
          <p:cNvPr id="42" name="Shape 40"/>
          <p:cNvSpPr/>
          <p:nvPr/>
        </p:nvSpPr>
        <p:spPr>
          <a:xfrm>
            <a:off x="548640" y="5257800"/>
            <a:ext cx="11064240" cy="868680"/>
          </a:xfrm>
          <a:prstGeom prst="roundRect">
            <a:avLst>
              <a:gd name="adj" fmla="val 10526"/>
            </a:avLst>
          </a:prstGeom>
          <a:solidFill>
            <a:srgbClr val="14163A"/>
          </a:solidFill>
          <a:ln/>
        </p:spPr>
      </p:sp>
      <p:sp>
        <p:nvSpPr>
          <p:cNvPr id="43" name="Text 41"/>
          <p:cNvSpPr txBox="1"/>
          <p:nvPr/>
        </p:nvSpPr>
        <p:spPr>
          <a:xfrm>
            <a:off x="868680" y="5394960"/>
            <a:ext cx="2286000" cy="274320"/>
          </a:xfrm>
          <a:prstGeom prst="rect">
            <a:avLst/>
          </a:prstGeom>
          <a:noFill/>
          <a:ln/>
        </p:spPr>
        <p:txBody>
          <a:bodyPr wrap="square" rtlCol="0" anchor="ctr"/>
          <a:lstStyle/>
          <a:p>
            <a:pPr marL="0" indent="0">
              <a:buNone/>
            </a:pPr>
            <a:r>
              <a:rPr lang="en-US" sz="1050" b="1" kern="0" spc="200" dirty="0">
                <a:solidFill>
                  <a:srgbClr val="00D9C0"/>
                </a:solidFill>
                <a:latin typeface="Calibri" pitchFamily="34" charset="0"/>
                <a:ea typeface="Calibri" pitchFamily="34" charset="-122"/>
                <a:cs typeface="Calibri" pitchFamily="34" charset="-120"/>
              </a:rPr>
              <a:t>MEMORY SCORE</a:t>
            </a:r>
            <a:endParaRPr lang="en-US" sz="1050" dirty="0"/>
          </a:p>
        </p:txBody>
      </p:sp>
      <p:sp>
        <p:nvSpPr>
          <p:cNvPr id="44" name="Text 42"/>
          <p:cNvSpPr txBox="1"/>
          <p:nvPr/>
        </p:nvSpPr>
        <p:spPr>
          <a:xfrm>
            <a:off x="868680" y="5650992"/>
            <a:ext cx="9601200" cy="411480"/>
          </a:xfrm>
          <a:prstGeom prst="rect">
            <a:avLst/>
          </a:prstGeom>
          <a:noFill/>
          <a:ln/>
        </p:spPr>
        <p:txBody>
          <a:bodyPr wrap="square" rtlCol="0" anchor="ctr"/>
          <a:lstStyle/>
          <a:p>
            <a:pPr marL="0" indent="0">
              <a:buNone/>
            </a:pPr>
            <a:r>
              <a:rPr lang="en-US" sz="1600" b="1" dirty="0">
                <a:solidFill>
                  <a:srgbClr val="FFFFFF"/>
                </a:solidFill>
                <a:latin typeface="Courier New" pitchFamily="34" charset="0"/>
                <a:ea typeface="Courier New" pitchFamily="34" charset="-122"/>
                <a:cs typeface="Courier New" pitchFamily="34" charset="-120"/>
              </a:rPr>
              <a:t>Relevance  ×  Confidence  ×  Freshness  ×  Importance</a:t>
            </a:r>
            <a:endParaRPr lang="en-US" sz="1600" dirty="0"/>
          </a:p>
        </p:txBody>
      </p:sp>
      <p:sp>
        <p:nvSpPr>
          <p:cNvPr id="45" name="Text 43"/>
          <p:cNvSpPr txBox="1"/>
          <p:nvPr/>
        </p:nvSpPr>
        <p:spPr>
          <a:xfrm>
            <a:off x="11475720" y="6473952"/>
            <a:ext cx="548640" cy="274320"/>
          </a:xfrm>
          <a:prstGeom prst="rect">
            <a:avLst/>
          </a:prstGeom>
          <a:noFill/>
          <a:ln/>
        </p:spPr>
        <p:txBody>
          <a:bodyPr wrap="square" rtlCol="0" anchor="ctr"/>
          <a:lstStyle/>
          <a:p>
            <a:pPr marL="0" indent="0" algn="r">
              <a:buNone/>
            </a:pPr>
            <a:r>
              <a:rPr lang="en-US" sz="900" dirty="0">
                <a:solidFill>
                  <a:srgbClr val="6B6F9E"/>
                </a:solidFill>
                <a:latin typeface="Calibri" pitchFamily="34" charset="0"/>
                <a:ea typeface="Calibri" pitchFamily="34" charset="-122"/>
                <a:cs typeface="Calibri" pitchFamily="34" charset="-120"/>
              </a:rPr>
              <a:t>10</a:t>
            </a:r>
            <a:endParaRPr lang="en-US" sz="900" dirty="0"/>
          </a:p>
        </p:txBody>
      </p:sp>
      <p:sp>
        <p:nvSpPr>
          <p:cNvPr id="46" name="Text 44"/>
          <p:cNvSpPr txBox="1"/>
          <p:nvPr/>
        </p:nvSpPr>
        <p:spPr>
          <a:xfrm>
            <a:off x="548640" y="6473952"/>
            <a:ext cx="2743200" cy="274320"/>
          </a:xfrm>
          <a:prstGeom prst="rect">
            <a:avLst/>
          </a:prstGeom>
          <a:noFill/>
          <a:ln/>
        </p:spPr>
        <p:txBody>
          <a:bodyPr wrap="square" rtlCol="0" anchor="ctr"/>
          <a:lstStyle/>
          <a:p>
            <a:pPr marL="0" indent="0">
              <a:buNone/>
            </a:pPr>
            <a:r>
              <a:rPr lang="en-US" sz="900" kern="0" spc="100" dirty="0">
                <a:solidFill>
                  <a:srgbClr val="6B6F9E"/>
                </a:solidFill>
                <a:latin typeface="Calibri" pitchFamily="34" charset="0"/>
                <a:ea typeface="Calibri" pitchFamily="34" charset="-122"/>
                <a:cs typeface="Calibri" pitchFamily="34" charset="-120"/>
              </a:rPr>
              <a:t>MEMORA</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6FC"/>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rtlCol="0" anchor="ctr"/>
          <a:lstStyle/>
          <a:p>
            <a:pPr marL="0" indent="0">
              <a:buNone/>
            </a:pPr>
            <a:r>
              <a:rPr lang="en-US" sz="1250" b="1" kern="0" spc="200" dirty="0">
                <a:solidFill>
                  <a:srgbClr val="5B4FE9"/>
                </a:solidFill>
                <a:latin typeface="Calibri" pitchFamily="34" charset="0"/>
                <a:ea typeface="Calibri" pitchFamily="34" charset="-122"/>
                <a:cs typeface="Calibri" pitchFamily="34" charset="-120"/>
              </a:rPr>
              <a:t>MEMORY DECAY</a:t>
            </a:r>
            <a:endParaRPr lang="en-US" sz="1250" dirty="0"/>
          </a:p>
        </p:txBody>
      </p:sp>
      <p:sp>
        <p:nvSpPr>
          <p:cNvPr id="3" name="Text 1"/>
          <p:cNvSpPr txBox="1"/>
          <p:nvPr/>
        </p:nvSpPr>
        <p:spPr>
          <a:xfrm>
            <a:off x="548640" y="566928"/>
            <a:ext cx="10515600" cy="640080"/>
          </a:xfrm>
          <a:prstGeom prst="rect">
            <a:avLst/>
          </a:prstGeom>
          <a:noFill/>
          <a:ln/>
        </p:spPr>
        <p:txBody>
          <a:bodyPr wrap="square" rtlCol="0" anchor="ctr"/>
          <a:lstStyle/>
          <a:p>
            <a:pPr marL="0" indent="0">
              <a:buNone/>
            </a:pPr>
            <a:r>
              <a:rPr lang="en-US" sz="3000" b="1" dirty="0">
                <a:solidFill>
                  <a:srgbClr val="14163A"/>
                </a:solidFill>
                <a:latin typeface="Cambria" pitchFamily="34" charset="0"/>
                <a:ea typeface="Cambria" pitchFamily="34" charset="-122"/>
                <a:cs typeface="Cambria" pitchFamily="34" charset="-120"/>
              </a:rPr>
              <a:t>Not All Memories Age the Same</a:t>
            </a:r>
            <a:endParaRPr lang="en-US" sz="3000" dirty="0"/>
          </a:p>
        </p:txBody>
      </p:sp>
      <p:sp>
        <p:nvSpPr>
          <p:cNvPr id="4" name="Text 2"/>
          <p:cNvSpPr txBox="1"/>
          <p:nvPr/>
        </p:nvSpPr>
        <p:spPr>
          <a:xfrm>
            <a:off x="548640" y="1298448"/>
            <a:ext cx="7772400" cy="365760"/>
          </a:xfrm>
          <a:prstGeom prst="rect">
            <a:avLst/>
          </a:prstGeom>
          <a:noFill/>
          <a:ln/>
        </p:spPr>
        <p:txBody>
          <a:bodyPr wrap="square" rtlCol="0" anchor="ctr"/>
          <a:lstStyle/>
          <a:p>
            <a:pPr marL="0" indent="0">
              <a:buNone/>
            </a:pPr>
            <a:r>
              <a:rPr lang="en-US" sz="1300" dirty="0">
                <a:solidFill>
                  <a:srgbClr val="6B6F9E"/>
                </a:solidFill>
                <a:latin typeface="Calibri" pitchFamily="34" charset="0"/>
                <a:ea typeface="Calibri" pitchFamily="34" charset="-122"/>
                <a:cs typeface="Calibri" pitchFamily="34" charset="-120"/>
              </a:rPr>
              <a:t>Some information stays useful for years. Other information becomes irrelevant within hours.</a:t>
            </a:r>
            <a:endParaRPr lang="en-US" sz="1300" dirty="0"/>
          </a:p>
        </p:txBody>
      </p:sp>
      <p:sp>
        <p:nvSpPr>
          <p:cNvPr id="5" name="Text 3"/>
          <p:cNvSpPr txBox="1"/>
          <p:nvPr/>
        </p:nvSpPr>
        <p:spPr>
          <a:xfrm>
            <a:off x="548640" y="1965960"/>
            <a:ext cx="3840480" cy="292608"/>
          </a:xfrm>
          <a:prstGeom prst="rect">
            <a:avLst/>
          </a:prstGeom>
          <a:noFill/>
          <a:ln/>
        </p:spPr>
        <p:txBody>
          <a:bodyPr wrap="square" rtlCol="0" anchor="ctr"/>
          <a:lstStyle/>
          <a:p>
            <a:pPr marL="0" indent="0">
              <a:buNone/>
            </a:pPr>
            <a:r>
              <a:rPr lang="en-US" sz="1250" b="1" dirty="0">
                <a:solidFill>
                  <a:srgbClr val="14163A"/>
                </a:solidFill>
                <a:latin typeface="Calibri" pitchFamily="34" charset="0"/>
                <a:ea typeface="Calibri" pitchFamily="34" charset="-122"/>
                <a:cs typeface="Calibri" pitchFamily="34" charset="-120"/>
              </a:rPr>
              <a:t>Name</a:t>
            </a:r>
            <a:endParaRPr lang="en-US" sz="1250" dirty="0"/>
          </a:p>
        </p:txBody>
      </p:sp>
      <p:sp>
        <p:nvSpPr>
          <p:cNvPr id="6" name="Text 4"/>
          <p:cNvSpPr txBox="1"/>
          <p:nvPr/>
        </p:nvSpPr>
        <p:spPr>
          <a:xfrm>
            <a:off x="6263640" y="1965960"/>
            <a:ext cx="1828800" cy="292608"/>
          </a:xfrm>
          <a:prstGeom prst="rect">
            <a:avLst/>
          </a:prstGeom>
          <a:noFill/>
          <a:ln/>
        </p:spPr>
        <p:txBody>
          <a:bodyPr wrap="square" rtlCol="0" anchor="ctr"/>
          <a:lstStyle/>
          <a:p>
            <a:pPr marL="0" indent="0">
              <a:buNone/>
            </a:pPr>
            <a:r>
              <a:rPr lang="en-US" sz="1050" i="1" dirty="0">
                <a:solidFill>
                  <a:srgbClr val="6B6F9E"/>
                </a:solidFill>
                <a:latin typeface="Calibri" pitchFamily="34" charset="0"/>
                <a:ea typeface="Calibri" pitchFamily="34" charset="-122"/>
                <a:cs typeface="Calibri" pitchFamily="34" charset="-120"/>
              </a:rPr>
              <a:t>Long-term memory</a:t>
            </a:r>
            <a:endParaRPr lang="en-US" sz="1050" dirty="0"/>
          </a:p>
        </p:txBody>
      </p:sp>
      <p:sp>
        <p:nvSpPr>
          <p:cNvPr id="7" name="Shape 5"/>
          <p:cNvSpPr/>
          <p:nvPr/>
        </p:nvSpPr>
        <p:spPr>
          <a:xfrm>
            <a:off x="548640" y="2295144"/>
            <a:ext cx="6035040" cy="256032"/>
          </a:xfrm>
          <a:prstGeom prst="roundRect">
            <a:avLst>
              <a:gd name="adj" fmla="val 50000"/>
            </a:avLst>
          </a:prstGeom>
          <a:solidFill>
            <a:srgbClr val="E4E4F4"/>
          </a:solidFill>
          <a:ln/>
        </p:spPr>
      </p:sp>
      <p:sp>
        <p:nvSpPr>
          <p:cNvPr id="8" name="Shape 6"/>
          <p:cNvSpPr/>
          <p:nvPr/>
        </p:nvSpPr>
        <p:spPr>
          <a:xfrm>
            <a:off x="548640" y="2295144"/>
            <a:ext cx="5552237" cy="256032"/>
          </a:xfrm>
          <a:prstGeom prst="roundRect">
            <a:avLst>
              <a:gd name="adj" fmla="val 50000"/>
            </a:avLst>
          </a:prstGeom>
          <a:solidFill>
            <a:srgbClr val="2ECC87"/>
          </a:solidFill>
          <a:ln/>
        </p:spPr>
      </p:sp>
      <p:sp>
        <p:nvSpPr>
          <p:cNvPr id="9" name="Text 7"/>
          <p:cNvSpPr txBox="1"/>
          <p:nvPr/>
        </p:nvSpPr>
        <p:spPr>
          <a:xfrm>
            <a:off x="548640" y="2834640"/>
            <a:ext cx="3840480" cy="292608"/>
          </a:xfrm>
          <a:prstGeom prst="rect">
            <a:avLst/>
          </a:prstGeom>
          <a:noFill/>
          <a:ln/>
        </p:spPr>
        <p:txBody>
          <a:bodyPr wrap="square" rtlCol="0" anchor="ctr"/>
          <a:lstStyle/>
          <a:p>
            <a:pPr marL="0" indent="0">
              <a:buNone/>
            </a:pPr>
            <a:r>
              <a:rPr lang="en-US" sz="1250" b="1" dirty="0">
                <a:solidFill>
                  <a:srgbClr val="14163A"/>
                </a:solidFill>
                <a:latin typeface="Calibri" pitchFamily="34" charset="0"/>
                <a:ea typeface="Calibri" pitchFamily="34" charset="-122"/>
                <a:cs typeface="Calibri" pitchFamily="34" charset="-120"/>
              </a:rPr>
              <a:t>Favorite programming language</a:t>
            </a:r>
            <a:endParaRPr lang="en-US" sz="1250" dirty="0"/>
          </a:p>
        </p:txBody>
      </p:sp>
      <p:sp>
        <p:nvSpPr>
          <p:cNvPr id="10" name="Text 8"/>
          <p:cNvSpPr txBox="1"/>
          <p:nvPr/>
        </p:nvSpPr>
        <p:spPr>
          <a:xfrm>
            <a:off x="6263640" y="2834640"/>
            <a:ext cx="1828800" cy="292608"/>
          </a:xfrm>
          <a:prstGeom prst="rect">
            <a:avLst/>
          </a:prstGeom>
          <a:noFill/>
          <a:ln/>
        </p:spPr>
        <p:txBody>
          <a:bodyPr wrap="square" rtlCol="0" anchor="ctr"/>
          <a:lstStyle/>
          <a:p>
            <a:pPr marL="0" indent="0">
              <a:buNone/>
            </a:pPr>
            <a:r>
              <a:rPr lang="en-US" sz="1050" i="1" dirty="0">
                <a:solidFill>
                  <a:srgbClr val="6B6F9E"/>
                </a:solidFill>
                <a:latin typeface="Calibri" pitchFamily="34" charset="0"/>
                <a:ea typeface="Calibri" pitchFamily="34" charset="-122"/>
                <a:cs typeface="Calibri" pitchFamily="34" charset="-120"/>
              </a:rPr>
              <a:t>Slow decay</a:t>
            </a:r>
            <a:endParaRPr lang="en-US" sz="1050" dirty="0"/>
          </a:p>
        </p:txBody>
      </p:sp>
      <p:sp>
        <p:nvSpPr>
          <p:cNvPr id="11" name="Shape 9"/>
          <p:cNvSpPr/>
          <p:nvPr/>
        </p:nvSpPr>
        <p:spPr>
          <a:xfrm>
            <a:off x="548640" y="3163824"/>
            <a:ext cx="6035040" cy="256032"/>
          </a:xfrm>
          <a:prstGeom prst="roundRect">
            <a:avLst>
              <a:gd name="adj" fmla="val 50000"/>
            </a:avLst>
          </a:prstGeom>
          <a:solidFill>
            <a:srgbClr val="E4E4F4"/>
          </a:solidFill>
          <a:ln/>
        </p:spPr>
      </p:sp>
      <p:sp>
        <p:nvSpPr>
          <p:cNvPr id="12" name="Shape 10"/>
          <p:cNvSpPr/>
          <p:nvPr/>
        </p:nvSpPr>
        <p:spPr>
          <a:xfrm>
            <a:off x="548640" y="3163824"/>
            <a:ext cx="4345229" cy="256032"/>
          </a:xfrm>
          <a:prstGeom prst="roundRect">
            <a:avLst>
              <a:gd name="adj" fmla="val 50000"/>
            </a:avLst>
          </a:prstGeom>
          <a:solidFill>
            <a:srgbClr val="00D9C0"/>
          </a:solidFill>
          <a:ln/>
        </p:spPr>
      </p:sp>
      <p:sp>
        <p:nvSpPr>
          <p:cNvPr id="13" name="Text 11"/>
          <p:cNvSpPr txBox="1"/>
          <p:nvPr/>
        </p:nvSpPr>
        <p:spPr>
          <a:xfrm>
            <a:off x="548640" y="3703320"/>
            <a:ext cx="3840480" cy="292608"/>
          </a:xfrm>
          <a:prstGeom prst="rect">
            <a:avLst/>
          </a:prstGeom>
          <a:noFill/>
          <a:ln/>
        </p:spPr>
        <p:txBody>
          <a:bodyPr wrap="square" rtlCol="0" anchor="ctr"/>
          <a:lstStyle/>
          <a:p>
            <a:pPr marL="0" indent="0">
              <a:buNone/>
            </a:pPr>
            <a:r>
              <a:rPr lang="en-US" sz="1250" b="1" dirty="0">
                <a:solidFill>
                  <a:srgbClr val="14163A"/>
                </a:solidFill>
                <a:latin typeface="Calibri" pitchFamily="34" charset="0"/>
                <a:ea typeface="Calibri" pitchFamily="34" charset="-122"/>
                <a:cs typeface="Calibri" pitchFamily="34" charset="-120"/>
              </a:rPr>
              <a:t>Current project</a:t>
            </a:r>
            <a:endParaRPr lang="en-US" sz="1250" dirty="0"/>
          </a:p>
        </p:txBody>
      </p:sp>
      <p:sp>
        <p:nvSpPr>
          <p:cNvPr id="14" name="Text 12"/>
          <p:cNvSpPr txBox="1"/>
          <p:nvPr/>
        </p:nvSpPr>
        <p:spPr>
          <a:xfrm>
            <a:off x="6263640" y="3703320"/>
            <a:ext cx="1828800" cy="292608"/>
          </a:xfrm>
          <a:prstGeom prst="rect">
            <a:avLst/>
          </a:prstGeom>
          <a:noFill/>
          <a:ln/>
        </p:spPr>
        <p:txBody>
          <a:bodyPr wrap="square" rtlCol="0" anchor="ctr"/>
          <a:lstStyle/>
          <a:p>
            <a:pPr marL="0" indent="0">
              <a:buNone/>
            </a:pPr>
            <a:r>
              <a:rPr lang="en-US" sz="1050" i="1" dirty="0">
                <a:solidFill>
                  <a:srgbClr val="6B6F9E"/>
                </a:solidFill>
                <a:latin typeface="Calibri" pitchFamily="34" charset="0"/>
                <a:ea typeface="Calibri" pitchFamily="34" charset="-122"/>
                <a:cs typeface="Calibri" pitchFamily="34" charset="-120"/>
              </a:rPr>
              <a:t>Moderate decay</a:t>
            </a:r>
            <a:endParaRPr lang="en-US" sz="1050" dirty="0"/>
          </a:p>
        </p:txBody>
      </p:sp>
      <p:sp>
        <p:nvSpPr>
          <p:cNvPr id="15" name="Shape 13"/>
          <p:cNvSpPr/>
          <p:nvPr/>
        </p:nvSpPr>
        <p:spPr>
          <a:xfrm>
            <a:off x="548640" y="4032504"/>
            <a:ext cx="6035040" cy="256032"/>
          </a:xfrm>
          <a:prstGeom prst="roundRect">
            <a:avLst>
              <a:gd name="adj" fmla="val 50000"/>
            </a:avLst>
          </a:prstGeom>
          <a:solidFill>
            <a:srgbClr val="E4E4F4"/>
          </a:solidFill>
          <a:ln/>
        </p:spPr>
      </p:sp>
      <p:sp>
        <p:nvSpPr>
          <p:cNvPr id="16" name="Shape 14"/>
          <p:cNvSpPr/>
          <p:nvPr/>
        </p:nvSpPr>
        <p:spPr>
          <a:xfrm>
            <a:off x="548640" y="4032504"/>
            <a:ext cx="3017520" cy="256032"/>
          </a:xfrm>
          <a:prstGeom prst="roundRect">
            <a:avLst>
              <a:gd name="adj" fmla="val 50000"/>
            </a:avLst>
          </a:prstGeom>
          <a:solidFill>
            <a:srgbClr val="F5A623"/>
          </a:solidFill>
          <a:ln/>
        </p:spPr>
      </p:sp>
      <p:sp>
        <p:nvSpPr>
          <p:cNvPr id="17" name="Text 15"/>
          <p:cNvSpPr txBox="1"/>
          <p:nvPr/>
        </p:nvSpPr>
        <p:spPr>
          <a:xfrm>
            <a:off x="548640" y="4572000"/>
            <a:ext cx="3840480" cy="292608"/>
          </a:xfrm>
          <a:prstGeom prst="rect">
            <a:avLst/>
          </a:prstGeom>
          <a:noFill/>
          <a:ln/>
        </p:spPr>
        <p:txBody>
          <a:bodyPr wrap="square" rtlCol="0" anchor="ctr"/>
          <a:lstStyle/>
          <a:p>
            <a:pPr marL="0" indent="0">
              <a:buNone/>
            </a:pPr>
            <a:r>
              <a:rPr lang="en-US" sz="1250" b="1" dirty="0">
                <a:solidFill>
                  <a:srgbClr val="14163A"/>
                </a:solidFill>
                <a:latin typeface="Calibri" pitchFamily="34" charset="0"/>
                <a:ea typeface="Calibri" pitchFamily="34" charset="-122"/>
                <a:cs typeface="Calibri" pitchFamily="34" charset="-120"/>
              </a:rPr>
              <a:t>Exam tomorrow</a:t>
            </a:r>
            <a:endParaRPr lang="en-US" sz="1250" dirty="0"/>
          </a:p>
        </p:txBody>
      </p:sp>
      <p:sp>
        <p:nvSpPr>
          <p:cNvPr id="18" name="Text 16"/>
          <p:cNvSpPr txBox="1"/>
          <p:nvPr/>
        </p:nvSpPr>
        <p:spPr>
          <a:xfrm>
            <a:off x="6263640" y="4572000"/>
            <a:ext cx="1828800" cy="292608"/>
          </a:xfrm>
          <a:prstGeom prst="rect">
            <a:avLst/>
          </a:prstGeom>
          <a:noFill/>
          <a:ln/>
        </p:spPr>
        <p:txBody>
          <a:bodyPr wrap="square" rtlCol="0" anchor="ctr"/>
          <a:lstStyle/>
          <a:p>
            <a:pPr marL="0" indent="0">
              <a:buNone/>
            </a:pPr>
            <a:r>
              <a:rPr lang="en-US" sz="1050" i="1" dirty="0">
                <a:solidFill>
                  <a:srgbClr val="6B6F9E"/>
                </a:solidFill>
                <a:latin typeface="Calibri" pitchFamily="34" charset="0"/>
                <a:ea typeface="Calibri" pitchFamily="34" charset="-122"/>
                <a:cs typeface="Calibri" pitchFamily="34" charset="-120"/>
              </a:rPr>
              <a:t>Fast decay</a:t>
            </a:r>
            <a:endParaRPr lang="en-US" sz="1050" dirty="0"/>
          </a:p>
        </p:txBody>
      </p:sp>
      <p:sp>
        <p:nvSpPr>
          <p:cNvPr id="19" name="Shape 17"/>
          <p:cNvSpPr/>
          <p:nvPr/>
        </p:nvSpPr>
        <p:spPr>
          <a:xfrm>
            <a:off x="548640" y="4901184"/>
            <a:ext cx="6035040" cy="256032"/>
          </a:xfrm>
          <a:prstGeom prst="roundRect">
            <a:avLst>
              <a:gd name="adj" fmla="val 50000"/>
            </a:avLst>
          </a:prstGeom>
          <a:solidFill>
            <a:srgbClr val="E4E4F4"/>
          </a:solidFill>
          <a:ln/>
        </p:spPr>
      </p:sp>
      <p:sp>
        <p:nvSpPr>
          <p:cNvPr id="20" name="Shape 18"/>
          <p:cNvSpPr/>
          <p:nvPr/>
        </p:nvSpPr>
        <p:spPr>
          <a:xfrm>
            <a:off x="548640" y="4901184"/>
            <a:ext cx="1207008" cy="256032"/>
          </a:xfrm>
          <a:prstGeom prst="roundRect">
            <a:avLst>
              <a:gd name="adj" fmla="val 50000"/>
            </a:avLst>
          </a:prstGeom>
          <a:solidFill>
            <a:srgbClr val="E8635C"/>
          </a:solidFill>
          <a:ln/>
        </p:spPr>
      </p:sp>
      <p:sp>
        <p:nvSpPr>
          <p:cNvPr id="21" name="Shape 19"/>
          <p:cNvSpPr/>
          <p:nvPr/>
        </p:nvSpPr>
        <p:spPr>
          <a:xfrm>
            <a:off x="7452360" y="1920240"/>
            <a:ext cx="4160520" cy="1371600"/>
          </a:xfrm>
          <a:prstGeom prst="roundRect">
            <a:avLst>
              <a:gd name="adj" fmla="val 6667"/>
            </a:avLst>
          </a:prstGeom>
          <a:solidFill>
            <a:srgbClr val="14163A"/>
          </a:solidFill>
          <a:ln/>
          <a:effectLst>
            <a:outerShdw blurRad="101600" dist="38100" dir="5400000" algn="bl" rotWithShape="0">
              <a:srgbClr val="14163A">
                <a:alpha val="12000"/>
              </a:srgbClr>
            </a:outerShdw>
          </a:effectLst>
        </p:spPr>
      </p:sp>
      <p:sp>
        <p:nvSpPr>
          <p:cNvPr id="22" name="Text 20"/>
          <p:cNvSpPr txBox="1"/>
          <p:nvPr/>
        </p:nvSpPr>
        <p:spPr>
          <a:xfrm>
            <a:off x="7726680" y="2084832"/>
            <a:ext cx="3657600" cy="274320"/>
          </a:xfrm>
          <a:prstGeom prst="rect">
            <a:avLst/>
          </a:prstGeom>
          <a:noFill/>
          <a:ln/>
        </p:spPr>
        <p:txBody>
          <a:bodyPr wrap="square" rtlCol="0" anchor="ctr"/>
          <a:lstStyle/>
          <a:p>
            <a:pPr marL="0" indent="0">
              <a:buNone/>
            </a:pPr>
            <a:r>
              <a:rPr lang="en-US" sz="1050" b="1" kern="0" spc="150" dirty="0">
                <a:solidFill>
                  <a:srgbClr val="00D9C0"/>
                </a:solidFill>
                <a:latin typeface="Calibri" pitchFamily="34" charset="0"/>
                <a:ea typeface="Calibri" pitchFamily="34" charset="-122"/>
                <a:cs typeface="Calibri" pitchFamily="34" charset="-120"/>
              </a:rPr>
              <a:t>FRESHNESS FORMULA</a:t>
            </a:r>
            <a:endParaRPr lang="en-US" sz="1050" dirty="0"/>
          </a:p>
        </p:txBody>
      </p:sp>
      <p:sp>
        <p:nvSpPr>
          <p:cNvPr id="23" name="Text 21"/>
          <p:cNvSpPr txBox="1"/>
          <p:nvPr/>
        </p:nvSpPr>
        <p:spPr>
          <a:xfrm>
            <a:off x="7726680" y="2395728"/>
            <a:ext cx="3657600" cy="548640"/>
          </a:xfrm>
          <a:prstGeom prst="rect">
            <a:avLst/>
          </a:prstGeom>
          <a:noFill/>
          <a:ln/>
        </p:spPr>
        <p:txBody>
          <a:bodyPr wrap="square" rtlCol="0" anchor="ctr"/>
          <a:lstStyle/>
          <a:p>
            <a:pPr marL="0" indent="0">
              <a:buNone/>
            </a:pPr>
            <a:r>
              <a:rPr lang="en-US" sz="1700" b="1" dirty="0">
                <a:solidFill>
                  <a:srgbClr val="FFFFFF"/>
                </a:solidFill>
                <a:latin typeface="Courier New" pitchFamily="34" charset="0"/>
                <a:ea typeface="Courier New" pitchFamily="34" charset="-122"/>
                <a:cs typeface="Courier New" pitchFamily="34" charset="-120"/>
              </a:rPr>
              <a:t>Freshness = e^(−λ × age)</a:t>
            </a:r>
            <a:endParaRPr lang="en-US" sz="1700" dirty="0"/>
          </a:p>
        </p:txBody>
      </p:sp>
      <p:sp>
        <p:nvSpPr>
          <p:cNvPr id="24" name="Text 22"/>
          <p:cNvSpPr txBox="1"/>
          <p:nvPr/>
        </p:nvSpPr>
        <p:spPr>
          <a:xfrm>
            <a:off x="7726680" y="2880360"/>
            <a:ext cx="3657600" cy="365760"/>
          </a:xfrm>
          <a:prstGeom prst="rect">
            <a:avLst/>
          </a:prstGeom>
          <a:noFill/>
          <a:ln/>
        </p:spPr>
        <p:txBody>
          <a:bodyPr wrap="square" rtlCol="0" anchor="ctr"/>
          <a:lstStyle/>
          <a:p>
            <a:pPr marL="0" indent="0">
              <a:buNone/>
            </a:pPr>
            <a:r>
              <a:rPr lang="en-US" sz="1000" dirty="0">
                <a:solidFill>
                  <a:srgbClr val="CADCFC"/>
                </a:solidFill>
                <a:latin typeface="Calibri" pitchFamily="34" charset="0"/>
                <a:ea typeface="Calibri" pitchFamily="34" charset="-122"/>
                <a:cs typeface="Calibri" pitchFamily="34" charset="-120"/>
              </a:rPr>
              <a:t>As memories age, their retrieval priority decreases.</a:t>
            </a:r>
            <a:endParaRPr lang="en-US" sz="1000" dirty="0"/>
          </a:p>
        </p:txBody>
      </p:sp>
      <p:sp>
        <p:nvSpPr>
          <p:cNvPr id="25" name="Text 23"/>
          <p:cNvSpPr txBox="1"/>
          <p:nvPr/>
        </p:nvSpPr>
        <p:spPr>
          <a:xfrm>
            <a:off x="7452360" y="3657600"/>
            <a:ext cx="4114800" cy="274320"/>
          </a:xfrm>
          <a:prstGeom prst="rect">
            <a:avLst/>
          </a:prstGeom>
          <a:noFill/>
          <a:ln/>
        </p:spPr>
        <p:txBody>
          <a:bodyPr wrap="square" rtlCol="0" anchor="ctr"/>
          <a:lstStyle/>
          <a:p>
            <a:pPr marL="0" indent="0">
              <a:buNone/>
            </a:pPr>
            <a:r>
              <a:rPr lang="en-US" sz="1100" b="1" kern="0" spc="150" dirty="0">
                <a:solidFill>
                  <a:srgbClr val="6B6F9E"/>
                </a:solidFill>
                <a:latin typeface="Calibri" pitchFamily="34" charset="0"/>
                <a:ea typeface="Calibri" pitchFamily="34" charset="-122"/>
                <a:cs typeface="Calibri" pitchFamily="34" charset="-120"/>
              </a:rPr>
              <a:t>MEMORY STATE PROGRESSION</a:t>
            </a:r>
            <a:endParaRPr lang="en-US" sz="1100" dirty="0"/>
          </a:p>
        </p:txBody>
      </p:sp>
      <p:sp>
        <p:nvSpPr>
          <p:cNvPr id="26" name="Shape 24"/>
          <p:cNvSpPr/>
          <p:nvPr/>
        </p:nvSpPr>
        <p:spPr>
          <a:xfrm>
            <a:off x="7452360" y="4023360"/>
            <a:ext cx="1234440" cy="457200"/>
          </a:xfrm>
          <a:prstGeom prst="roundRect">
            <a:avLst>
              <a:gd name="adj" fmla="val 50000"/>
            </a:avLst>
          </a:prstGeom>
          <a:solidFill>
            <a:srgbClr val="2ECC87"/>
          </a:solidFill>
          <a:ln/>
        </p:spPr>
      </p:sp>
      <p:sp>
        <p:nvSpPr>
          <p:cNvPr id="27" name="Text 25"/>
          <p:cNvSpPr txBox="1"/>
          <p:nvPr/>
        </p:nvSpPr>
        <p:spPr>
          <a:xfrm>
            <a:off x="7452360" y="4005072"/>
            <a:ext cx="1234440" cy="45720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ACTIVE</a:t>
            </a:r>
            <a:endParaRPr lang="en-US" sz="1050" dirty="0"/>
          </a:p>
        </p:txBody>
      </p:sp>
      <p:sp>
        <p:nvSpPr>
          <p:cNvPr id="28" name="Shape 26"/>
          <p:cNvSpPr/>
          <p:nvPr/>
        </p:nvSpPr>
        <p:spPr>
          <a:xfrm>
            <a:off x="8686800" y="4251960"/>
            <a:ext cx="228600" cy="0"/>
          </a:xfrm>
          <a:prstGeom prst="line">
            <a:avLst/>
          </a:prstGeom>
          <a:noFill/>
          <a:ln w="19050">
            <a:solidFill>
              <a:srgbClr val="6B6F9E"/>
            </a:solidFill>
            <a:prstDash val="solid"/>
            <a:tailEnd type="triangle"/>
          </a:ln>
        </p:spPr>
      </p:sp>
      <p:sp>
        <p:nvSpPr>
          <p:cNvPr id="29" name="Shape 27"/>
          <p:cNvSpPr/>
          <p:nvPr/>
        </p:nvSpPr>
        <p:spPr>
          <a:xfrm>
            <a:off x="8915400" y="4023360"/>
            <a:ext cx="1234440" cy="457200"/>
          </a:xfrm>
          <a:prstGeom prst="roundRect">
            <a:avLst>
              <a:gd name="adj" fmla="val 50000"/>
            </a:avLst>
          </a:prstGeom>
          <a:solidFill>
            <a:srgbClr val="F5A623"/>
          </a:solidFill>
          <a:ln/>
        </p:spPr>
      </p:sp>
      <p:sp>
        <p:nvSpPr>
          <p:cNvPr id="30" name="Text 28"/>
          <p:cNvSpPr txBox="1"/>
          <p:nvPr/>
        </p:nvSpPr>
        <p:spPr>
          <a:xfrm>
            <a:off x="8915400" y="4005072"/>
            <a:ext cx="1234440" cy="45720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STALE</a:t>
            </a:r>
            <a:endParaRPr lang="en-US" sz="1050" dirty="0"/>
          </a:p>
        </p:txBody>
      </p:sp>
      <p:sp>
        <p:nvSpPr>
          <p:cNvPr id="31" name="Shape 29"/>
          <p:cNvSpPr/>
          <p:nvPr/>
        </p:nvSpPr>
        <p:spPr>
          <a:xfrm>
            <a:off x="10149840" y="4251960"/>
            <a:ext cx="228600" cy="0"/>
          </a:xfrm>
          <a:prstGeom prst="line">
            <a:avLst/>
          </a:prstGeom>
          <a:noFill/>
          <a:ln w="19050">
            <a:solidFill>
              <a:srgbClr val="6B6F9E"/>
            </a:solidFill>
            <a:prstDash val="solid"/>
            <a:tailEnd type="triangle"/>
          </a:ln>
        </p:spPr>
      </p:sp>
      <p:sp>
        <p:nvSpPr>
          <p:cNvPr id="32" name="Shape 30"/>
          <p:cNvSpPr/>
          <p:nvPr/>
        </p:nvSpPr>
        <p:spPr>
          <a:xfrm>
            <a:off x="10378440" y="4023360"/>
            <a:ext cx="1234440" cy="457200"/>
          </a:xfrm>
          <a:prstGeom prst="roundRect">
            <a:avLst>
              <a:gd name="adj" fmla="val 50000"/>
            </a:avLst>
          </a:prstGeom>
          <a:solidFill>
            <a:srgbClr val="8A8DB0"/>
          </a:solidFill>
          <a:ln/>
        </p:spPr>
      </p:sp>
      <p:sp>
        <p:nvSpPr>
          <p:cNvPr id="33" name="Text 31"/>
          <p:cNvSpPr txBox="1"/>
          <p:nvPr/>
        </p:nvSpPr>
        <p:spPr>
          <a:xfrm>
            <a:off x="10378440" y="4005072"/>
            <a:ext cx="1234440" cy="45720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ARCHIVED</a:t>
            </a:r>
            <a:endParaRPr lang="en-US" sz="1050" dirty="0"/>
          </a:p>
        </p:txBody>
      </p:sp>
      <p:sp>
        <p:nvSpPr>
          <p:cNvPr id="34" name="Shape 32"/>
          <p:cNvSpPr/>
          <p:nvPr/>
        </p:nvSpPr>
        <p:spPr>
          <a:xfrm>
            <a:off x="7452360" y="4709160"/>
            <a:ext cx="4160520" cy="1371600"/>
          </a:xfrm>
          <a:prstGeom prst="roundRect">
            <a:avLst>
              <a:gd name="adj" fmla="val 6667"/>
            </a:avLst>
          </a:prstGeom>
          <a:solidFill>
            <a:srgbClr val="FFFFFF"/>
          </a:solidFill>
          <a:ln w="9525">
            <a:solidFill>
              <a:srgbClr val="DCDCF0"/>
            </a:solidFill>
            <a:prstDash val="solid"/>
          </a:ln>
          <a:effectLst>
            <a:outerShdw blurRad="101600" dist="38100" dir="5400000" algn="bl" rotWithShape="0">
              <a:srgbClr val="14163A">
                <a:alpha val="12000"/>
              </a:srgbClr>
            </a:outerShdw>
          </a:effectLst>
        </p:spPr>
      </p:sp>
      <p:sp>
        <p:nvSpPr>
          <p:cNvPr id="35" name="Text 33"/>
          <p:cNvSpPr txBox="1"/>
          <p:nvPr/>
        </p:nvSpPr>
        <p:spPr>
          <a:xfrm>
            <a:off x="7680960" y="4846320"/>
            <a:ext cx="3703320" cy="1097280"/>
          </a:xfrm>
          <a:prstGeom prst="rect">
            <a:avLst/>
          </a:prstGeom>
          <a:noFill/>
          <a:ln/>
        </p:spPr>
        <p:txBody>
          <a:bodyPr wrap="square" rtlCol="0" anchor="ctr"/>
          <a:lstStyle/>
          <a:p>
            <a:pPr marL="0" indent="0">
              <a:buNone/>
            </a:pPr>
            <a:r>
              <a:rPr lang="en-US" sz="1100" dirty="0">
                <a:solidFill>
                  <a:srgbClr val="14163A"/>
                </a:solidFill>
                <a:latin typeface="Calibri" pitchFamily="34" charset="0"/>
                <a:ea typeface="Calibri" pitchFamily="34" charset="-122"/>
                <a:cs typeface="Calibri" pitchFamily="34" charset="-120"/>
              </a:rPr>
              <a:t>Memories move from ACTIVE to STALE as relevance fades, then to ARCHIVED once they no longer influence answers — without being permanently deleted.</a:t>
            </a:r>
            <a:endParaRPr lang="en-US" sz="1100" dirty="0"/>
          </a:p>
        </p:txBody>
      </p:sp>
      <p:sp>
        <p:nvSpPr>
          <p:cNvPr id="36" name="Text 34"/>
          <p:cNvSpPr txBox="1"/>
          <p:nvPr/>
        </p:nvSpPr>
        <p:spPr>
          <a:xfrm>
            <a:off x="11475720" y="6473952"/>
            <a:ext cx="548640" cy="274320"/>
          </a:xfrm>
          <a:prstGeom prst="rect">
            <a:avLst/>
          </a:prstGeom>
          <a:noFill/>
          <a:ln/>
        </p:spPr>
        <p:txBody>
          <a:bodyPr wrap="square" rtlCol="0" anchor="ctr"/>
          <a:lstStyle/>
          <a:p>
            <a:pPr marL="0" indent="0" algn="r">
              <a:buNone/>
            </a:pPr>
            <a:r>
              <a:rPr lang="en-US" sz="900" dirty="0">
                <a:solidFill>
                  <a:srgbClr val="6B6F9E"/>
                </a:solidFill>
                <a:latin typeface="Calibri" pitchFamily="34" charset="0"/>
                <a:ea typeface="Calibri" pitchFamily="34" charset="-122"/>
                <a:cs typeface="Calibri" pitchFamily="34" charset="-120"/>
              </a:rPr>
              <a:t>11</a:t>
            </a:r>
            <a:endParaRPr lang="en-US" sz="900" dirty="0"/>
          </a:p>
        </p:txBody>
      </p:sp>
      <p:sp>
        <p:nvSpPr>
          <p:cNvPr id="37" name="Text 35"/>
          <p:cNvSpPr txBox="1"/>
          <p:nvPr/>
        </p:nvSpPr>
        <p:spPr>
          <a:xfrm>
            <a:off x="548640" y="6473952"/>
            <a:ext cx="2743200" cy="274320"/>
          </a:xfrm>
          <a:prstGeom prst="rect">
            <a:avLst/>
          </a:prstGeom>
          <a:noFill/>
          <a:ln/>
        </p:spPr>
        <p:txBody>
          <a:bodyPr wrap="square" rtlCol="0" anchor="ctr"/>
          <a:lstStyle/>
          <a:p>
            <a:pPr marL="0" indent="0">
              <a:buNone/>
            </a:pPr>
            <a:r>
              <a:rPr lang="en-US" sz="900" kern="0" spc="100" dirty="0">
                <a:solidFill>
                  <a:srgbClr val="6B6F9E"/>
                </a:solidFill>
                <a:latin typeface="Calibri" pitchFamily="34" charset="0"/>
                <a:ea typeface="Calibri" pitchFamily="34" charset="-122"/>
                <a:cs typeface="Calibri" pitchFamily="34" charset="-120"/>
              </a:rPr>
              <a:t>MEMORA</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6FC"/>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rtlCol="0" anchor="ctr"/>
          <a:lstStyle/>
          <a:p>
            <a:pPr marL="0" indent="0">
              <a:buNone/>
            </a:pPr>
            <a:r>
              <a:rPr lang="en-US" sz="1250" b="1" kern="0" spc="200" dirty="0">
                <a:solidFill>
                  <a:srgbClr val="5B4FE9"/>
                </a:solidFill>
                <a:latin typeface="Calibri" pitchFamily="34" charset="0"/>
                <a:ea typeface="Calibri" pitchFamily="34" charset="-122"/>
                <a:cs typeface="Calibri" pitchFamily="34" charset="-120"/>
              </a:rPr>
              <a:t>MULTI-USER MEMORY</a:t>
            </a:r>
            <a:endParaRPr lang="en-US" sz="1250" dirty="0"/>
          </a:p>
        </p:txBody>
      </p:sp>
      <p:sp>
        <p:nvSpPr>
          <p:cNvPr id="3" name="Text 1"/>
          <p:cNvSpPr txBox="1"/>
          <p:nvPr/>
        </p:nvSpPr>
        <p:spPr>
          <a:xfrm>
            <a:off x="548640" y="566928"/>
            <a:ext cx="10515600" cy="640080"/>
          </a:xfrm>
          <a:prstGeom prst="rect">
            <a:avLst/>
          </a:prstGeom>
          <a:noFill/>
          <a:ln/>
        </p:spPr>
        <p:txBody>
          <a:bodyPr wrap="square" rtlCol="0" anchor="ctr"/>
          <a:lstStyle/>
          <a:p>
            <a:pPr marL="0" indent="0">
              <a:buNone/>
            </a:pPr>
            <a:r>
              <a:rPr lang="en-US" sz="3000" b="1" dirty="0">
                <a:solidFill>
                  <a:srgbClr val="14163A"/>
                </a:solidFill>
                <a:latin typeface="Cambria" pitchFamily="34" charset="0"/>
                <a:ea typeface="Cambria" pitchFamily="34" charset="-122"/>
                <a:cs typeface="Cambria" pitchFamily="34" charset="-120"/>
              </a:rPr>
              <a:t>Every Memory Belongs to Exactly One User</a:t>
            </a:r>
            <a:endParaRPr lang="en-US" sz="3000" dirty="0"/>
          </a:p>
        </p:txBody>
      </p:sp>
      <p:sp>
        <p:nvSpPr>
          <p:cNvPr id="4" name="Shape 2"/>
          <p:cNvSpPr/>
          <p:nvPr/>
        </p:nvSpPr>
        <p:spPr>
          <a:xfrm>
            <a:off x="5684825" y="1371600"/>
            <a:ext cx="822960" cy="822960"/>
          </a:xfrm>
          <a:prstGeom prst="ellipse">
            <a:avLst/>
          </a:prstGeom>
          <a:solidFill>
            <a:srgbClr val="14163A"/>
          </a:solidFill>
          <a:ln/>
          <a:effectLst>
            <a:outerShdw blurRad="76200" dist="25400" dir="5400000" algn="bl" rotWithShape="0">
              <a:srgbClr val="14163A">
                <a:alpha val="25000"/>
              </a:srgbClr>
            </a:outerShdw>
          </a:effectLst>
        </p:spPr>
      </p:sp>
      <p:pic>
        <p:nvPicPr>
          <p:cNvPr id="5" name="Image 0" descr="preencoded.png"/>
          <p:cNvPicPr>
            <a:picLocks noChangeAspect="1"/>
          </p:cNvPicPr>
          <p:nvPr/>
        </p:nvPicPr>
        <p:blipFill>
          <a:blip r:embed="rId3"/>
          <a:stretch>
            <a:fillRect/>
          </a:stretch>
        </p:blipFill>
        <p:spPr>
          <a:xfrm>
            <a:off x="5890565" y="1577340"/>
            <a:ext cx="411480" cy="411480"/>
          </a:xfrm>
          <a:prstGeom prst="rect">
            <a:avLst/>
          </a:prstGeom>
        </p:spPr>
      </p:pic>
      <p:sp>
        <p:nvSpPr>
          <p:cNvPr id="6" name="Text 3"/>
          <p:cNvSpPr txBox="1"/>
          <p:nvPr/>
        </p:nvSpPr>
        <p:spPr>
          <a:xfrm>
            <a:off x="4724705" y="2240280"/>
            <a:ext cx="2743200" cy="274320"/>
          </a:xfrm>
          <a:prstGeom prst="rect">
            <a:avLst/>
          </a:prstGeom>
          <a:noFill/>
          <a:ln/>
        </p:spPr>
        <p:txBody>
          <a:bodyPr wrap="square" rtlCol="0" anchor="ctr"/>
          <a:lstStyle/>
          <a:p>
            <a:pPr marL="0" indent="0" algn="ctr">
              <a:buNone/>
            </a:pPr>
            <a:r>
              <a:rPr lang="en-US" sz="1050" b="1" kern="0" spc="150" dirty="0">
                <a:solidFill>
                  <a:srgbClr val="6B6F9E"/>
                </a:solidFill>
                <a:latin typeface="Calibri" pitchFamily="34" charset="0"/>
                <a:ea typeface="Calibri" pitchFamily="34" charset="-122"/>
                <a:cs typeface="Calibri" pitchFamily="34" charset="-120"/>
              </a:rPr>
              <a:t>MEMORY DATABASE</a:t>
            </a:r>
            <a:endParaRPr lang="en-US" sz="1050" dirty="0"/>
          </a:p>
        </p:txBody>
      </p:sp>
      <p:sp>
        <p:nvSpPr>
          <p:cNvPr id="7" name="Shape 4"/>
          <p:cNvSpPr/>
          <p:nvPr/>
        </p:nvSpPr>
        <p:spPr>
          <a:xfrm>
            <a:off x="4114800" y="2514600"/>
            <a:ext cx="0" cy="320040"/>
          </a:xfrm>
          <a:prstGeom prst="line">
            <a:avLst/>
          </a:prstGeom>
          <a:noFill/>
          <a:ln w="12700">
            <a:solidFill>
              <a:srgbClr val="6B6F9E"/>
            </a:solidFill>
            <a:prstDash val="solid"/>
            <a:tailEnd type="triangle"/>
          </a:ln>
        </p:spPr>
      </p:sp>
      <p:sp>
        <p:nvSpPr>
          <p:cNvPr id="8" name="Shape 5"/>
          <p:cNvSpPr/>
          <p:nvPr/>
        </p:nvSpPr>
        <p:spPr>
          <a:xfrm>
            <a:off x="8074152" y="2514600"/>
            <a:ext cx="0" cy="320040"/>
          </a:xfrm>
          <a:prstGeom prst="line">
            <a:avLst/>
          </a:prstGeom>
          <a:noFill/>
          <a:ln w="12700">
            <a:solidFill>
              <a:srgbClr val="6B6F9E"/>
            </a:solidFill>
            <a:prstDash val="solid"/>
            <a:tailEnd type="triangle"/>
          </a:ln>
        </p:spPr>
      </p:sp>
      <p:sp>
        <p:nvSpPr>
          <p:cNvPr id="9" name="Shape 6"/>
          <p:cNvSpPr/>
          <p:nvPr/>
        </p:nvSpPr>
        <p:spPr>
          <a:xfrm>
            <a:off x="4114800" y="2514600"/>
            <a:ext cx="3959352" cy="0"/>
          </a:xfrm>
          <a:prstGeom prst="line">
            <a:avLst/>
          </a:prstGeom>
          <a:noFill/>
          <a:ln w="12700">
            <a:solidFill>
              <a:srgbClr val="6B6F9E"/>
            </a:solidFill>
            <a:prstDash val="solid"/>
          </a:ln>
        </p:spPr>
      </p:sp>
      <p:sp>
        <p:nvSpPr>
          <p:cNvPr id="10" name="Shape 7"/>
          <p:cNvSpPr/>
          <p:nvPr/>
        </p:nvSpPr>
        <p:spPr>
          <a:xfrm>
            <a:off x="1280160" y="2834640"/>
            <a:ext cx="4206240" cy="3291840"/>
          </a:xfrm>
          <a:prstGeom prst="roundRect">
            <a:avLst>
              <a:gd name="adj" fmla="val 2778"/>
            </a:avLst>
          </a:prstGeom>
          <a:solidFill>
            <a:srgbClr val="FFFFFF"/>
          </a:solidFill>
          <a:ln w="9525">
            <a:solidFill>
              <a:srgbClr val="DCDCF0"/>
            </a:solidFill>
            <a:prstDash val="solid"/>
          </a:ln>
          <a:effectLst>
            <a:outerShdw blurRad="101600" dist="38100" dir="5400000" algn="bl" rotWithShape="0">
              <a:srgbClr val="14163A">
                <a:alpha val="12000"/>
              </a:srgbClr>
            </a:outerShdw>
          </a:effectLst>
        </p:spPr>
      </p:sp>
      <p:sp>
        <p:nvSpPr>
          <p:cNvPr id="11" name="Shape 8"/>
          <p:cNvSpPr/>
          <p:nvPr/>
        </p:nvSpPr>
        <p:spPr>
          <a:xfrm>
            <a:off x="3040380" y="3177540"/>
            <a:ext cx="685800" cy="685800"/>
          </a:xfrm>
          <a:prstGeom prst="ellipse">
            <a:avLst/>
          </a:prstGeom>
          <a:solidFill>
            <a:srgbClr val="5B4FE9"/>
          </a:solidFill>
          <a:ln/>
        </p:spPr>
      </p:sp>
      <p:pic>
        <p:nvPicPr>
          <p:cNvPr id="12" name="Image 1" descr="preencoded.png"/>
          <p:cNvPicPr>
            <a:picLocks noChangeAspect="1"/>
          </p:cNvPicPr>
          <p:nvPr/>
        </p:nvPicPr>
        <p:blipFill>
          <a:blip r:embed="rId4"/>
          <a:stretch>
            <a:fillRect/>
          </a:stretch>
        </p:blipFill>
        <p:spPr>
          <a:xfrm>
            <a:off x="3211830" y="3348990"/>
            <a:ext cx="342900" cy="342900"/>
          </a:xfrm>
          <a:prstGeom prst="rect">
            <a:avLst/>
          </a:prstGeom>
        </p:spPr>
      </p:pic>
      <p:sp>
        <p:nvSpPr>
          <p:cNvPr id="13" name="Text 9"/>
          <p:cNvSpPr txBox="1"/>
          <p:nvPr/>
        </p:nvSpPr>
        <p:spPr>
          <a:xfrm>
            <a:off x="1280160" y="3977640"/>
            <a:ext cx="4206240" cy="320040"/>
          </a:xfrm>
          <a:prstGeom prst="rect">
            <a:avLst/>
          </a:prstGeom>
          <a:noFill/>
          <a:ln/>
        </p:spPr>
        <p:txBody>
          <a:bodyPr wrap="square" rtlCol="0" anchor="ctr"/>
          <a:lstStyle/>
          <a:p>
            <a:pPr marL="0" indent="0" algn="ctr">
              <a:buNone/>
            </a:pPr>
            <a:r>
              <a:rPr lang="en-US" sz="1400" b="1" dirty="0">
                <a:solidFill>
                  <a:srgbClr val="14163A"/>
                </a:solidFill>
                <a:latin typeface="Calibri" pitchFamily="34" charset="0"/>
                <a:ea typeface="Calibri" pitchFamily="34" charset="-122"/>
                <a:cs typeface="Calibri" pitchFamily="34" charset="-120"/>
              </a:rPr>
              <a:t>USER A</a:t>
            </a:r>
            <a:endParaRPr lang="en-US" sz="1400" dirty="0"/>
          </a:p>
        </p:txBody>
      </p:sp>
      <p:sp>
        <p:nvSpPr>
          <p:cNvPr id="14" name="Shape 10"/>
          <p:cNvSpPr/>
          <p:nvPr/>
        </p:nvSpPr>
        <p:spPr>
          <a:xfrm>
            <a:off x="1600200" y="4434840"/>
            <a:ext cx="3566160" cy="594360"/>
          </a:xfrm>
          <a:prstGeom prst="roundRect">
            <a:avLst>
              <a:gd name="adj" fmla="val 46154"/>
            </a:avLst>
          </a:prstGeom>
          <a:solidFill>
            <a:srgbClr val="EFEBFF"/>
          </a:solidFill>
          <a:ln/>
        </p:spPr>
      </p:sp>
      <p:sp>
        <p:nvSpPr>
          <p:cNvPr id="15" name="Text 11"/>
          <p:cNvSpPr txBox="1"/>
          <p:nvPr/>
        </p:nvSpPr>
        <p:spPr>
          <a:xfrm>
            <a:off x="1600200" y="4434840"/>
            <a:ext cx="3566160" cy="594360"/>
          </a:xfrm>
          <a:prstGeom prst="rect">
            <a:avLst/>
          </a:prstGeom>
          <a:noFill/>
          <a:ln/>
        </p:spPr>
        <p:txBody>
          <a:bodyPr wrap="square" rtlCol="0" anchor="ctr"/>
          <a:lstStyle/>
          <a:p>
            <a:pPr marL="0" indent="0" algn="ctr">
              <a:buNone/>
            </a:pPr>
            <a:r>
              <a:rPr lang="en-US" sz="1200" i="1" dirty="0">
                <a:solidFill>
                  <a:srgbClr val="14163A"/>
                </a:solidFill>
                <a:latin typeface="Calibri" pitchFamily="34" charset="0"/>
                <a:ea typeface="Calibri" pitchFamily="34" charset="-122"/>
                <a:cs typeface="Calibri" pitchFamily="34" charset="-120"/>
              </a:rPr>
              <a:t>"I prefer Java."</a:t>
            </a:r>
            <a:endParaRPr lang="en-US" sz="1200" dirty="0"/>
          </a:p>
        </p:txBody>
      </p:sp>
      <p:sp>
        <p:nvSpPr>
          <p:cNvPr id="16" name="Shape 12"/>
          <p:cNvSpPr/>
          <p:nvPr/>
        </p:nvSpPr>
        <p:spPr>
          <a:xfrm>
            <a:off x="1600200" y="5166360"/>
            <a:ext cx="3566160" cy="777240"/>
          </a:xfrm>
          <a:prstGeom prst="roundRect">
            <a:avLst>
              <a:gd name="adj" fmla="val 11765"/>
            </a:avLst>
          </a:prstGeom>
          <a:solidFill>
            <a:srgbClr val="14163A"/>
          </a:solidFill>
          <a:ln/>
        </p:spPr>
      </p:sp>
      <p:sp>
        <p:nvSpPr>
          <p:cNvPr id="17" name="Text 13"/>
          <p:cNvSpPr txBox="1"/>
          <p:nvPr/>
        </p:nvSpPr>
        <p:spPr>
          <a:xfrm>
            <a:off x="1783080" y="5166360"/>
            <a:ext cx="3200400" cy="777240"/>
          </a:xfrm>
          <a:prstGeom prst="rect">
            <a:avLst/>
          </a:prstGeom>
          <a:noFill/>
          <a:ln/>
        </p:spPr>
        <p:txBody>
          <a:bodyPr wrap="square" rtlCol="0" anchor="ctr"/>
          <a:lstStyle/>
          <a:p>
            <a:pPr marL="0" indent="0">
              <a:buNone/>
            </a:pPr>
            <a:r>
              <a:rPr lang="en-US" sz="1050" dirty="0">
                <a:solidFill>
                  <a:srgbClr val="CADCFC"/>
                </a:solidFill>
                <a:latin typeface="Calibri" pitchFamily="34" charset="0"/>
                <a:ea typeface="Calibri" pitchFamily="34" charset="-122"/>
                <a:cs typeface="Calibri" pitchFamily="34" charset="-120"/>
              </a:rPr>
              <a:t>Memories A → visible only to User A</a:t>
            </a:r>
            <a:endParaRPr lang="en-US" sz="1050" dirty="0"/>
          </a:p>
        </p:txBody>
      </p:sp>
      <p:sp>
        <p:nvSpPr>
          <p:cNvPr id="18" name="Shape 14"/>
          <p:cNvSpPr/>
          <p:nvPr/>
        </p:nvSpPr>
        <p:spPr>
          <a:xfrm>
            <a:off x="6675120" y="2834640"/>
            <a:ext cx="4206240" cy="3291840"/>
          </a:xfrm>
          <a:prstGeom prst="roundRect">
            <a:avLst>
              <a:gd name="adj" fmla="val 2778"/>
            </a:avLst>
          </a:prstGeom>
          <a:solidFill>
            <a:srgbClr val="FFFFFF"/>
          </a:solidFill>
          <a:ln w="9525">
            <a:solidFill>
              <a:srgbClr val="DCDCF0"/>
            </a:solidFill>
            <a:prstDash val="solid"/>
          </a:ln>
          <a:effectLst>
            <a:outerShdw blurRad="101600" dist="38100" dir="5400000" algn="bl" rotWithShape="0">
              <a:srgbClr val="14163A">
                <a:alpha val="12000"/>
              </a:srgbClr>
            </a:outerShdw>
          </a:effectLst>
        </p:spPr>
      </p:sp>
      <p:sp>
        <p:nvSpPr>
          <p:cNvPr id="19" name="Shape 15"/>
          <p:cNvSpPr/>
          <p:nvPr/>
        </p:nvSpPr>
        <p:spPr>
          <a:xfrm>
            <a:off x="8435340" y="3177540"/>
            <a:ext cx="685800" cy="685800"/>
          </a:xfrm>
          <a:prstGeom prst="ellipse">
            <a:avLst/>
          </a:prstGeom>
          <a:solidFill>
            <a:srgbClr val="00D9C0"/>
          </a:solidFill>
          <a:ln/>
        </p:spPr>
      </p:sp>
      <p:pic>
        <p:nvPicPr>
          <p:cNvPr id="20" name="Image 2" descr="preencoded.png"/>
          <p:cNvPicPr>
            <a:picLocks noChangeAspect="1"/>
          </p:cNvPicPr>
          <p:nvPr/>
        </p:nvPicPr>
        <p:blipFill>
          <a:blip r:embed="rId4"/>
          <a:stretch>
            <a:fillRect/>
          </a:stretch>
        </p:blipFill>
        <p:spPr>
          <a:xfrm>
            <a:off x="8606790" y="3348990"/>
            <a:ext cx="342900" cy="342900"/>
          </a:xfrm>
          <a:prstGeom prst="rect">
            <a:avLst/>
          </a:prstGeom>
        </p:spPr>
      </p:pic>
      <p:sp>
        <p:nvSpPr>
          <p:cNvPr id="21" name="Text 16"/>
          <p:cNvSpPr txBox="1"/>
          <p:nvPr/>
        </p:nvSpPr>
        <p:spPr>
          <a:xfrm>
            <a:off x="6675120" y="3977640"/>
            <a:ext cx="4206240" cy="320040"/>
          </a:xfrm>
          <a:prstGeom prst="rect">
            <a:avLst/>
          </a:prstGeom>
          <a:noFill/>
          <a:ln/>
        </p:spPr>
        <p:txBody>
          <a:bodyPr wrap="square" rtlCol="0" anchor="ctr"/>
          <a:lstStyle/>
          <a:p>
            <a:pPr marL="0" indent="0" algn="ctr">
              <a:buNone/>
            </a:pPr>
            <a:r>
              <a:rPr lang="en-US" sz="1400" b="1" dirty="0">
                <a:solidFill>
                  <a:srgbClr val="14163A"/>
                </a:solidFill>
                <a:latin typeface="Calibri" pitchFamily="34" charset="0"/>
                <a:ea typeface="Calibri" pitchFamily="34" charset="-122"/>
                <a:cs typeface="Calibri" pitchFamily="34" charset="-120"/>
              </a:rPr>
              <a:t>USER B</a:t>
            </a:r>
            <a:endParaRPr lang="en-US" sz="1400" dirty="0"/>
          </a:p>
        </p:txBody>
      </p:sp>
      <p:sp>
        <p:nvSpPr>
          <p:cNvPr id="22" name="Shape 17"/>
          <p:cNvSpPr/>
          <p:nvPr/>
        </p:nvSpPr>
        <p:spPr>
          <a:xfrm>
            <a:off x="6995160" y="4434840"/>
            <a:ext cx="3566160" cy="594360"/>
          </a:xfrm>
          <a:prstGeom prst="roundRect">
            <a:avLst>
              <a:gd name="adj" fmla="val 46154"/>
            </a:avLst>
          </a:prstGeom>
          <a:solidFill>
            <a:srgbClr val="E6FBF8"/>
          </a:solidFill>
          <a:ln/>
        </p:spPr>
      </p:sp>
      <p:sp>
        <p:nvSpPr>
          <p:cNvPr id="23" name="Text 18"/>
          <p:cNvSpPr txBox="1"/>
          <p:nvPr/>
        </p:nvSpPr>
        <p:spPr>
          <a:xfrm>
            <a:off x="6995160" y="4434840"/>
            <a:ext cx="3566160" cy="594360"/>
          </a:xfrm>
          <a:prstGeom prst="rect">
            <a:avLst/>
          </a:prstGeom>
          <a:noFill/>
          <a:ln/>
        </p:spPr>
        <p:txBody>
          <a:bodyPr wrap="square" rtlCol="0" anchor="ctr"/>
          <a:lstStyle/>
          <a:p>
            <a:pPr marL="0" indent="0" algn="ctr">
              <a:buNone/>
            </a:pPr>
            <a:r>
              <a:rPr lang="en-US" sz="1200" i="1" dirty="0">
                <a:solidFill>
                  <a:srgbClr val="14163A"/>
                </a:solidFill>
                <a:latin typeface="Calibri" pitchFamily="34" charset="0"/>
                <a:ea typeface="Calibri" pitchFamily="34" charset="-122"/>
                <a:cs typeface="Calibri" pitchFamily="34" charset="-120"/>
              </a:rPr>
              <a:t>"What language do I prefer?"</a:t>
            </a:r>
            <a:endParaRPr lang="en-US" sz="1200" dirty="0"/>
          </a:p>
        </p:txBody>
      </p:sp>
      <p:sp>
        <p:nvSpPr>
          <p:cNvPr id="24" name="Shape 19"/>
          <p:cNvSpPr/>
          <p:nvPr/>
        </p:nvSpPr>
        <p:spPr>
          <a:xfrm>
            <a:off x="6995160" y="5166360"/>
            <a:ext cx="3566160" cy="777240"/>
          </a:xfrm>
          <a:prstGeom prst="roundRect">
            <a:avLst>
              <a:gd name="adj" fmla="val 11765"/>
            </a:avLst>
          </a:prstGeom>
          <a:solidFill>
            <a:srgbClr val="14163A"/>
          </a:solidFill>
          <a:ln/>
        </p:spPr>
      </p:sp>
      <p:sp>
        <p:nvSpPr>
          <p:cNvPr id="25" name="Text 20"/>
          <p:cNvSpPr txBox="1"/>
          <p:nvPr/>
        </p:nvSpPr>
        <p:spPr>
          <a:xfrm>
            <a:off x="7178040" y="5166360"/>
            <a:ext cx="3200400" cy="777240"/>
          </a:xfrm>
          <a:prstGeom prst="rect">
            <a:avLst/>
          </a:prstGeom>
          <a:noFill/>
          <a:ln/>
        </p:spPr>
        <p:txBody>
          <a:bodyPr wrap="square" rtlCol="0" anchor="ctr"/>
          <a:lstStyle/>
          <a:p>
            <a:pPr marL="0" indent="0">
              <a:buNone/>
            </a:pPr>
            <a:r>
              <a:rPr lang="en-US" sz="1050" i="1" dirty="0">
                <a:solidFill>
                  <a:srgbClr val="CADCFC"/>
                </a:solidFill>
                <a:latin typeface="Calibri" pitchFamily="34" charset="0"/>
                <a:ea typeface="Calibri" pitchFamily="34" charset="-122"/>
                <a:cs typeface="Calibri" pitchFamily="34" charset="-120"/>
              </a:rPr>
              <a:t>"I don't have a stored preference for you yet."</a:t>
            </a:r>
            <a:endParaRPr lang="en-US" sz="1050" dirty="0"/>
          </a:p>
        </p:txBody>
      </p:sp>
      <p:sp>
        <p:nvSpPr>
          <p:cNvPr id="26" name="Shape 21"/>
          <p:cNvSpPr/>
          <p:nvPr/>
        </p:nvSpPr>
        <p:spPr>
          <a:xfrm>
            <a:off x="5844845" y="4229100"/>
            <a:ext cx="502920" cy="502920"/>
          </a:xfrm>
          <a:prstGeom prst="ellipse">
            <a:avLst/>
          </a:prstGeom>
          <a:solidFill>
            <a:srgbClr val="5B4FE9"/>
          </a:solidFill>
          <a:ln/>
          <a:effectLst>
            <a:outerShdw blurRad="76200" dist="25400" dir="5400000" algn="bl" rotWithShape="0">
              <a:srgbClr val="14163A">
                <a:alpha val="25000"/>
              </a:srgbClr>
            </a:outerShdw>
          </a:effectLst>
        </p:spPr>
      </p:sp>
      <p:pic>
        <p:nvPicPr>
          <p:cNvPr id="27" name="Image 3" descr="preencoded.png"/>
          <p:cNvPicPr>
            <a:picLocks noChangeAspect="1"/>
          </p:cNvPicPr>
          <p:nvPr/>
        </p:nvPicPr>
        <p:blipFill>
          <a:blip r:embed="rId5"/>
          <a:stretch>
            <a:fillRect/>
          </a:stretch>
        </p:blipFill>
        <p:spPr>
          <a:xfrm>
            <a:off x="5970575" y="4354830"/>
            <a:ext cx="251460" cy="251460"/>
          </a:xfrm>
          <a:prstGeom prst="rect">
            <a:avLst/>
          </a:prstGeom>
        </p:spPr>
      </p:pic>
      <p:sp>
        <p:nvSpPr>
          <p:cNvPr id="28" name="Text 22"/>
          <p:cNvSpPr txBox="1"/>
          <p:nvPr/>
        </p:nvSpPr>
        <p:spPr>
          <a:xfrm>
            <a:off x="11475720" y="6473952"/>
            <a:ext cx="548640" cy="274320"/>
          </a:xfrm>
          <a:prstGeom prst="rect">
            <a:avLst/>
          </a:prstGeom>
          <a:noFill/>
          <a:ln/>
        </p:spPr>
        <p:txBody>
          <a:bodyPr wrap="square" rtlCol="0" anchor="ctr"/>
          <a:lstStyle/>
          <a:p>
            <a:pPr marL="0" indent="0" algn="r">
              <a:buNone/>
            </a:pPr>
            <a:r>
              <a:rPr lang="en-US" sz="900" dirty="0">
                <a:solidFill>
                  <a:srgbClr val="6B6F9E"/>
                </a:solidFill>
                <a:latin typeface="Calibri" pitchFamily="34" charset="0"/>
                <a:ea typeface="Calibri" pitchFamily="34" charset="-122"/>
                <a:cs typeface="Calibri" pitchFamily="34" charset="-120"/>
              </a:rPr>
              <a:t>12</a:t>
            </a:r>
            <a:endParaRPr lang="en-US" sz="900" dirty="0"/>
          </a:p>
        </p:txBody>
      </p:sp>
      <p:sp>
        <p:nvSpPr>
          <p:cNvPr id="29" name="Text 23"/>
          <p:cNvSpPr txBox="1"/>
          <p:nvPr/>
        </p:nvSpPr>
        <p:spPr>
          <a:xfrm>
            <a:off x="548640" y="6473952"/>
            <a:ext cx="2743200" cy="274320"/>
          </a:xfrm>
          <a:prstGeom prst="rect">
            <a:avLst/>
          </a:prstGeom>
          <a:noFill/>
          <a:ln/>
        </p:spPr>
        <p:txBody>
          <a:bodyPr wrap="square" rtlCol="0" anchor="ctr"/>
          <a:lstStyle/>
          <a:p>
            <a:pPr marL="0" indent="0">
              <a:buNone/>
            </a:pPr>
            <a:r>
              <a:rPr lang="en-US" sz="900" kern="0" spc="100" dirty="0">
                <a:solidFill>
                  <a:srgbClr val="6B6F9E"/>
                </a:solidFill>
                <a:latin typeface="Calibri" pitchFamily="34" charset="0"/>
                <a:ea typeface="Calibri" pitchFamily="34" charset="-122"/>
                <a:cs typeface="Calibri" pitchFamily="34" charset="-120"/>
              </a:rPr>
              <a:t>MEMORA</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6FC"/>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rtlCol="0" anchor="ctr"/>
          <a:lstStyle/>
          <a:p>
            <a:pPr marL="0" indent="0">
              <a:buNone/>
            </a:pPr>
            <a:r>
              <a:rPr lang="en-US" sz="1250" b="1" kern="0" spc="200" dirty="0">
                <a:solidFill>
                  <a:srgbClr val="5B4FE9"/>
                </a:solidFill>
                <a:latin typeface="Calibri" pitchFamily="34" charset="0"/>
                <a:ea typeface="Calibri" pitchFamily="34" charset="-122"/>
                <a:cs typeface="Calibri" pitchFamily="34" charset="-120"/>
              </a:rPr>
              <a:t>EXPLAINABLE MEMORY</a:t>
            </a:r>
            <a:endParaRPr lang="en-US" sz="1250" dirty="0"/>
          </a:p>
        </p:txBody>
      </p:sp>
      <p:sp>
        <p:nvSpPr>
          <p:cNvPr id="3" name="Text 1"/>
          <p:cNvSpPr txBox="1"/>
          <p:nvPr/>
        </p:nvSpPr>
        <p:spPr>
          <a:xfrm>
            <a:off x="548640" y="566928"/>
            <a:ext cx="10515600" cy="640080"/>
          </a:xfrm>
          <a:prstGeom prst="rect">
            <a:avLst/>
          </a:prstGeom>
          <a:noFill/>
          <a:ln/>
        </p:spPr>
        <p:txBody>
          <a:bodyPr wrap="square" rtlCol="0" anchor="ctr"/>
          <a:lstStyle/>
          <a:p>
            <a:pPr marL="0" indent="0">
              <a:buNone/>
            </a:pPr>
            <a:r>
              <a:rPr lang="en-US" sz="3000" b="1" dirty="0">
                <a:solidFill>
                  <a:srgbClr val="14163A"/>
                </a:solidFill>
                <a:latin typeface="Cambria" pitchFamily="34" charset="0"/>
                <a:ea typeface="Cambria" pitchFamily="34" charset="-122"/>
                <a:cs typeface="Cambria" pitchFamily="34" charset="-120"/>
              </a:rPr>
              <a:t>Every Answer Has a Source</a:t>
            </a:r>
            <a:endParaRPr lang="en-US" sz="3000" dirty="0"/>
          </a:p>
        </p:txBody>
      </p:sp>
      <p:sp>
        <p:nvSpPr>
          <p:cNvPr id="4" name="Shape 2"/>
          <p:cNvSpPr/>
          <p:nvPr/>
        </p:nvSpPr>
        <p:spPr>
          <a:xfrm>
            <a:off x="548640" y="1417320"/>
            <a:ext cx="5760720" cy="594360"/>
          </a:xfrm>
          <a:prstGeom prst="roundRect">
            <a:avLst>
              <a:gd name="adj" fmla="val 46154"/>
            </a:avLst>
          </a:prstGeom>
          <a:solidFill>
            <a:srgbClr val="EFEBFF"/>
          </a:solidFill>
          <a:ln/>
        </p:spPr>
      </p:sp>
      <p:sp>
        <p:nvSpPr>
          <p:cNvPr id="5" name="Text 3"/>
          <p:cNvSpPr txBox="1"/>
          <p:nvPr/>
        </p:nvSpPr>
        <p:spPr>
          <a:xfrm>
            <a:off x="777240" y="1417320"/>
            <a:ext cx="5394960" cy="594360"/>
          </a:xfrm>
          <a:prstGeom prst="rect">
            <a:avLst/>
          </a:prstGeom>
          <a:noFill/>
          <a:ln/>
        </p:spPr>
        <p:txBody>
          <a:bodyPr wrap="square" rtlCol="0" anchor="ctr"/>
          <a:lstStyle/>
          <a:p>
            <a:pPr marL="0" indent="0">
              <a:buNone/>
            </a:pPr>
            <a:r>
              <a:rPr lang="en-US" sz="1150" i="1" dirty="0">
                <a:solidFill>
                  <a:srgbClr val="14163A"/>
                </a:solidFill>
                <a:latin typeface="Calibri" pitchFamily="34" charset="0"/>
                <a:ea typeface="Calibri" pitchFamily="34" charset="-122"/>
                <a:cs typeface="Calibri" pitchFamily="34" charset="-120"/>
              </a:rPr>
              <a:t>"What programming language do I currently prefer?"</a:t>
            </a:r>
            <a:endParaRPr lang="en-US" sz="1150" dirty="0"/>
          </a:p>
        </p:txBody>
      </p:sp>
      <p:sp>
        <p:nvSpPr>
          <p:cNvPr id="6" name="Shape 4"/>
          <p:cNvSpPr/>
          <p:nvPr/>
        </p:nvSpPr>
        <p:spPr>
          <a:xfrm>
            <a:off x="1280160" y="2148840"/>
            <a:ext cx="5760720" cy="594360"/>
          </a:xfrm>
          <a:prstGeom prst="roundRect">
            <a:avLst>
              <a:gd name="adj" fmla="val 46154"/>
            </a:avLst>
          </a:prstGeom>
          <a:solidFill>
            <a:srgbClr val="5B4FE9"/>
          </a:solidFill>
          <a:ln/>
        </p:spPr>
      </p:sp>
      <p:sp>
        <p:nvSpPr>
          <p:cNvPr id="7" name="Text 5"/>
          <p:cNvSpPr txBox="1"/>
          <p:nvPr/>
        </p:nvSpPr>
        <p:spPr>
          <a:xfrm>
            <a:off x="1508760" y="2148840"/>
            <a:ext cx="5394960" cy="59436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"You currently prefer Java."</a:t>
            </a:r>
            <a:endParaRPr lang="en-US" sz="1200" dirty="0"/>
          </a:p>
        </p:txBody>
      </p:sp>
      <p:sp>
        <p:nvSpPr>
          <p:cNvPr id="8" name="Shape 6"/>
          <p:cNvSpPr/>
          <p:nvPr/>
        </p:nvSpPr>
        <p:spPr>
          <a:xfrm>
            <a:off x="548640" y="3017520"/>
            <a:ext cx="11064240" cy="3291840"/>
          </a:xfrm>
          <a:prstGeom prst="roundRect">
            <a:avLst>
              <a:gd name="adj" fmla="val 2778"/>
            </a:avLst>
          </a:prstGeom>
          <a:solidFill>
            <a:srgbClr val="14163A"/>
          </a:solidFill>
          <a:ln/>
          <a:effectLst>
            <a:outerShdw blurRad="101600" dist="38100" dir="5400000" algn="bl" rotWithShape="0">
              <a:srgbClr val="14163A">
                <a:alpha val="12000"/>
              </a:srgbClr>
            </a:outerShdw>
          </a:effectLst>
        </p:spPr>
      </p:sp>
      <p:sp>
        <p:nvSpPr>
          <p:cNvPr id="9" name="Shape 7"/>
          <p:cNvSpPr/>
          <p:nvPr/>
        </p:nvSpPr>
        <p:spPr>
          <a:xfrm>
            <a:off x="1051560" y="3246120"/>
            <a:ext cx="640080" cy="640080"/>
          </a:xfrm>
          <a:prstGeom prst="ellipse">
            <a:avLst/>
          </a:prstGeom>
          <a:solidFill>
            <a:srgbClr val="1E2166"/>
          </a:solidFill>
          <a:ln/>
        </p:spPr>
      </p:sp>
      <p:pic>
        <p:nvPicPr>
          <p:cNvPr id="10" name="Image 0" descr="preencoded.png"/>
          <p:cNvPicPr>
            <a:picLocks noChangeAspect="1"/>
          </p:cNvPicPr>
          <p:nvPr/>
        </p:nvPicPr>
        <p:blipFill>
          <a:blip r:embed="rId3"/>
          <a:stretch>
            <a:fillRect/>
          </a:stretch>
        </p:blipFill>
        <p:spPr>
          <a:xfrm>
            <a:off x="1211580" y="3406140"/>
            <a:ext cx="320040" cy="320040"/>
          </a:xfrm>
          <a:prstGeom prst="rect">
            <a:avLst/>
          </a:prstGeom>
        </p:spPr>
      </p:pic>
      <p:sp>
        <p:nvSpPr>
          <p:cNvPr id="11" name="Text 8"/>
          <p:cNvSpPr txBox="1"/>
          <p:nvPr/>
        </p:nvSpPr>
        <p:spPr>
          <a:xfrm>
            <a:off x="1828800" y="3337560"/>
            <a:ext cx="3657600" cy="365760"/>
          </a:xfrm>
          <a:prstGeom prst="rect">
            <a:avLst/>
          </a:prstGeom>
          <a:noFill/>
          <a:ln/>
        </p:spPr>
        <p:txBody>
          <a:bodyPr wrap="square" rtlCol="0" anchor="ctr"/>
          <a:lstStyle/>
          <a:p>
            <a:pPr marL="0" indent="0">
              <a:buNone/>
            </a:pPr>
            <a:r>
              <a:rPr lang="en-US" sz="1350" b="1" kern="0" spc="150" dirty="0">
                <a:solidFill>
                  <a:srgbClr val="00D9C0"/>
                </a:solidFill>
                <a:latin typeface="Calibri" pitchFamily="34" charset="0"/>
                <a:ea typeface="Calibri" pitchFamily="34" charset="-122"/>
                <a:cs typeface="Calibri" pitchFamily="34" charset="-120"/>
              </a:rPr>
              <a:t>MEMORY USED</a:t>
            </a:r>
            <a:endParaRPr lang="en-US" sz="1350" dirty="0"/>
          </a:p>
        </p:txBody>
      </p:sp>
      <p:sp>
        <p:nvSpPr>
          <p:cNvPr id="12" name="Text 9"/>
          <p:cNvSpPr txBox="1"/>
          <p:nvPr/>
        </p:nvSpPr>
        <p:spPr>
          <a:xfrm>
            <a:off x="868680" y="3977640"/>
            <a:ext cx="2606040" cy="256032"/>
          </a:xfrm>
          <a:prstGeom prst="rect">
            <a:avLst/>
          </a:prstGeom>
          <a:noFill/>
          <a:ln/>
        </p:spPr>
        <p:txBody>
          <a:bodyPr wrap="square" rtlCol="0" anchor="ctr"/>
          <a:lstStyle/>
          <a:p>
            <a:pPr marL="0" indent="0">
              <a:buNone/>
            </a:pPr>
            <a:r>
              <a:rPr lang="en-US" sz="950" b="1" kern="0" spc="100" dirty="0">
                <a:solidFill>
                  <a:srgbClr val="6B6F9E"/>
                </a:solidFill>
                <a:latin typeface="Calibri" pitchFamily="34" charset="0"/>
                <a:ea typeface="Calibri" pitchFamily="34" charset="-122"/>
                <a:cs typeface="Calibri" pitchFamily="34" charset="-120"/>
              </a:rPr>
              <a:t>MEMORY ID</a:t>
            </a:r>
            <a:endParaRPr lang="en-US" sz="950" dirty="0"/>
          </a:p>
        </p:txBody>
      </p:sp>
      <p:sp>
        <p:nvSpPr>
          <p:cNvPr id="13" name="Text 10"/>
          <p:cNvSpPr txBox="1"/>
          <p:nvPr/>
        </p:nvSpPr>
        <p:spPr>
          <a:xfrm>
            <a:off x="868680" y="4233672"/>
            <a:ext cx="2606040" cy="3657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M002</a:t>
            </a:r>
            <a:endParaRPr lang="en-US" sz="1500" dirty="0"/>
          </a:p>
        </p:txBody>
      </p:sp>
      <p:sp>
        <p:nvSpPr>
          <p:cNvPr id="14" name="Text 11"/>
          <p:cNvSpPr txBox="1"/>
          <p:nvPr/>
        </p:nvSpPr>
        <p:spPr>
          <a:xfrm>
            <a:off x="3566160" y="3977640"/>
            <a:ext cx="2606040" cy="256032"/>
          </a:xfrm>
          <a:prstGeom prst="rect">
            <a:avLst/>
          </a:prstGeom>
          <a:noFill/>
          <a:ln/>
        </p:spPr>
        <p:txBody>
          <a:bodyPr wrap="square" rtlCol="0" anchor="ctr"/>
          <a:lstStyle/>
          <a:p>
            <a:pPr marL="0" indent="0">
              <a:buNone/>
            </a:pPr>
            <a:r>
              <a:rPr lang="en-US" sz="950" b="1" kern="0" spc="100" dirty="0">
                <a:solidFill>
                  <a:srgbClr val="6B6F9E"/>
                </a:solidFill>
                <a:latin typeface="Calibri" pitchFamily="34" charset="0"/>
                <a:ea typeface="Calibri" pitchFamily="34" charset="-122"/>
                <a:cs typeface="Calibri" pitchFamily="34" charset="-120"/>
              </a:rPr>
              <a:t>VERSION</a:t>
            </a:r>
            <a:endParaRPr lang="en-US" sz="950" dirty="0"/>
          </a:p>
        </p:txBody>
      </p:sp>
      <p:sp>
        <p:nvSpPr>
          <p:cNvPr id="15" name="Text 12"/>
          <p:cNvSpPr txBox="1"/>
          <p:nvPr/>
        </p:nvSpPr>
        <p:spPr>
          <a:xfrm>
            <a:off x="3566160" y="4233672"/>
            <a:ext cx="2606040" cy="3657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3"/>
          <p:cNvSpPr txBox="1"/>
          <p:nvPr/>
        </p:nvSpPr>
        <p:spPr>
          <a:xfrm>
            <a:off x="6263640" y="3977640"/>
            <a:ext cx="2606040" cy="256032"/>
          </a:xfrm>
          <a:prstGeom prst="rect">
            <a:avLst/>
          </a:prstGeom>
          <a:noFill/>
          <a:ln/>
        </p:spPr>
        <p:txBody>
          <a:bodyPr wrap="square" rtlCol="0" anchor="ctr"/>
          <a:lstStyle/>
          <a:p>
            <a:pPr marL="0" indent="0">
              <a:buNone/>
            </a:pPr>
            <a:r>
              <a:rPr lang="en-US" sz="950" b="1" kern="0" spc="100" dirty="0">
                <a:solidFill>
                  <a:srgbClr val="6B6F9E"/>
                </a:solidFill>
                <a:latin typeface="Calibri" pitchFamily="34" charset="0"/>
                <a:ea typeface="Calibri" pitchFamily="34" charset="-122"/>
                <a:cs typeface="Calibri" pitchFamily="34" charset="-120"/>
              </a:rPr>
              <a:t>STATUS</a:t>
            </a:r>
            <a:endParaRPr lang="en-US" sz="950" dirty="0"/>
          </a:p>
        </p:txBody>
      </p:sp>
      <p:sp>
        <p:nvSpPr>
          <p:cNvPr id="17" name="Shape 14"/>
          <p:cNvSpPr/>
          <p:nvPr/>
        </p:nvSpPr>
        <p:spPr>
          <a:xfrm>
            <a:off x="6263640" y="4251960"/>
            <a:ext cx="1188720" cy="329184"/>
          </a:xfrm>
          <a:prstGeom prst="roundRect">
            <a:avLst>
              <a:gd name="adj" fmla="val 50000"/>
            </a:avLst>
          </a:prstGeom>
          <a:solidFill>
            <a:srgbClr val="2ECC87"/>
          </a:solidFill>
          <a:ln/>
        </p:spPr>
      </p:sp>
      <p:sp>
        <p:nvSpPr>
          <p:cNvPr id="18" name="Text 15"/>
          <p:cNvSpPr txBox="1"/>
          <p:nvPr/>
        </p:nvSpPr>
        <p:spPr>
          <a:xfrm>
            <a:off x="6263640" y="4233672"/>
            <a:ext cx="1188720" cy="32918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ACTIVE</a:t>
            </a:r>
            <a:endParaRPr lang="en-US" sz="1100" dirty="0"/>
          </a:p>
        </p:txBody>
      </p:sp>
      <p:sp>
        <p:nvSpPr>
          <p:cNvPr id="19" name="Text 16"/>
          <p:cNvSpPr txBox="1"/>
          <p:nvPr/>
        </p:nvSpPr>
        <p:spPr>
          <a:xfrm>
            <a:off x="8961120" y="3977640"/>
            <a:ext cx="2606040" cy="256032"/>
          </a:xfrm>
          <a:prstGeom prst="rect">
            <a:avLst/>
          </a:prstGeom>
          <a:noFill/>
          <a:ln/>
        </p:spPr>
        <p:txBody>
          <a:bodyPr wrap="square" rtlCol="0" anchor="ctr"/>
          <a:lstStyle/>
          <a:p>
            <a:pPr marL="0" indent="0">
              <a:buNone/>
            </a:pPr>
            <a:r>
              <a:rPr lang="en-US" sz="950" b="1" kern="0" spc="100" dirty="0">
                <a:solidFill>
                  <a:srgbClr val="6B6F9E"/>
                </a:solidFill>
                <a:latin typeface="Calibri" pitchFamily="34" charset="0"/>
                <a:ea typeface="Calibri" pitchFamily="34" charset="-122"/>
                <a:cs typeface="Calibri" pitchFamily="34" charset="-120"/>
              </a:rPr>
              <a:t>UPDATED</a:t>
            </a:r>
            <a:endParaRPr lang="en-US" sz="950" dirty="0"/>
          </a:p>
        </p:txBody>
      </p:sp>
      <p:sp>
        <p:nvSpPr>
          <p:cNvPr id="20" name="Text 17"/>
          <p:cNvSpPr txBox="1"/>
          <p:nvPr/>
        </p:nvSpPr>
        <p:spPr>
          <a:xfrm>
            <a:off x="8961120" y="4233672"/>
            <a:ext cx="2606040" cy="3657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17 September 2026</a:t>
            </a:r>
            <a:endParaRPr lang="en-US" sz="1500" dirty="0"/>
          </a:p>
        </p:txBody>
      </p:sp>
      <p:sp>
        <p:nvSpPr>
          <p:cNvPr id="21" name="Text 18"/>
          <p:cNvSpPr txBox="1"/>
          <p:nvPr/>
        </p:nvSpPr>
        <p:spPr>
          <a:xfrm>
            <a:off x="868680" y="4663440"/>
            <a:ext cx="5486400" cy="256032"/>
          </a:xfrm>
          <a:prstGeom prst="rect">
            <a:avLst/>
          </a:prstGeom>
          <a:noFill/>
          <a:ln/>
        </p:spPr>
        <p:txBody>
          <a:bodyPr wrap="square" rtlCol="0" anchor="ctr"/>
          <a:lstStyle/>
          <a:p>
            <a:pPr marL="0" indent="0">
              <a:buNone/>
            </a:pPr>
            <a:r>
              <a:rPr lang="en-US" sz="950" b="1" kern="0" spc="100" dirty="0">
                <a:solidFill>
                  <a:srgbClr val="6B6F9E"/>
                </a:solidFill>
                <a:latin typeface="Calibri" pitchFamily="34" charset="0"/>
                <a:ea typeface="Calibri" pitchFamily="34" charset="-122"/>
                <a:cs typeface="Calibri" pitchFamily="34" charset="-120"/>
              </a:rPr>
              <a:t>FACT</a:t>
            </a:r>
            <a:endParaRPr lang="en-US" sz="950" dirty="0"/>
          </a:p>
        </p:txBody>
      </p:sp>
      <p:sp>
        <p:nvSpPr>
          <p:cNvPr id="22" name="Text 19"/>
          <p:cNvSpPr txBox="1"/>
          <p:nvPr/>
        </p:nvSpPr>
        <p:spPr>
          <a:xfrm>
            <a:off x="868680" y="4919472"/>
            <a:ext cx="7315200" cy="365760"/>
          </a:xfrm>
          <a:prstGeom prst="rect">
            <a:avLst/>
          </a:prstGeom>
          <a:noFill/>
          <a:ln/>
        </p:spPr>
        <p:txBody>
          <a:bodyPr wrap="square" rtlCol="0" anchor="ctr"/>
          <a:lstStyle/>
          <a:p>
            <a:pPr marL="0" indent="0">
              <a:buNone/>
            </a:pPr>
            <a:r>
              <a:rPr lang="en-US" sz="1400" i="1" dirty="0">
                <a:solidFill>
                  <a:srgbClr val="FFFFFF"/>
                </a:solidFill>
                <a:latin typeface="Cambria" pitchFamily="34" charset="0"/>
                <a:ea typeface="Cambria" pitchFamily="34" charset="-122"/>
                <a:cs typeface="Cambria" pitchFamily="34" charset="-120"/>
              </a:rPr>
              <a:t>"User currently prefers Java"</a:t>
            </a:r>
            <a:endParaRPr lang="en-US" sz="1400" dirty="0"/>
          </a:p>
        </p:txBody>
      </p:sp>
      <p:sp>
        <p:nvSpPr>
          <p:cNvPr id="23" name="Text 20"/>
          <p:cNvSpPr txBox="1"/>
          <p:nvPr/>
        </p:nvSpPr>
        <p:spPr>
          <a:xfrm>
            <a:off x="868680" y="5440680"/>
            <a:ext cx="2743200" cy="256032"/>
          </a:xfrm>
          <a:prstGeom prst="rect">
            <a:avLst/>
          </a:prstGeom>
          <a:noFill/>
          <a:ln/>
        </p:spPr>
        <p:txBody>
          <a:bodyPr wrap="square" rtlCol="0" anchor="ctr"/>
          <a:lstStyle/>
          <a:p>
            <a:pPr marL="0" indent="0">
              <a:buNone/>
            </a:pPr>
            <a:r>
              <a:rPr lang="en-US" sz="950" b="1" kern="0" spc="100" dirty="0">
                <a:solidFill>
                  <a:srgbClr val="6B6F9E"/>
                </a:solidFill>
                <a:latin typeface="Calibri" pitchFamily="34" charset="0"/>
                <a:ea typeface="Calibri" pitchFamily="34" charset="-122"/>
                <a:cs typeface="Calibri" pitchFamily="34" charset="-120"/>
              </a:rPr>
              <a:t>PREVIOUS</a:t>
            </a:r>
            <a:endParaRPr lang="en-US" sz="950" dirty="0"/>
          </a:p>
        </p:txBody>
      </p:sp>
      <p:sp>
        <p:nvSpPr>
          <p:cNvPr id="24" name="Text 21"/>
          <p:cNvSpPr txBox="1"/>
          <p:nvPr/>
        </p:nvSpPr>
        <p:spPr>
          <a:xfrm>
            <a:off x="868680" y="5687568"/>
            <a:ext cx="4114800" cy="320040"/>
          </a:xfrm>
          <a:prstGeom prst="rect">
            <a:avLst/>
          </a:prstGeom>
          <a:noFill/>
          <a:ln/>
        </p:spPr>
        <p:txBody>
          <a:bodyPr wrap="square" rtlCol="0" anchor="ctr"/>
          <a:lstStyle/>
          <a:p>
            <a:pPr marL="0" indent="0">
              <a:buNone/>
            </a:pPr>
            <a:r>
              <a:rPr lang="en-US" sz="1150" i="1" dirty="0">
                <a:solidFill>
                  <a:srgbClr val="B9BBE0"/>
                </a:solidFill>
                <a:latin typeface="Calibri" pitchFamily="34" charset="0"/>
                <a:ea typeface="Calibri" pitchFamily="34" charset="-122"/>
                <a:cs typeface="Calibri" pitchFamily="34" charset="-120"/>
              </a:rPr>
              <a:t>"User prefers Python"</a:t>
            </a:r>
            <a:endParaRPr lang="en-US" sz="1150" dirty="0"/>
          </a:p>
        </p:txBody>
      </p:sp>
      <p:sp>
        <p:nvSpPr>
          <p:cNvPr id="25" name="Shape 22"/>
          <p:cNvSpPr/>
          <p:nvPr/>
        </p:nvSpPr>
        <p:spPr>
          <a:xfrm>
            <a:off x="4160520" y="5669280"/>
            <a:ext cx="1463040" cy="347472"/>
          </a:xfrm>
          <a:prstGeom prst="roundRect">
            <a:avLst>
              <a:gd name="adj" fmla="val 50000"/>
            </a:avLst>
          </a:prstGeom>
          <a:solidFill>
            <a:srgbClr val="E8635C"/>
          </a:solidFill>
          <a:ln/>
        </p:spPr>
      </p:sp>
      <p:sp>
        <p:nvSpPr>
          <p:cNvPr id="26" name="Text 23"/>
          <p:cNvSpPr txBox="1"/>
          <p:nvPr/>
        </p:nvSpPr>
        <p:spPr>
          <a:xfrm>
            <a:off x="4160520" y="5650992"/>
            <a:ext cx="1463040"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SUPERSEDED</a:t>
            </a:r>
            <a:endParaRPr lang="en-US" sz="1000" dirty="0"/>
          </a:p>
        </p:txBody>
      </p:sp>
      <p:sp>
        <p:nvSpPr>
          <p:cNvPr id="27" name="Text 24"/>
          <p:cNvSpPr txBox="1"/>
          <p:nvPr/>
        </p:nvSpPr>
        <p:spPr>
          <a:xfrm>
            <a:off x="7406640" y="5349240"/>
            <a:ext cx="3931920" cy="822960"/>
          </a:xfrm>
          <a:prstGeom prst="rect">
            <a:avLst/>
          </a:prstGeom>
          <a:noFill/>
          <a:ln/>
        </p:spPr>
        <p:txBody>
          <a:bodyPr wrap="square" rtlCol="0" anchor="ctr"/>
          <a:lstStyle/>
          <a:p>
            <a:pPr marL="0" indent="0">
              <a:buNone/>
            </a:pPr>
            <a:r>
              <a:rPr lang="en-US" sz="1100" i="1" dirty="0">
                <a:solidFill>
                  <a:srgbClr val="CADCFC"/>
                </a:solidFill>
                <a:latin typeface="Calibri" pitchFamily="34" charset="0"/>
                <a:ea typeface="Calibri" pitchFamily="34" charset="-122"/>
                <a:cs typeface="Calibri" pitchFamily="34" charset="-120"/>
              </a:rPr>
              <a:t>The user and the judge can trace exactly which stored memory produced which answer.</a:t>
            </a:r>
            <a:endParaRPr lang="en-US" sz="1100" dirty="0"/>
          </a:p>
        </p:txBody>
      </p:sp>
      <p:sp>
        <p:nvSpPr>
          <p:cNvPr id="28" name="Text 25"/>
          <p:cNvSpPr txBox="1"/>
          <p:nvPr/>
        </p:nvSpPr>
        <p:spPr>
          <a:xfrm>
            <a:off x="11475720" y="6473952"/>
            <a:ext cx="548640" cy="274320"/>
          </a:xfrm>
          <a:prstGeom prst="rect">
            <a:avLst/>
          </a:prstGeom>
          <a:noFill/>
          <a:ln/>
        </p:spPr>
        <p:txBody>
          <a:bodyPr wrap="square" rtlCol="0" anchor="ctr"/>
          <a:lstStyle/>
          <a:p>
            <a:pPr marL="0" indent="0" algn="r">
              <a:buNone/>
            </a:pPr>
            <a:r>
              <a:rPr lang="en-US" sz="900" dirty="0">
                <a:solidFill>
                  <a:srgbClr val="6B6F9E"/>
                </a:solidFill>
                <a:latin typeface="Calibri" pitchFamily="34" charset="0"/>
                <a:ea typeface="Calibri" pitchFamily="34" charset="-122"/>
                <a:cs typeface="Calibri" pitchFamily="34" charset="-120"/>
              </a:rPr>
              <a:t>13</a:t>
            </a:r>
            <a:endParaRPr lang="en-US" sz="900" dirty="0"/>
          </a:p>
        </p:txBody>
      </p:sp>
      <p:sp>
        <p:nvSpPr>
          <p:cNvPr id="29" name="Text 26"/>
          <p:cNvSpPr txBox="1"/>
          <p:nvPr/>
        </p:nvSpPr>
        <p:spPr>
          <a:xfrm>
            <a:off x="548640" y="6473952"/>
            <a:ext cx="2743200" cy="274320"/>
          </a:xfrm>
          <a:prstGeom prst="rect">
            <a:avLst/>
          </a:prstGeom>
          <a:noFill/>
          <a:ln/>
        </p:spPr>
        <p:txBody>
          <a:bodyPr wrap="square" rtlCol="0" anchor="ctr"/>
          <a:lstStyle/>
          <a:p>
            <a:pPr marL="0" indent="0">
              <a:buNone/>
            </a:pPr>
            <a:r>
              <a:rPr lang="en-US" sz="900" kern="0" spc="100" dirty="0">
                <a:solidFill>
                  <a:srgbClr val="6B6F9E"/>
                </a:solidFill>
                <a:latin typeface="Calibri" pitchFamily="34" charset="0"/>
                <a:ea typeface="Calibri" pitchFamily="34" charset="-122"/>
                <a:cs typeface="Calibri" pitchFamily="34" charset="-120"/>
              </a:rPr>
              <a:t>MEMORA</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6FC"/>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rtlCol="0" anchor="ctr"/>
          <a:lstStyle/>
          <a:p>
            <a:pPr marL="0" indent="0">
              <a:buNone/>
            </a:pPr>
            <a:r>
              <a:rPr lang="en-US" sz="1250" b="1" kern="0" spc="200" dirty="0">
                <a:solidFill>
                  <a:srgbClr val="5B4FE9"/>
                </a:solidFill>
                <a:latin typeface="Calibri" pitchFamily="34" charset="0"/>
                <a:ea typeface="Calibri" pitchFamily="34" charset="-122"/>
                <a:cs typeface="Calibri" pitchFamily="34" charset="-120"/>
              </a:rPr>
              <a:t>TECHNOLOGY STACK</a:t>
            </a:r>
            <a:endParaRPr lang="en-US" sz="1250" dirty="0"/>
          </a:p>
        </p:txBody>
      </p:sp>
      <p:sp>
        <p:nvSpPr>
          <p:cNvPr id="3" name="Text 1"/>
          <p:cNvSpPr txBox="1"/>
          <p:nvPr/>
        </p:nvSpPr>
        <p:spPr>
          <a:xfrm>
            <a:off x="548640" y="566928"/>
            <a:ext cx="10515600" cy="640080"/>
          </a:xfrm>
          <a:prstGeom prst="rect">
            <a:avLst/>
          </a:prstGeom>
          <a:noFill/>
          <a:ln/>
        </p:spPr>
        <p:txBody>
          <a:bodyPr wrap="square" rtlCol="0" anchor="ctr"/>
          <a:lstStyle/>
          <a:p>
            <a:pPr marL="0" indent="0">
              <a:buNone/>
            </a:pPr>
            <a:r>
              <a:rPr lang="en-US" sz="3000" b="1" dirty="0">
                <a:solidFill>
                  <a:srgbClr val="14163A"/>
                </a:solidFill>
                <a:latin typeface="Cambria" pitchFamily="34" charset="0"/>
                <a:ea typeface="Cambria" pitchFamily="34" charset="-122"/>
                <a:cs typeface="Cambria" pitchFamily="34" charset="-120"/>
              </a:rPr>
              <a:t>What Powers MEMORA</a:t>
            </a:r>
            <a:endParaRPr lang="en-US" sz="3000" dirty="0"/>
          </a:p>
        </p:txBody>
      </p:sp>
      <p:sp>
        <p:nvSpPr>
          <p:cNvPr id="4" name="Shape 2"/>
          <p:cNvSpPr/>
          <p:nvPr/>
        </p:nvSpPr>
        <p:spPr>
          <a:xfrm>
            <a:off x="548640" y="1417320"/>
            <a:ext cx="5349240" cy="868680"/>
          </a:xfrm>
          <a:prstGeom prst="roundRect">
            <a:avLst>
              <a:gd name="adj" fmla="val 10526"/>
            </a:avLst>
          </a:prstGeom>
          <a:solidFill>
            <a:srgbClr val="FFFFFF"/>
          </a:solidFill>
          <a:ln w="9525">
            <a:solidFill>
              <a:srgbClr val="DCDCF0"/>
            </a:solidFill>
            <a:prstDash val="solid"/>
          </a:ln>
          <a:effectLst>
            <a:outerShdw blurRad="101600" dist="38100" dir="5400000" algn="bl" rotWithShape="0">
              <a:srgbClr val="14163A">
                <a:alpha val="12000"/>
              </a:srgbClr>
            </a:outerShdw>
          </a:effectLst>
        </p:spPr>
      </p:sp>
      <p:sp>
        <p:nvSpPr>
          <p:cNvPr id="5" name="Shape 3"/>
          <p:cNvSpPr/>
          <p:nvPr/>
        </p:nvSpPr>
        <p:spPr>
          <a:xfrm>
            <a:off x="859536" y="1568196"/>
            <a:ext cx="566928" cy="566928"/>
          </a:xfrm>
          <a:prstGeom prst="ellipse">
            <a:avLst/>
          </a:prstGeom>
          <a:solidFill>
            <a:srgbClr val="5B4FE9"/>
          </a:solidFill>
          <a:ln/>
        </p:spPr>
      </p:sp>
      <p:pic>
        <p:nvPicPr>
          <p:cNvPr id="6" name="Image 0" descr="preencoded.png"/>
          <p:cNvPicPr>
            <a:picLocks noChangeAspect="1"/>
          </p:cNvPicPr>
          <p:nvPr/>
        </p:nvPicPr>
        <p:blipFill>
          <a:blip r:embed="rId3"/>
          <a:stretch>
            <a:fillRect/>
          </a:stretch>
        </p:blipFill>
        <p:spPr>
          <a:xfrm>
            <a:off x="1001268" y="1709928"/>
            <a:ext cx="283464" cy="283464"/>
          </a:xfrm>
          <a:prstGeom prst="rect">
            <a:avLst/>
          </a:prstGeom>
        </p:spPr>
      </p:pic>
      <p:sp>
        <p:nvSpPr>
          <p:cNvPr id="7" name="Text 4"/>
          <p:cNvSpPr txBox="1"/>
          <p:nvPr/>
        </p:nvSpPr>
        <p:spPr>
          <a:xfrm>
            <a:off x="1691640" y="1572768"/>
            <a:ext cx="2971800" cy="292608"/>
          </a:xfrm>
          <a:prstGeom prst="rect">
            <a:avLst/>
          </a:prstGeom>
          <a:noFill/>
          <a:ln/>
        </p:spPr>
        <p:txBody>
          <a:bodyPr wrap="square" rtlCol="0" anchor="ctr"/>
          <a:lstStyle/>
          <a:p>
            <a:pPr marL="0" indent="0">
              <a:buNone/>
            </a:pPr>
            <a:r>
              <a:rPr lang="en-US" sz="1150" dirty="0">
                <a:solidFill>
                  <a:srgbClr val="6B6F9E"/>
                </a:solidFill>
                <a:latin typeface="Calibri" pitchFamily="34" charset="0"/>
                <a:ea typeface="Calibri" pitchFamily="34" charset="-122"/>
                <a:cs typeface="Calibri" pitchFamily="34" charset="-120"/>
              </a:rPr>
              <a:t>Frontend</a:t>
            </a:r>
            <a:endParaRPr lang="en-US" sz="1150" dirty="0"/>
          </a:p>
        </p:txBody>
      </p:sp>
      <p:sp>
        <p:nvSpPr>
          <p:cNvPr id="8" name="Text 5"/>
          <p:cNvSpPr txBox="1"/>
          <p:nvPr/>
        </p:nvSpPr>
        <p:spPr>
          <a:xfrm>
            <a:off x="1691640" y="1837944"/>
            <a:ext cx="2971800" cy="365760"/>
          </a:xfrm>
          <a:prstGeom prst="rect">
            <a:avLst/>
          </a:prstGeom>
          <a:noFill/>
          <a:ln/>
        </p:spPr>
        <p:txBody>
          <a:bodyPr wrap="square" rtlCol="0" anchor="ctr"/>
          <a:lstStyle/>
          <a:p>
            <a:pPr marL="0" indent="0">
              <a:buNone/>
            </a:pPr>
            <a:r>
              <a:rPr lang="en-US" sz="1550" b="1" dirty="0">
                <a:solidFill>
                  <a:srgbClr val="14163A"/>
                </a:solidFill>
                <a:latin typeface="Calibri" pitchFamily="34" charset="0"/>
                <a:ea typeface="Calibri" pitchFamily="34" charset="-122"/>
                <a:cs typeface="Calibri" pitchFamily="34" charset="-120"/>
              </a:rPr>
              <a:t>React.js</a:t>
            </a:r>
            <a:endParaRPr lang="en-US" sz="1550" dirty="0"/>
          </a:p>
        </p:txBody>
      </p:sp>
      <p:sp>
        <p:nvSpPr>
          <p:cNvPr id="9" name="Shape 6"/>
          <p:cNvSpPr/>
          <p:nvPr/>
        </p:nvSpPr>
        <p:spPr>
          <a:xfrm>
            <a:off x="548640" y="2487168"/>
            <a:ext cx="5349240" cy="868680"/>
          </a:xfrm>
          <a:prstGeom prst="roundRect">
            <a:avLst>
              <a:gd name="adj" fmla="val 10526"/>
            </a:avLst>
          </a:prstGeom>
          <a:solidFill>
            <a:srgbClr val="FFFFFF"/>
          </a:solidFill>
          <a:ln w="9525">
            <a:solidFill>
              <a:srgbClr val="DCDCF0"/>
            </a:solidFill>
            <a:prstDash val="solid"/>
          </a:ln>
          <a:effectLst>
            <a:outerShdw blurRad="101600" dist="38100" dir="5400000" algn="bl" rotWithShape="0">
              <a:srgbClr val="14163A">
                <a:alpha val="12000"/>
              </a:srgbClr>
            </a:outerShdw>
          </a:effectLst>
        </p:spPr>
      </p:sp>
      <p:sp>
        <p:nvSpPr>
          <p:cNvPr id="10" name="Shape 7"/>
          <p:cNvSpPr/>
          <p:nvPr/>
        </p:nvSpPr>
        <p:spPr>
          <a:xfrm>
            <a:off x="859536" y="2638044"/>
            <a:ext cx="566928" cy="566928"/>
          </a:xfrm>
          <a:prstGeom prst="ellipse">
            <a:avLst/>
          </a:prstGeom>
          <a:solidFill>
            <a:srgbClr val="14163A"/>
          </a:solidFill>
          <a:ln/>
        </p:spPr>
      </p:sp>
      <p:pic>
        <p:nvPicPr>
          <p:cNvPr id="11" name="Image 1" descr="preencoded.png"/>
          <p:cNvPicPr>
            <a:picLocks noChangeAspect="1"/>
          </p:cNvPicPr>
          <p:nvPr/>
        </p:nvPicPr>
        <p:blipFill>
          <a:blip r:embed="rId4"/>
          <a:stretch>
            <a:fillRect/>
          </a:stretch>
        </p:blipFill>
        <p:spPr>
          <a:xfrm>
            <a:off x="1001268" y="2779776"/>
            <a:ext cx="283464" cy="283464"/>
          </a:xfrm>
          <a:prstGeom prst="rect">
            <a:avLst/>
          </a:prstGeom>
        </p:spPr>
      </p:pic>
      <p:sp>
        <p:nvSpPr>
          <p:cNvPr id="12" name="Text 8"/>
          <p:cNvSpPr txBox="1"/>
          <p:nvPr/>
        </p:nvSpPr>
        <p:spPr>
          <a:xfrm>
            <a:off x="1691640" y="2642616"/>
            <a:ext cx="2971800" cy="292608"/>
          </a:xfrm>
          <a:prstGeom prst="rect">
            <a:avLst/>
          </a:prstGeom>
          <a:noFill/>
          <a:ln/>
        </p:spPr>
        <p:txBody>
          <a:bodyPr wrap="square" rtlCol="0" anchor="ctr"/>
          <a:lstStyle/>
          <a:p>
            <a:pPr marL="0" indent="0">
              <a:buNone/>
            </a:pPr>
            <a:r>
              <a:rPr lang="en-US" sz="1150" dirty="0">
                <a:solidFill>
                  <a:srgbClr val="6B6F9E"/>
                </a:solidFill>
                <a:latin typeface="Calibri" pitchFamily="34" charset="0"/>
                <a:ea typeface="Calibri" pitchFamily="34" charset="-122"/>
                <a:cs typeface="Calibri" pitchFamily="34" charset="-120"/>
              </a:rPr>
              <a:t>Backend</a:t>
            </a:r>
            <a:endParaRPr lang="en-US" sz="1150" dirty="0"/>
          </a:p>
        </p:txBody>
      </p:sp>
      <p:sp>
        <p:nvSpPr>
          <p:cNvPr id="13" name="Text 9"/>
          <p:cNvSpPr txBox="1"/>
          <p:nvPr/>
        </p:nvSpPr>
        <p:spPr>
          <a:xfrm>
            <a:off x="1691640" y="2907792"/>
            <a:ext cx="2971800" cy="365760"/>
          </a:xfrm>
          <a:prstGeom prst="rect">
            <a:avLst/>
          </a:prstGeom>
          <a:noFill/>
          <a:ln/>
        </p:spPr>
        <p:txBody>
          <a:bodyPr wrap="square" rtlCol="0" anchor="ctr"/>
          <a:lstStyle/>
          <a:p>
            <a:pPr marL="0" indent="0">
              <a:buNone/>
            </a:pPr>
            <a:r>
              <a:rPr lang="en-US" sz="1550" b="1" dirty="0">
                <a:solidFill>
                  <a:srgbClr val="14163A"/>
                </a:solidFill>
                <a:latin typeface="Calibri" pitchFamily="34" charset="0"/>
                <a:ea typeface="Calibri" pitchFamily="34" charset="-122"/>
                <a:cs typeface="Calibri" pitchFamily="34" charset="-120"/>
              </a:rPr>
              <a:t>Python / FastAPI</a:t>
            </a:r>
            <a:endParaRPr lang="en-US" sz="1550" dirty="0"/>
          </a:p>
        </p:txBody>
      </p:sp>
      <p:sp>
        <p:nvSpPr>
          <p:cNvPr id="14" name="Shape 10"/>
          <p:cNvSpPr/>
          <p:nvPr/>
        </p:nvSpPr>
        <p:spPr>
          <a:xfrm>
            <a:off x="548640" y="3557016"/>
            <a:ext cx="5349240" cy="868680"/>
          </a:xfrm>
          <a:prstGeom prst="roundRect">
            <a:avLst>
              <a:gd name="adj" fmla="val 10526"/>
            </a:avLst>
          </a:prstGeom>
          <a:solidFill>
            <a:srgbClr val="FFFFFF"/>
          </a:solidFill>
          <a:ln w="9525">
            <a:solidFill>
              <a:srgbClr val="DCDCF0"/>
            </a:solidFill>
            <a:prstDash val="solid"/>
          </a:ln>
          <a:effectLst>
            <a:outerShdw blurRad="101600" dist="38100" dir="5400000" algn="bl" rotWithShape="0">
              <a:srgbClr val="14163A">
                <a:alpha val="12000"/>
              </a:srgbClr>
            </a:outerShdw>
          </a:effectLst>
        </p:spPr>
      </p:sp>
      <p:sp>
        <p:nvSpPr>
          <p:cNvPr id="15" name="Shape 11"/>
          <p:cNvSpPr/>
          <p:nvPr/>
        </p:nvSpPr>
        <p:spPr>
          <a:xfrm>
            <a:off x="859536" y="3707892"/>
            <a:ext cx="566928" cy="566928"/>
          </a:xfrm>
          <a:prstGeom prst="ellipse">
            <a:avLst/>
          </a:prstGeom>
          <a:solidFill>
            <a:srgbClr val="00D9C0"/>
          </a:solidFill>
          <a:ln/>
        </p:spPr>
      </p:sp>
      <p:pic>
        <p:nvPicPr>
          <p:cNvPr id="16" name="Image 2" descr="preencoded.png"/>
          <p:cNvPicPr>
            <a:picLocks noChangeAspect="1"/>
          </p:cNvPicPr>
          <p:nvPr/>
        </p:nvPicPr>
        <p:blipFill>
          <a:blip r:embed="rId5"/>
          <a:stretch>
            <a:fillRect/>
          </a:stretch>
        </p:blipFill>
        <p:spPr>
          <a:xfrm>
            <a:off x="1001268" y="3849624"/>
            <a:ext cx="283464" cy="283464"/>
          </a:xfrm>
          <a:prstGeom prst="rect">
            <a:avLst/>
          </a:prstGeom>
        </p:spPr>
      </p:pic>
      <p:sp>
        <p:nvSpPr>
          <p:cNvPr id="17" name="Text 12"/>
          <p:cNvSpPr txBox="1"/>
          <p:nvPr/>
        </p:nvSpPr>
        <p:spPr>
          <a:xfrm>
            <a:off x="1691640" y="3712464"/>
            <a:ext cx="2971800" cy="292608"/>
          </a:xfrm>
          <a:prstGeom prst="rect">
            <a:avLst/>
          </a:prstGeom>
          <a:noFill/>
          <a:ln/>
        </p:spPr>
        <p:txBody>
          <a:bodyPr wrap="square" rtlCol="0" anchor="ctr"/>
          <a:lstStyle/>
          <a:p>
            <a:pPr marL="0" indent="0">
              <a:buNone/>
            </a:pPr>
            <a:r>
              <a:rPr lang="en-US" sz="1150" dirty="0">
                <a:solidFill>
                  <a:srgbClr val="6B6F9E"/>
                </a:solidFill>
                <a:latin typeface="Calibri" pitchFamily="34" charset="0"/>
                <a:ea typeface="Calibri" pitchFamily="34" charset="-122"/>
                <a:cs typeface="Calibri" pitchFamily="34" charset="-120"/>
              </a:rPr>
              <a:t>LLM</a:t>
            </a:r>
            <a:endParaRPr lang="en-US" sz="1150" dirty="0"/>
          </a:p>
        </p:txBody>
      </p:sp>
      <p:sp>
        <p:nvSpPr>
          <p:cNvPr id="18" name="Text 13"/>
          <p:cNvSpPr txBox="1"/>
          <p:nvPr/>
        </p:nvSpPr>
        <p:spPr>
          <a:xfrm>
            <a:off x="1691640" y="3977640"/>
            <a:ext cx="2971800" cy="365760"/>
          </a:xfrm>
          <a:prstGeom prst="rect">
            <a:avLst/>
          </a:prstGeom>
          <a:noFill/>
          <a:ln/>
        </p:spPr>
        <p:txBody>
          <a:bodyPr wrap="square" rtlCol="0" anchor="ctr"/>
          <a:lstStyle/>
          <a:p>
            <a:pPr marL="0" indent="0">
              <a:buNone/>
            </a:pPr>
            <a:r>
              <a:rPr lang="en-US" sz="1550" b="1" dirty="0">
                <a:solidFill>
                  <a:srgbClr val="14163A"/>
                </a:solidFill>
                <a:latin typeface="Calibri" pitchFamily="34" charset="0"/>
                <a:ea typeface="Calibri" pitchFamily="34" charset="-122"/>
                <a:cs typeface="Calibri" pitchFamily="34" charset="-120"/>
              </a:rPr>
              <a:t>OpenAI API</a:t>
            </a:r>
            <a:endParaRPr lang="en-US" sz="1550" dirty="0"/>
          </a:p>
        </p:txBody>
      </p:sp>
      <p:sp>
        <p:nvSpPr>
          <p:cNvPr id="19" name="Shape 14"/>
          <p:cNvSpPr/>
          <p:nvPr/>
        </p:nvSpPr>
        <p:spPr>
          <a:xfrm>
            <a:off x="548640" y="4626864"/>
            <a:ext cx="5349240" cy="868680"/>
          </a:xfrm>
          <a:prstGeom prst="roundRect">
            <a:avLst>
              <a:gd name="adj" fmla="val 10526"/>
            </a:avLst>
          </a:prstGeom>
          <a:solidFill>
            <a:srgbClr val="FFFFFF"/>
          </a:solidFill>
          <a:ln w="9525">
            <a:solidFill>
              <a:srgbClr val="DCDCF0"/>
            </a:solidFill>
            <a:prstDash val="solid"/>
          </a:ln>
          <a:effectLst>
            <a:outerShdw blurRad="101600" dist="38100" dir="5400000" algn="bl" rotWithShape="0">
              <a:srgbClr val="14163A">
                <a:alpha val="12000"/>
              </a:srgbClr>
            </a:outerShdw>
          </a:effectLst>
        </p:spPr>
      </p:sp>
      <p:sp>
        <p:nvSpPr>
          <p:cNvPr id="20" name="Shape 15"/>
          <p:cNvSpPr/>
          <p:nvPr/>
        </p:nvSpPr>
        <p:spPr>
          <a:xfrm>
            <a:off x="859536" y="4777740"/>
            <a:ext cx="566928" cy="566928"/>
          </a:xfrm>
          <a:prstGeom prst="ellipse">
            <a:avLst/>
          </a:prstGeom>
          <a:solidFill>
            <a:srgbClr val="F5A623"/>
          </a:solidFill>
          <a:ln/>
        </p:spPr>
      </p:sp>
      <p:pic>
        <p:nvPicPr>
          <p:cNvPr id="21" name="Image 3" descr="preencoded.png"/>
          <p:cNvPicPr>
            <a:picLocks noChangeAspect="1"/>
          </p:cNvPicPr>
          <p:nvPr/>
        </p:nvPicPr>
        <p:blipFill>
          <a:blip r:embed="rId6"/>
          <a:stretch>
            <a:fillRect/>
          </a:stretch>
        </p:blipFill>
        <p:spPr>
          <a:xfrm>
            <a:off x="1001268" y="4919472"/>
            <a:ext cx="283464" cy="283464"/>
          </a:xfrm>
          <a:prstGeom prst="rect">
            <a:avLst/>
          </a:prstGeom>
        </p:spPr>
      </p:pic>
      <p:sp>
        <p:nvSpPr>
          <p:cNvPr id="22" name="Text 16"/>
          <p:cNvSpPr txBox="1"/>
          <p:nvPr/>
        </p:nvSpPr>
        <p:spPr>
          <a:xfrm>
            <a:off x="1691640" y="4782312"/>
            <a:ext cx="2971800" cy="292608"/>
          </a:xfrm>
          <a:prstGeom prst="rect">
            <a:avLst/>
          </a:prstGeom>
          <a:noFill/>
          <a:ln/>
        </p:spPr>
        <p:txBody>
          <a:bodyPr wrap="square" rtlCol="0" anchor="ctr"/>
          <a:lstStyle/>
          <a:p>
            <a:pPr marL="0" indent="0">
              <a:buNone/>
            </a:pPr>
            <a:r>
              <a:rPr lang="en-US" sz="1150" dirty="0">
                <a:solidFill>
                  <a:srgbClr val="6B6F9E"/>
                </a:solidFill>
                <a:latin typeface="Calibri" pitchFamily="34" charset="0"/>
                <a:ea typeface="Calibri" pitchFamily="34" charset="-122"/>
                <a:cs typeface="Calibri" pitchFamily="34" charset="-120"/>
              </a:rPr>
              <a:t>Embeddings</a:t>
            </a:r>
            <a:endParaRPr lang="en-US" sz="1150" dirty="0"/>
          </a:p>
        </p:txBody>
      </p:sp>
      <p:sp>
        <p:nvSpPr>
          <p:cNvPr id="23" name="Text 17"/>
          <p:cNvSpPr txBox="1"/>
          <p:nvPr/>
        </p:nvSpPr>
        <p:spPr>
          <a:xfrm>
            <a:off x="1691640" y="5047488"/>
            <a:ext cx="2971800" cy="365760"/>
          </a:xfrm>
          <a:prstGeom prst="rect">
            <a:avLst/>
          </a:prstGeom>
          <a:noFill/>
          <a:ln/>
        </p:spPr>
        <p:txBody>
          <a:bodyPr wrap="square" rtlCol="0" anchor="ctr"/>
          <a:lstStyle/>
          <a:p>
            <a:pPr marL="0" indent="0">
              <a:buNone/>
            </a:pPr>
            <a:r>
              <a:rPr lang="en-US" sz="1550" b="1" dirty="0">
                <a:solidFill>
                  <a:srgbClr val="14163A"/>
                </a:solidFill>
                <a:latin typeface="Calibri" pitchFamily="34" charset="0"/>
                <a:ea typeface="Calibri" pitchFamily="34" charset="-122"/>
                <a:cs typeface="Calibri" pitchFamily="34" charset="-120"/>
              </a:rPr>
              <a:t>OpenAI Embeddings</a:t>
            </a:r>
            <a:endParaRPr lang="en-US" sz="1550" dirty="0"/>
          </a:p>
        </p:txBody>
      </p:sp>
      <p:sp>
        <p:nvSpPr>
          <p:cNvPr id="24" name="Shape 18"/>
          <p:cNvSpPr/>
          <p:nvPr/>
        </p:nvSpPr>
        <p:spPr>
          <a:xfrm>
            <a:off x="6172200" y="1417320"/>
            <a:ext cx="5349240" cy="868680"/>
          </a:xfrm>
          <a:prstGeom prst="roundRect">
            <a:avLst>
              <a:gd name="adj" fmla="val 10526"/>
            </a:avLst>
          </a:prstGeom>
          <a:solidFill>
            <a:srgbClr val="FFFFFF"/>
          </a:solidFill>
          <a:ln w="9525">
            <a:solidFill>
              <a:srgbClr val="DCDCF0"/>
            </a:solidFill>
            <a:prstDash val="solid"/>
          </a:ln>
          <a:effectLst>
            <a:outerShdw blurRad="101600" dist="38100" dir="5400000" algn="bl" rotWithShape="0">
              <a:srgbClr val="14163A">
                <a:alpha val="12000"/>
              </a:srgbClr>
            </a:outerShdw>
          </a:effectLst>
        </p:spPr>
      </p:sp>
      <p:sp>
        <p:nvSpPr>
          <p:cNvPr id="25" name="Shape 19"/>
          <p:cNvSpPr/>
          <p:nvPr/>
        </p:nvSpPr>
        <p:spPr>
          <a:xfrm>
            <a:off x="6483096" y="1568196"/>
            <a:ext cx="566928" cy="566928"/>
          </a:xfrm>
          <a:prstGeom prst="ellipse">
            <a:avLst/>
          </a:prstGeom>
          <a:solidFill>
            <a:srgbClr val="5B4FE9"/>
          </a:solidFill>
          <a:ln/>
        </p:spPr>
      </p:sp>
      <p:pic>
        <p:nvPicPr>
          <p:cNvPr id="26" name="Image 4" descr="preencoded.png"/>
          <p:cNvPicPr>
            <a:picLocks noChangeAspect="1"/>
          </p:cNvPicPr>
          <p:nvPr/>
        </p:nvPicPr>
        <p:blipFill>
          <a:blip r:embed="rId7"/>
          <a:stretch>
            <a:fillRect/>
          </a:stretch>
        </p:blipFill>
        <p:spPr>
          <a:xfrm>
            <a:off x="6624828" y="1709928"/>
            <a:ext cx="283464" cy="283464"/>
          </a:xfrm>
          <a:prstGeom prst="rect">
            <a:avLst/>
          </a:prstGeom>
        </p:spPr>
      </p:pic>
      <p:sp>
        <p:nvSpPr>
          <p:cNvPr id="27" name="Text 20"/>
          <p:cNvSpPr txBox="1"/>
          <p:nvPr/>
        </p:nvSpPr>
        <p:spPr>
          <a:xfrm>
            <a:off x="7315200" y="1572768"/>
            <a:ext cx="2971800" cy="292608"/>
          </a:xfrm>
          <a:prstGeom prst="rect">
            <a:avLst/>
          </a:prstGeom>
          <a:noFill/>
          <a:ln/>
        </p:spPr>
        <p:txBody>
          <a:bodyPr wrap="square" rtlCol="0" anchor="ctr"/>
          <a:lstStyle/>
          <a:p>
            <a:pPr marL="0" indent="0">
              <a:buNone/>
            </a:pPr>
            <a:r>
              <a:rPr lang="en-US" sz="1150" dirty="0">
                <a:solidFill>
                  <a:srgbClr val="6B6F9E"/>
                </a:solidFill>
                <a:latin typeface="Calibri" pitchFamily="34" charset="0"/>
                <a:ea typeface="Calibri" pitchFamily="34" charset="-122"/>
                <a:cs typeface="Calibri" pitchFamily="34" charset="-120"/>
              </a:rPr>
              <a:t>Vector Database</a:t>
            </a:r>
            <a:endParaRPr lang="en-US" sz="1150" dirty="0"/>
          </a:p>
        </p:txBody>
      </p:sp>
      <p:sp>
        <p:nvSpPr>
          <p:cNvPr id="28" name="Text 21"/>
          <p:cNvSpPr txBox="1"/>
          <p:nvPr/>
        </p:nvSpPr>
        <p:spPr>
          <a:xfrm>
            <a:off x="7315200" y="1837944"/>
            <a:ext cx="2971800" cy="365760"/>
          </a:xfrm>
          <a:prstGeom prst="rect">
            <a:avLst/>
          </a:prstGeom>
          <a:noFill/>
          <a:ln/>
        </p:spPr>
        <p:txBody>
          <a:bodyPr wrap="square" rtlCol="0" anchor="ctr"/>
          <a:lstStyle/>
          <a:p>
            <a:pPr marL="0" indent="0">
              <a:buNone/>
            </a:pPr>
            <a:r>
              <a:rPr lang="en-US" sz="1550" b="1" dirty="0">
                <a:solidFill>
                  <a:srgbClr val="14163A"/>
                </a:solidFill>
                <a:latin typeface="Calibri" pitchFamily="34" charset="0"/>
                <a:ea typeface="Calibri" pitchFamily="34" charset="-122"/>
                <a:cs typeface="Calibri" pitchFamily="34" charset="-120"/>
              </a:rPr>
              <a:t>ChromaDB</a:t>
            </a:r>
            <a:endParaRPr lang="en-US" sz="1550" dirty="0"/>
          </a:p>
        </p:txBody>
      </p:sp>
      <p:sp>
        <p:nvSpPr>
          <p:cNvPr id="29" name="Shape 22"/>
          <p:cNvSpPr/>
          <p:nvPr/>
        </p:nvSpPr>
        <p:spPr>
          <a:xfrm>
            <a:off x="6172200" y="2487168"/>
            <a:ext cx="5349240" cy="868680"/>
          </a:xfrm>
          <a:prstGeom prst="roundRect">
            <a:avLst>
              <a:gd name="adj" fmla="val 10526"/>
            </a:avLst>
          </a:prstGeom>
          <a:solidFill>
            <a:srgbClr val="FFFFFF"/>
          </a:solidFill>
          <a:ln w="9525">
            <a:solidFill>
              <a:srgbClr val="DCDCF0"/>
            </a:solidFill>
            <a:prstDash val="solid"/>
          </a:ln>
          <a:effectLst>
            <a:outerShdw blurRad="101600" dist="38100" dir="5400000" algn="bl" rotWithShape="0">
              <a:srgbClr val="14163A">
                <a:alpha val="12000"/>
              </a:srgbClr>
            </a:outerShdw>
          </a:effectLst>
        </p:spPr>
      </p:sp>
      <p:sp>
        <p:nvSpPr>
          <p:cNvPr id="30" name="Shape 23"/>
          <p:cNvSpPr/>
          <p:nvPr/>
        </p:nvSpPr>
        <p:spPr>
          <a:xfrm>
            <a:off x="6483096" y="2638044"/>
            <a:ext cx="566928" cy="566928"/>
          </a:xfrm>
          <a:prstGeom prst="ellipse">
            <a:avLst/>
          </a:prstGeom>
          <a:solidFill>
            <a:srgbClr val="14163A"/>
          </a:solidFill>
          <a:ln/>
        </p:spPr>
      </p:sp>
      <p:pic>
        <p:nvPicPr>
          <p:cNvPr id="31" name="Image 5" descr="preencoded.png"/>
          <p:cNvPicPr>
            <a:picLocks noChangeAspect="1"/>
          </p:cNvPicPr>
          <p:nvPr/>
        </p:nvPicPr>
        <p:blipFill>
          <a:blip r:embed="rId8"/>
          <a:stretch>
            <a:fillRect/>
          </a:stretch>
        </p:blipFill>
        <p:spPr>
          <a:xfrm>
            <a:off x="6624828" y="2779776"/>
            <a:ext cx="283464" cy="283464"/>
          </a:xfrm>
          <a:prstGeom prst="rect">
            <a:avLst/>
          </a:prstGeom>
        </p:spPr>
      </p:pic>
      <p:sp>
        <p:nvSpPr>
          <p:cNvPr id="32" name="Text 24"/>
          <p:cNvSpPr txBox="1"/>
          <p:nvPr/>
        </p:nvSpPr>
        <p:spPr>
          <a:xfrm>
            <a:off x="7315200" y="2642616"/>
            <a:ext cx="2971800" cy="292608"/>
          </a:xfrm>
          <a:prstGeom prst="rect">
            <a:avLst/>
          </a:prstGeom>
          <a:noFill/>
          <a:ln/>
        </p:spPr>
        <p:txBody>
          <a:bodyPr wrap="square" rtlCol="0" anchor="ctr"/>
          <a:lstStyle/>
          <a:p>
            <a:pPr marL="0" indent="0">
              <a:buNone/>
            </a:pPr>
            <a:r>
              <a:rPr lang="en-US" sz="1150" dirty="0">
                <a:solidFill>
                  <a:srgbClr val="6B6F9E"/>
                </a:solidFill>
                <a:latin typeface="Calibri" pitchFamily="34" charset="0"/>
                <a:ea typeface="Calibri" pitchFamily="34" charset="-122"/>
                <a:cs typeface="Calibri" pitchFamily="34" charset="-120"/>
              </a:rPr>
              <a:t>Structured Database</a:t>
            </a:r>
            <a:endParaRPr lang="en-US" sz="1150" dirty="0"/>
          </a:p>
        </p:txBody>
      </p:sp>
      <p:sp>
        <p:nvSpPr>
          <p:cNvPr id="33" name="Text 25"/>
          <p:cNvSpPr txBox="1"/>
          <p:nvPr/>
        </p:nvSpPr>
        <p:spPr>
          <a:xfrm>
            <a:off x="7315200" y="2907792"/>
            <a:ext cx="2971800" cy="365760"/>
          </a:xfrm>
          <a:prstGeom prst="rect">
            <a:avLst/>
          </a:prstGeom>
          <a:noFill/>
          <a:ln/>
        </p:spPr>
        <p:txBody>
          <a:bodyPr wrap="square" rtlCol="0" anchor="ctr"/>
          <a:lstStyle/>
          <a:p>
            <a:pPr marL="0" indent="0">
              <a:buNone/>
            </a:pPr>
            <a:r>
              <a:rPr lang="en-US" sz="1550" b="1" dirty="0">
                <a:solidFill>
                  <a:srgbClr val="14163A"/>
                </a:solidFill>
                <a:latin typeface="Calibri" pitchFamily="34" charset="0"/>
                <a:ea typeface="Calibri" pitchFamily="34" charset="-122"/>
                <a:cs typeface="Calibri" pitchFamily="34" charset="-120"/>
              </a:rPr>
              <a:t>SQLite</a:t>
            </a:r>
            <a:endParaRPr lang="en-US" sz="1550" dirty="0"/>
          </a:p>
        </p:txBody>
      </p:sp>
      <p:sp>
        <p:nvSpPr>
          <p:cNvPr id="34" name="Shape 26"/>
          <p:cNvSpPr/>
          <p:nvPr/>
        </p:nvSpPr>
        <p:spPr>
          <a:xfrm>
            <a:off x="6172200" y="3557016"/>
            <a:ext cx="5349240" cy="868680"/>
          </a:xfrm>
          <a:prstGeom prst="roundRect">
            <a:avLst>
              <a:gd name="adj" fmla="val 10526"/>
            </a:avLst>
          </a:prstGeom>
          <a:solidFill>
            <a:srgbClr val="FFFFFF"/>
          </a:solidFill>
          <a:ln w="9525">
            <a:solidFill>
              <a:srgbClr val="DCDCF0"/>
            </a:solidFill>
            <a:prstDash val="solid"/>
          </a:ln>
          <a:effectLst>
            <a:outerShdw blurRad="101600" dist="38100" dir="5400000" algn="bl" rotWithShape="0">
              <a:srgbClr val="14163A">
                <a:alpha val="12000"/>
              </a:srgbClr>
            </a:outerShdw>
          </a:effectLst>
        </p:spPr>
      </p:sp>
      <p:sp>
        <p:nvSpPr>
          <p:cNvPr id="35" name="Shape 27"/>
          <p:cNvSpPr/>
          <p:nvPr/>
        </p:nvSpPr>
        <p:spPr>
          <a:xfrm>
            <a:off x="6483096" y="3707892"/>
            <a:ext cx="566928" cy="566928"/>
          </a:xfrm>
          <a:prstGeom prst="ellipse">
            <a:avLst/>
          </a:prstGeom>
          <a:solidFill>
            <a:srgbClr val="00D9C0"/>
          </a:solidFill>
          <a:ln/>
        </p:spPr>
      </p:sp>
      <p:pic>
        <p:nvPicPr>
          <p:cNvPr id="36" name="Image 6" descr="preencoded.png"/>
          <p:cNvPicPr>
            <a:picLocks noChangeAspect="1"/>
          </p:cNvPicPr>
          <p:nvPr/>
        </p:nvPicPr>
        <p:blipFill>
          <a:blip r:embed="rId9"/>
          <a:stretch>
            <a:fillRect/>
          </a:stretch>
        </p:blipFill>
        <p:spPr>
          <a:xfrm>
            <a:off x="6624828" y="3849624"/>
            <a:ext cx="283464" cy="283464"/>
          </a:xfrm>
          <a:prstGeom prst="rect">
            <a:avLst/>
          </a:prstGeom>
        </p:spPr>
      </p:pic>
      <p:sp>
        <p:nvSpPr>
          <p:cNvPr id="37" name="Text 28"/>
          <p:cNvSpPr txBox="1"/>
          <p:nvPr/>
        </p:nvSpPr>
        <p:spPr>
          <a:xfrm>
            <a:off x="7315200" y="3712464"/>
            <a:ext cx="2971800" cy="292608"/>
          </a:xfrm>
          <a:prstGeom prst="rect">
            <a:avLst/>
          </a:prstGeom>
          <a:noFill/>
          <a:ln/>
        </p:spPr>
        <p:txBody>
          <a:bodyPr wrap="square" rtlCol="0" anchor="ctr"/>
          <a:lstStyle/>
          <a:p>
            <a:pPr marL="0" indent="0">
              <a:buNone/>
            </a:pPr>
            <a:r>
              <a:rPr lang="en-US" sz="1150" dirty="0">
                <a:solidFill>
                  <a:srgbClr val="6B6F9E"/>
                </a:solidFill>
                <a:latin typeface="Calibri" pitchFamily="34" charset="0"/>
                <a:ea typeface="Calibri" pitchFamily="34" charset="-122"/>
                <a:cs typeface="Calibri" pitchFamily="34" charset="-120"/>
              </a:rPr>
              <a:t>API Communication</a:t>
            </a:r>
            <a:endParaRPr lang="en-US" sz="1150" dirty="0"/>
          </a:p>
        </p:txBody>
      </p:sp>
      <p:sp>
        <p:nvSpPr>
          <p:cNvPr id="38" name="Text 29"/>
          <p:cNvSpPr txBox="1"/>
          <p:nvPr/>
        </p:nvSpPr>
        <p:spPr>
          <a:xfrm>
            <a:off x="7315200" y="3977640"/>
            <a:ext cx="2971800" cy="365760"/>
          </a:xfrm>
          <a:prstGeom prst="rect">
            <a:avLst/>
          </a:prstGeom>
          <a:noFill/>
          <a:ln/>
        </p:spPr>
        <p:txBody>
          <a:bodyPr wrap="square" rtlCol="0" anchor="ctr"/>
          <a:lstStyle/>
          <a:p>
            <a:pPr marL="0" indent="0">
              <a:buNone/>
            </a:pPr>
            <a:r>
              <a:rPr lang="en-US" sz="1550" b="1" dirty="0">
                <a:solidFill>
                  <a:srgbClr val="14163A"/>
                </a:solidFill>
                <a:latin typeface="Calibri" pitchFamily="34" charset="0"/>
                <a:ea typeface="Calibri" pitchFamily="34" charset="-122"/>
                <a:cs typeface="Calibri" pitchFamily="34" charset="-120"/>
              </a:rPr>
              <a:t>REST</a:t>
            </a:r>
            <a:endParaRPr lang="en-US" sz="1550" dirty="0"/>
          </a:p>
        </p:txBody>
      </p:sp>
      <p:sp>
        <p:nvSpPr>
          <p:cNvPr id="39" name="Shape 30"/>
          <p:cNvSpPr/>
          <p:nvPr/>
        </p:nvSpPr>
        <p:spPr>
          <a:xfrm>
            <a:off x="6172200" y="4626864"/>
            <a:ext cx="5349240" cy="868680"/>
          </a:xfrm>
          <a:prstGeom prst="roundRect">
            <a:avLst>
              <a:gd name="adj" fmla="val 10526"/>
            </a:avLst>
          </a:prstGeom>
          <a:solidFill>
            <a:srgbClr val="FFFFFF"/>
          </a:solidFill>
          <a:ln w="9525">
            <a:solidFill>
              <a:srgbClr val="DCDCF0"/>
            </a:solidFill>
            <a:prstDash val="solid"/>
          </a:ln>
          <a:effectLst>
            <a:outerShdw blurRad="101600" dist="38100" dir="5400000" algn="bl" rotWithShape="0">
              <a:srgbClr val="14163A">
                <a:alpha val="12000"/>
              </a:srgbClr>
            </a:outerShdw>
          </a:effectLst>
        </p:spPr>
      </p:sp>
      <p:sp>
        <p:nvSpPr>
          <p:cNvPr id="40" name="Shape 31"/>
          <p:cNvSpPr/>
          <p:nvPr/>
        </p:nvSpPr>
        <p:spPr>
          <a:xfrm>
            <a:off x="6483096" y="4777740"/>
            <a:ext cx="566928" cy="566928"/>
          </a:xfrm>
          <a:prstGeom prst="ellipse">
            <a:avLst/>
          </a:prstGeom>
          <a:solidFill>
            <a:srgbClr val="F5A623"/>
          </a:solidFill>
          <a:ln/>
        </p:spPr>
      </p:sp>
      <p:pic>
        <p:nvPicPr>
          <p:cNvPr id="41" name="Image 7" descr="preencoded.png"/>
          <p:cNvPicPr>
            <a:picLocks noChangeAspect="1"/>
          </p:cNvPicPr>
          <p:nvPr/>
        </p:nvPicPr>
        <p:blipFill>
          <a:blip r:embed="rId10"/>
          <a:stretch>
            <a:fillRect/>
          </a:stretch>
        </p:blipFill>
        <p:spPr>
          <a:xfrm>
            <a:off x="6624828" y="4919472"/>
            <a:ext cx="283464" cy="283464"/>
          </a:xfrm>
          <a:prstGeom prst="rect">
            <a:avLst/>
          </a:prstGeom>
        </p:spPr>
      </p:pic>
      <p:sp>
        <p:nvSpPr>
          <p:cNvPr id="42" name="Text 32"/>
          <p:cNvSpPr txBox="1"/>
          <p:nvPr/>
        </p:nvSpPr>
        <p:spPr>
          <a:xfrm>
            <a:off x="7315200" y="4782312"/>
            <a:ext cx="2971800" cy="292608"/>
          </a:xfrm>
          <a:prstGeom prst="rect">
            <a:avLst/>
          </a:prstGeom>
          <a:noFill/>
          <a:ln/>
        </p:spPr>
        <p:txBody>
          <a:bodyPr wrap="square" rtlCol="0" anchor="ctr"/>
          <a:lstStyle/>
          <a:p>
            <a:pPr marL="0" indent="0">
              <a:buNone/>
            </a:pPr>
            <a:r>
              <a:rPr lang="en-US" sz="1150" dirty="0">
                <a:solidFill>
                  <a:srgbClr val="6B6F9E"/>
                </a:solidFill>
                <a:latin typeface="Calibri" pitchFamily="34" charset="0"/>
                <a:ea typeface="Calibri" pitchFamily="34" charset="-122"/>
                <a:cs typeface="Calibri" pitchFamily="34" charset="-120"/>
              </a:rPr>
              <a:t>UI Styling</a:t>
            </a:r>
            <a:endParaRPr lang="en-US" sz="1150" dirty="0"/>
          </a:p>
        </p:txBody>
      </p:sp>
      <p:sp>
        <p:nvSpPr>
          <p:cNvPr id="43" name="Text 33"/>
          <p:cNvSpPr txBox="1"/>
          <p:nvPr/>
        </p:nvSpPr>
        <p:spPr>
          <a:xfrm>
            <a:off x="7315200" y="5047488"/>
            <a:ext cx="2971800" cy="365760"/>
          </a:xfrm>
          <a:prstGeom prst="rect">
            <a:avLst/>
          </a:prstGeom>
          <a:noFill/>
          <a:ln/>
        </p:spPr>
        <p:txBody>
          <a:bodyPr wrap="square" rtlCol="0" anchor="ctr"/>
          <a:lstStyle/>
          <a:p>
            <a:pPr marL="0" indent="0">
              <a:buNone/>
            </a:pPr>
            <a:r>
              <a:rPr lang="en-US" sz="1550" b="1" dirty="0">
                <a:solidFill>
                  <a:srgbClr val="14163A"/>
                </a:solidFill>
                <a:latin typeface="Calibri" pitchFamily="34" charset="0"/>
                <a:ea typeface="Calibri" pitchFamily="34" charset="-122"/>
                <a:cs typeface="Calibri" pitchFamily="34" charset="-120"/>
              </a:rPr>
              <a:t>Tailwind CSS</a:t>
            </a:r>
            <a:endParaRPr lang="en-US" sz="1550" dirty="0"/>
          </a:p>
        </p:txBody>
      </p:sp>
      <p:sp>
        <p:nvSpPr>
          <p:cNvPr id="44" name="Shape 34"/>
          <p:cNvSpPr/>
          <p:nvPr/>
        </p:nvSpPr>
        <p:spPr>
          <a:xfrm>
            <a:off x="548640" y="5669280"/>
            <a:ext cx="11064240" cy="658368"/>
          </a:xfrm>
          <a:prstGeom prst="roundRect">
            <a:avLst>
              <a:gd name="adj" fmla="val 13889"/>
            </a:avLst>
          </a:prstGeom>
          <a:solidFill>
            <a:srgbClr val="14163A"/>
          </a:solidFill>
          <a:ln/>
        </p:spPr>
      </p:sp>
      <p:sp>
        <p:nvSpPr>
          <p:cNvPr id="45" name="Text 35"/>
          <p:cNvSpPr txBox="1"/>
          <p:nvPr/>
        </p:nvSpPr>
        <p:spPr>
          <a:xfrm>
            <a:off x="822960" y="5760720"/>
            <a:ext cx="3322320" cy="237744"/>
          </a:xfrm>
          <a:prstGeom prst="rect">
            <a:avLst/>
          </a:prstGeom>
          <a:noFill/>
          <a:ln/>
        </p:spPr>
        <p:txBody>
          <a:bodyPr wrap="square" rtlCol="0" anchor="ctr"/>
          <a:lstStyle/>
          <a:p>
            <a:pPr marL="0" indent="0">
              <a:buNone/>
            </a:pPr>
            <a:r>
              <a:rPr lang="en-US" sz="1200" b="1" dirty="0">
                <a:solidFill>
                  <a:srgbClr val="00D9C0"/>
                </a:solidFill>
                <a:latin typeface="Calibri" pitchFamily="34" charset="0"/>
                <a:ea typeface="Calibri" pitchFamily="34" charset="-122"/>
                <a:cs typeface="Calibri" pitchFamily="34" charset="-120"/>
              </a:rPr>
              <a:t>Vector DB</a:t>
            </a:r>
            <a:endParaRPr lang="en-US" sz="1200" dirty="0"/>
          </a:p>
        </p:txBody>
      </p:sp>
      <p:sp>
        <p:nvSpPr>
          <p:cNvPr id="46" name="Text 36"/>
          <p:cNvSpPr txBox="1"/>
          <p:nvPr/>
        </p:nvSpPr>
        <p:spPr>
          <a:xfrm>
            <a:off x="822960" y="5998464"/>
            <a:ext cx="3322320" cy="274320"/>
          </a:xfrm>
          <a:prstGeom prst="rect">
            <a:avLst/>
          </a:prstGeom>
          <a:noFill/>
          <a:ln/>
        </p:spPr>
        <p:txBody>
          <a:bodyPr wrap="square" rtlCol="0" anchor="ctr"/>
          <a:lstStyle/>
          <a:p>
            <a:pPr marL="0" indent="0">
              <a:buNone/>
            </a:pPr>
            <a:r>
              <a:rPr lang="en-US" sz="1000" dirty="0">
                <a:solidFill>
                  <a:srgbClr val="CADCFC"/>
                </a:solidFill>
                <a:latin typeface="Calibri" pitchFamily="34" charset="0"/>
                <a:ea typeface="Calibri" pitchFamily="34" charset="-122"/>
                <a:cs typeface="Calibri" pitchFamily="34" charset="-120"/>
              </a:rPr>
              <a:t>Semantic retrieval</a:t>
            </a:r>
            <a:endParaRPr lang="en-US" sz="1000" dirty="0"/>
          </a:p>
        </p:txBody>
      </p:sp>
      <p:sp>
        <p:nvSpPr>
          <p:cNvPr id="47" name="Text 37"/>
          <p:cNvSpPr txBox="1"/>
          <p:nvPr/>
        </p:nvSpPr>
        <p:spPr>
          <a:xfrm>
            <a:off x="4511040" y="5760720"/>
            <a:ext cx="3322320" cy="237744"/>
          </a:xfrm>
          <a:prstGeom prst="rect">
            <a:avLst/>
          </a:prstGeom>
          <a:noFill/>
          <a:ln/>
        </p:spPr>
        <p:txBody>
          <a:bodyPr wrap="square" rtlCol="0" anchor="ctr"/>
          <a:lstStyle/>
          <a:p>
            <a:pPr marL="0" indent="0">
              <a:buNone/>
            </a:pPr>
            <a:r>
              <a:rPr lang="en-US" sz="1200" b="1" dirty="0">
                <a:solidFill>
                  <a:srgbClr val="00D9C0"/>
                </a:solidFill>
                <a:latin typeface="Calibri" pitchFamily="34" charset="0"/>
                <a:ea typeface="Calibri" pitchFamily="34" charset="-122"/>
                <a:cs typeface="Calibri" pitchFamily="34" charset="-120"/>
              </a:rPr>
              <a:t>SQLite</a:t>
            </a:r>
            <a:endParaRPr lang="en-US" sz="1200" dirty="0"/>
          </a:p>
        </p:txBody>
      </p:sp>
      <p:sp>
        <p:nvSpPr>
          <p:cNvPr id="48" name="Text 38"/>
          <p:cNvSpPr txBox="1"/>
          <p:nvPr/>
        </p:nvSpPr>
        <p:spPr>
          <a:xfrm>
            <a:off x="4511040" y="5998464"/>
            <a:ext cx="3322320" cy="274320"/>
          </a:xfrm>
          <a:prstGeom prst="rect">
            <a:avLst/>
          </a:prstGeom>
          <a:noFill/>
          <a:ln/>
        </p:spPr>
        <p:txBody>
          <a:bodyPr wrap="square" rtlCol="0" anchor="ctr"/>
          <a:lstStyle/>
          <a:p>
            <a:pPr marL="0" indent="0">
              <a:buNone/>
            </a:pPr>
            <a:r>
              <a:rPr lang="en-US" sz="1000" dirty="0">
                <a:solidFill>
                  <a:srgbClr val="CADCFC"/>
                </a:solidFill>
                <a:latin typeface="Calibri" pitchFamily="34" charset="0"/>
                <a:ea typeface="Calibri" pitchFamily="34" charset="-122"/>
                <a:cs typeface="Calibri" pitchFamily="34" charset="-120"/>
              </a:rPr>
              <a:t>State &amp; lifecycle</a:t>
            </a:r>
            <a:endParaRPr lang="en-US" sz="1000" dirty="0"/>
          </a:p>
        </p:txBody>
      </p:sp>
      <p:sp>
        <p:nvSpPr>
          <p:cNvPr id="49" name="Text 39"/>
          <p:cNvSpPr txBox="1"/>
          <p:nvPr/>
        </p:nvSpPr>
        <p:spPr>
          <a:xfrm>
            <a:off x="8199120" y="5760720"/>
            <a:ext cx="3322320" cy="237744"/>
          </a:xfrm>
          <a:prstGeom prst="rect">
            <a:avLst/>
          </a:prstGeom>
          <a:noFill/>
          <a:ln/>
        </p:spPr>
        <p:txBody>
          <a:bodyPr wrap="square" rtlCol="0" anchor="ctr"/>
          <a:lstStyle/>
          <a:p>
            <a:pPr marL="0" indent="0">
              <a:buNone/>
            </a:pPr>
            <a:r>
              <a:rPr lang="en-US" sz="1200" b="1" dirty="0">
                <a:solidFill>
                  <a:srgbClr val="00D9C0"/>
                </a:solidFill>
                <a:latin typeface="Calibri" pitchFamily="34" charset="0"/>
                <a:ea typeface="Calibri" pitchFamily="34" charset="-122"/>
                <a:cs typeface="Calibri" pitchFamily="34" charset="-120"/>
              </a:rPr>
              <a:t>Memory Engine</a:t>
            </a:r>
            <a:endParaRPr lang="en-US" sz="1200" dirty="0"/>
          </a:p>
        </p:txBody>
      </p:sp>
      <p:sp>
        <p:nvSpPr>
          <p:cNvPr id="50" name="Text 40"/>
          <p:cNvSpPr txBox="1"/>
          <p:nvPr/>
        </p:nvSpPr>
        <p:spPr>
          <a:xfrm>
            <a:off x="8199120" y="5998464"/>
            <a:ext cx="3322320" cy="274320"/>
          </a:xfrm>
          <a:prstGeom prst="rect">
            <a:avLst/>
          </a:prstGeom>
          <a:noFill/>
          <a:ln/>
        </p:spPr>
        <p:txBody>
          <a:bodyPr wrap="square" rtlCol="0" anchor="ctr"/>
          <a:lstStyle/>
          <a:p>
            <a:pPr marL="0" indent="0">
              <a:buNone/>
            </a:pPr>
            <a:r>
              <a:rPr lang="en-US" sz="1000" dirty="0">
                <a:solidFill>
                  <a:srgbClr val="CADCFC"/>
                </a:solidFill>
                <a:latin typeface="Calibri" pitchFamily="34" charset="0"/>
                <a:ea typeface="Calibri" pitchFamily="34" charset="-122"/>
                <a:cs typeface="Calibri" pitchFamily="34" charset="-120"/>
              </a:rPr>
              <a:t>Intelligence behind memory</a:t>
            </a:r>
            <a:endParaRPr lang="en-US" sz="1000" dirty="0"/>
          </a:p>
        </p:txBody>
      </p:sp>
      <p:sp>
        <p:nvSpPr>
          <p:cNvPr id="51" name="Text 41"/>
          <p:cNvSpPr txBox="1"/>
          <p:nvPr/>
        </p:nvSpPr>
        <p:spPr>
          <a:xfrm>
            <a:off x="11475720" y="6473952"/>
            <a:ext cx="548640" cy="274320"/>
          </a:xfrm>
          <a:prstGeom prst="rect">
            <a:avLst/>
          </a:prstGeom>
          <a:noFill/>
          <a:ln/>
        </p:spPr>
        <p:txBody>
          <a:bodyPr wrap="square" rtlCol="0" anchor="ctr"/>
          <a:lstStyle/>
          <a:p>
            <a:pPr marL="0" indent="0" algn="r">
              <a:buNone/>
            </a:pPr>
            <a:r>
              <a:rPr lang="en-US" sz="900" dirty="0">
                <a:solidFill>
                  <a:srgbClr val="6B6F9E"/>
                </a:solidFill>
                <a:latin typeface="Calibri" pitchFamily="34" charset="0"/>
                <a:ea typeface="Calibri" pitchFamily="34" charset="-122"/>
                <a:cs typeface="Calibri" pitchFamily="34" charset="-120"/>
              </a:rPr>
              <a:t>14</a:t>
            </a:r>
            <a:endParaRPr lang="en-US" sz="900" dirty="0"/>
          </a:p>
        </p:txBody>
      </p:sp>
      <p:sp>
        <p:nvSpPr>
          <p:cNvPr id="52" name="Text 42"/>
          <p:cNvSpPr txBox="1"/>
          <p:nvPr/>
        </p:nvSpPr>
        <p:spPr>
          <a:xfrm>
            <a:off x="548640" y="6473952"/>
            <a:ext cx="2743200" cy="274320"/>
          </a:xfrm>
          <a:prstGeom prst="rect">
            <a:avLst/>
          </a:prstGeom>
          <a:noFill/>
          <a:ln/>
        </p:spPr>
        <p:txBody>
          <a:bodyPr wrap="square" rtlCol="0" anchor="ctr"/>
          <a:lstStyle/>
          <a:p>
            <a:pPr marL="0" indent="0">
              <a:buNone/>
            </a:pPr>
            <a:r>
              <a:rPr lang="en-US" sz="900" kern="0" spc="100" dirty="0">
                <a:solidFill>
                  <a:srgbClr val="6B6F9E"/>
                </a:solidFill>
                <a:latin typeface="Calibri" pitchFamily="34" charset="0"/>
                <a:ea typeface="Calibri" pitchFamily="34" charset="-122"/>
                <a:cs typeface="Calibri" pitchFamily="34" charset="-120"/>
              </a:rPr>
              <a:t>MEMORA</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6FC"/>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rtlCol="0" anchor="ctr"/>
          <a:lstStyle/>
          <a:p>
            <a:pPr marL="0" indent="0">
              <a:buNone/>
            </a:pPr>
            <a:r>
              <a:rPr lang="en-US" sz="1250" b="1" kern="0" spc="200" dirty="0">
                <a:solidFill>
                  <a:srgbClr val="5B4FE9"/>
                </a:solidFill>
                <a:latin typeface="Calibri" pitchFamily="34" charset="0"/>
                <a:ea typeface="Calibri" pitchFamily="34" charset="-122"/>
                <a:cs typeface="Calibri" pitchFamily="34" charset="-120"/>
              </a:rPr>
              <a:t>LIVE DEMONSTRATION</a:t>
            </a:r>
            <a:endParaRPr lang="en-US" sz="1250" dirty="0"/>
          </a:p>
        </p:txBody>
      </p:sp>
      <p:sp>
        <p:nvSpPr>
          <p:cNvPr id="3" name="Text 1"/>
          <p:cNvSpPr txBox="1"/>
          <p:nvPr/>
        </p:nvSpPr>
        <p:spPr>
          <a:xfrm>
            <a:off x="548640" y="566928"/>
            <a:ext cx="10515600" cy="640080"/>
          </a:xfrm>
          <a:prstGeom prst="rect">
            <a:avLst/>
          </a:prstGeom>
          <a:noFill/>
          <a:ln/>
        </p:spPr>
        <p:txBody>
          <a:bodyPr wrap="square" rtlCol="0" anchor="ctr"/>
          <a:lstStyle/>
          <a:p>
            <a:pPr marL="0" indent="0">
              <a:buNone/>
            </a:pPr>
            <a:r>
              <a:rPr lang="en-US" sz="3000" b="1" dirty="0">
                <a:solidFill>
                  <a:srgbClr val="14163A"/>
                </a:solidFill>
                <a:latin typeface="Cambria" pitchFamily="34" charset="0"/>
                <a:ea typeface="Cambria" pitchFamily="34" charset="-122"/>
                <a:cs typeface="Cambria" pitchFamily="34" charset="-120"/>
              </a:rPr>
              <a:t>Expected Results</a:t>
            </a:r>
            <a:endParaRPr lang="en-US" sz="3000" dirty="0"/>
          </a:p>
        </p:txBody>
      </p:sp>
      <p:sp>
        <p:nvSpPr>
          <p:cNvPr id="4" name="Shape 2"/>
          <p:cNvSpPr/>
          <p:nvPr/>
        </p:nvSpPr>
        <p:spPr>
          <a:xfrm>
            <a:off x="548640" y="1417320"/>
            <a:ext cx="5394960" cy="2148840"/>
          </a:xfrm>
          <a:prstGeom prst="roundRect">
            <a:avLst>
              <a:gd name="adj" fmla="val 4255"/>
            </a:avLst>
          </a:prstGeom>
          <a:solidFill>
            <a:srgbClr val="FFFFFF"/>
          </a:solidFill>
          <a:ln w="9525">
            <a:solidFill>
              <a:srgbClr val="DCDCF0"/>
            </a:solidFill>
            <a:prstDash val="solid"/>
          </a:ln>
          <a:effectLst>
            <a:outerShdw blurRad="101600" dist="38100" dir="5400000" algn="bl" rotWithShape="0">
              <a:srgbClr val="14163A">
                <a:alpha val="12000"/>
              </a:srgbClr>
            </a:outerShdw>
          </a:effectLst>
        </p:spPr>
      </p:sp>
      <p:sp>
        <p:nvSpPr>
          <p:cNvPr id="5" name="Shape 3"/>
          <p:cNvSpPr/>
          <p:nvPr/>
        </p:nvSpPr>
        <p:spPr>
          <a:xfrm>
            <a:off x="800100" y="1623060"/>
            <a:ext cx="594360" cy="594360"/>
          </a:xfrm>
          <a:prstGeom prst="ellipse">
            <a:avLst/>
          </a:prstGeom>
          <a:solidFill>
            <a:srgbClr val="5B4FE9"/>
          </a:solidFill>
          <a:ln/>
        </p:spPr>
      </p:sp>
      <p:pic>
        <p:nvPicPr>
          <p:cNvPr id="6" name="Image 0" descr="preencoded.png"/>
          <p:cNvPicPr>
            <a:picLocks noChangeAspect="1"/>
          </p:cNvPicPr>
          <p:nvPr/>
        </p:nvPicPr>
        <p:blipFill>
          <a:blip r:embed="rId3"/>
          <a:stretch>
            <a:fillRect/>
          </a:stretch>
        </p:blipFill>
        <p:spPr>
          <a:xfrm>
            <a:off x="948690" y="1771650"/>
            <a:ext cx="297180" cy="297180"/>
          </a:xfrm>
          <a:prstGeom prst="rect">
            <a:avLst/>
          </a:prstGeom>
        </p:spPr>
      </p:pic>
      <p:sp>
        <p:nvSpPr>
          <p:cNvPr id="7" name="Text 4"/>
          <p:cNvSpPr txBox="1"/>
          <p:nvPr/>
        </p:nvSpPr>
        <p:spPr>
          <a:xfrm>
            <a:off x="1508760" y="1645920"/>
            <a:ext cx="4206240" cy="502920"/>
          </a:xfrm>
          <a:prstGeom prst="rect">
            <a:avLst/>
          </a:prstGeom>
          <a:noFill/>
          <a:ln/>
        </p:spPr>
        <p:txBody>
          <a:bodyPr wrap="square" rtlCol="0" anchor="ctr"/>
          <a:lstStyle/>
          <a:p>
            <a:pPr marL="0" indent="0">
              <a:buNone/>
            </a:pPr>
            <a:r>
              <a:rPr lang="en-US" sz="1450" b="1" dirty="0">
                <a:solidFill>
                  <a:srgbClr val="14163A"/>
                </a:solidFill>
                <a:latin typeface="Calibri" pitchFamily="34" charset="0"/>
                <a:ea typeface="Calibri" pitchFamily="34" charset="-122"/>
                <a:cs typeface="Calibri" pitchFamily="34" charset="-120"/>
              </a:rPr>
              <a:t>Test 1 — Persistence</a:t>
            </a:r>
            <a:endParaRPr lang="en-US" sz="1450" dirty="0"/>
          </a:p>
        </p:txBody>
      </p:sp>
      <p:sp>
        <p:nvSpPr>
          <p:cNvPr id="8" name="Text 5"/>
          <p:cNvSpPr txBox="1"/>
          <p:nvPr/>
        </p:nvSpPr>
        <p:spPr>
          <a:xfrm>
            <a:off x="868680" y="2331720"/>
            <a:ext cx="4754880" cy="1097280"/>
          </a:xfrm>
          <a:prstGeom prst="rect">
            <a:avLst/>
          </a:prstGeom>
          <a:noFill/>
          <a:ln/>
        </p:spPr>
        <p:txBody>
          <a:bodyPr wrap="square" rtlCol="0" anchor="ctr"/>
          <a:lstStyle/>
          <a:p>
            <a:pPr marL="0" indent="0">
              <a:lnSpc>
                <a:spcPct val="115000"/>
              </a:lnSpc>
              <a:buNone/>
            </a:pPr>
            <a:r>
              <a:rPr lang="en-US" sz="1100" dirty="0">
                <a:solidFill>
                  <a:srgbClr val="6B6F9E"/>
                </a:solidFill>
                <a:latin typeface="Calibri" pitchFamily="34" charset="0"/>
                <a:ea typeface="Calibri" pitchFamily="34" charset="-122"/>
                <a:cs typeface="Calibri" pitchFamily="34" charset="-120"/>
              </a:rPr>
              <a:t>User: "My favorite language is Python." App restarts. User: "What is my favorite language?" → Python</a:t>
            </a:r>
            <a:endParaRPr lang="en-US" sz="1100" dirty="0"/>
          </a:p>
        </p:txBody>
      </p:sp>
      <p:sp>
        <p:nvSpPr>
          <p:cNvPr id="9" name="Shape 6"/>
          <p:cNvSpPr/>
          <p:nvPr/>
        </p:nvSpPr>
        <p:spPr>
          <a:xfrm>
            <a:off x="6217920" y="1417320"/>
            <a:ext cx="5394960" cy="2148840"/>
          </a:xfrm>
          <a:prstGeom prst="roundRect">
            <a:avLst>
              <a:gd name="adj" fmla="val 4255"/>
            </a:avLst>
          </a:prstGeom>
          <a:solidFill>
            <a:srgbClr val="FFFFFF"/>
          </a:solidFill>
          <a:ln w="9525">
            <a:solidFill>
              <a:srgbClr val="DCDCF0"/>
            </a:solidFill>
            <a:prstDash val="solid"/>
          </a:ln>
          <a:effectLst>
            <a:outerShdw blurRad="101600" dist="38100" dir="5400000" algn="bl" rotWithShape="0">
              <a:srgbClr val="14163A">
                <a:alpha val="12000"/>
              </a:srgbClr>
            </a:outerShdw>
          </a:effectLst>
        </p:spPr>
      </p:sp>
      <p:sp>
        <p:nvSpPr>
          <p:cNvPr id="10" name="Shape 7"/>
          <p:cNvSpPr/>
          <p:nvPr/>
        </p:nvSpPr>
        <p:spPr>
          <a:xfrm>
            <a:off x="6469380" y="1623060"/>
            <a:ext cx="594360" cy="594360"/>
          </a:xfrm>
          <a:prstGeom prst="ellipse">
            <a:avLst/>
          </a:prstGeom>
          <a:solidFill>
            <a:srgbClr val="E8635C"/>
          </a:solidFill>
          <a:ln/>
        </p:spPr>
      </p:sp>
      <p:pic>
        <p:nvPicPr>
          <p:cNvPr id="11" name="Image 1" descr="preencoded.png"/>
          <p:cNvPicPr>
            <a:picLocks noChangeAspect="1"/>
          </p:cNvPicPr>
          <p:nvPr/>
        </p:nvPicPr>
        <p:blipFill>
          <a:blip r:embed="rId4"/>
          <a:stretch>
            <a:fillRect/>
          </a:stretch>
        </p:blipFill>
        <p:spPr>
          <a:xfrm>
            <a:off x="6617970" y="1771650"/>
            <a:ext cx="297180" cy="297180"/>
          </a:xfrm>
          <a:prstGeom prst="rect">
            <a:avLst/>
          </a:prstGeom>
        </p:spPr>
      </p:pic>
      <p:sp>
        <p:nvSpPr>
          <p:cNvPr id="12" name="Text 8"/>
          <p:cNvSpPr txBox="1"/>
          <p:nvPr/>
        </p:nvSpPr>
        <p:spPr>
          <a:xfrm>
            <a:off x="7178040" y="1645920"/>
            <a:ext cx="4206240" cy="502920"/>
          </a:xfrm>
          <a:prstGeom prst="rect">
            <a:avLst/>
          </a:prstGeom>
          <a:noFill/>
          <a:ln/>
        </p:spPr>
        <p:txBody>
          <a:bodyPr wrap="square" rtlCol="0" anchor="ctr"/>
          <a:lstStyle/>
          <a:p>
            <a:pPr marL="0" indent="0">
              <a:buNone/>
            </a:pPr>
            <a:r>
              <a:rPr lang="en-US" sz="1450" b="1" dirty="0">
                <a:solidFill>
                  <a:srgbClr val="14163A"/>
                </a:solidFill>
                <a:latin typeface="Calibri" pitchFamily="34" charset="0"/>
                <a:ea typeface="Calibri" pitchFamily="34" charset="-122"/>
                <a:cs typeface="Calibri" pitchFamily="34" charset="-120"/>
              </a:rPr>
              <a:t>Test 2 — Contradiction</a:t>
            </a:r>
            <a:endParaRPr lang="en-US" sz="1450" dirty="0"/>
          </a:p>
        </p:txBody>
      </p:sp>
      <p:sp>
        <p:nvSpPr>
          <p:cNvPr id="13" name="Text 9"/>
          <p:cNvSpPr txBox="1"/>
          <p:nvPr/>
        </p:nvSpPr>
        <p:spPr>
          <a:xfrm>
            <a:off x="6537960" y="2331720"/>
            <a:ext cx="4754880" cy="1097280"/>
          </a:xfrm>
          <a:prstGeom prst="rect">
            <a:avLst/>
          </a:prstGeom>
          <a:noFill/>
          <a:ln/>
        </p:spPr>
        <p:txBody>
          <a:bodyPr wrap="square" rtlCol="0" anchor="ctr"/>
          <a:lstStyle/>
          <a:p>
            <a:pPr marL="0" indent="0">
              <a:lnSpc>
                <a:spcPct val="115000"/>
              </a:lnSpc>
              <a:buNone/>
            </a:pPr>
            <a:r>
              <a:rPr lang="en-US" sz="1100" dirty="0">
                <a:solidFill>
                  <a:srgbClr val="6B6F9E"/>
                </a:solidFill>
                <a:latin typeface="Calibri" pitchFamily="34" charset="0"/>
                <a:ea typeface="Calibri" pitchFamily="34" charset="-122"/>
                <a:cs typeface="Calibri" pitchFamily="34" charset="-120"/>
              </a:rPr>
              <a:t>Python → Java. Java is returned as the current answer; Python is marked SUPERSEDED.</a:t>
            </a:r>
            <a:endParaRPr lang="en-US" sz="1100" dirty="0"/>
          </a:p>
        </p:txBody>
      </p:sp>
      <p:sp>
        <p:nvSpPr>
          <p:cNvPr id="14" name="Shape 10"/>
          <p:cNvSpPr/>
          <p:nvPr/>
        </p:nvSpPr>
        <p:spPr>
          <a:xfrm>
            <a:off x="548640" y="3840480"/>
            <a:ext cx="5394960" cy="2148840"/>
          </a:xfrm>
          <a:prstGeom prst="roundRect">
            <a:avLst>
              <a:gd name="adj" fmla="val 4255"/>
            </a:avLst>
          </a:prstGeom>
          <a:solidFill>
            <a:srgbClr val="FFFFFF"/>
          </a:solidFill>
          <a:ln w="9525">
            <a:solidFill>
              <a:srgbClr val="DCDCF0"/>
            </a:solidFill>
            <a:prstDash val="solid"/>
          </a:ln>
          <a:effectLst>
            <a:outerShdw blurRad="101600" dist="38100" dir="5400000" algn="bl" rotWithShape="0">
              <a:srgbClr val="14163A">
                <a:alpha val="12000"/>
              </a:srgbClr>
            </a:outerShdw>
          </a:effectLst>
        </p:spPr>
      </p:sp>
      <p:sp>
        <p:nvSpPr>
          <p:cNvPr id="15" name="Shape 11"/>
          <p:cNvSpPr/>
          <p:nvPr/>
        </p:nvSpPr>
        <p:spPr>
          <a:xfrm>
            <a:off x="800100" y="4046220"/>
            <a:ext cx="594360" cy="594360"/>
          </a:xfrm>
          <a:prstGeom prst="ellipse">
            <a:avLst/>
          </a:prstGeom>
          <a:solidFill>
            <a:srgbClr val="00D9C0"/>
          </a:solidFill>
          <a:ln/>
        </p:spPr>
      </p:sp>
      <p:pic>
        <p:nvPicPr>
          <p:cNvPr id="16" name="Image 2" descr="preencoded.png"/>
          <p:cNvPicPr>
            <a:picLocks noChangeAspect="1"/>
          </p:cNvPicPr>
          <p:nvPr/>
        </p:nvPicPr>
        <p:blipFill>
          <a:blip r:embed="rId5"/>
          <a:stretch>
            <a:fillRect/>
          </a:stretch>
        </p:blipFill>
        <p:spPr>
          <a:xfrm>
            <a:off x="948690" y="4194810"/>
            <a:ext cx="297180" cy="297180"/>
          </a:xfrm>
          <a:prstGeom prst="rect">
            <a:avLst/>
          </a:prstGeom>
        </p:spPr>
      </p:pic>
      <p:sp>
        <p:nvSpPr>
          <p:cNvPr id="17" name="Text 12"/>
          <p:cNvSpPr txBox="1"/>
          <p:nvPr/>
        </p:nvSpPr>
        <p:spPr>
          <a:xfrm>
            <a:off x="1508760" y="4069080"/>
            <a:ext cx="4206240" cy="502920"/>
          </a:xfrm>
          <a:prstGeom prst="rect">
            <a:avLst/>
          </a:prstGeom>
          <a:noFill/>
          <a:ln/>
        </p:spPr>
        <p:txBody>
          <a:bodyPr wrap="square" rtlCol="0" anchor="ctr"/>
          <a:lstStyle/>
          <a:p>
            <a:pPr marL="0" indent="0">
              <a:buNone/>
            </a:pPr>
            <a:r>
              <a:rPr lang="en-US" sz="1450" b="1" dirty="0">
                <a:solidFill>
                  <a:srgbClr val="14163A"/>
                </a:solidFill>
                <a:latin typeface="Calibri" pitchFamily="34" charset="0"/>
                <a:ea typeface="Calibri" pitchFamily="34" charset="-122"/>
                <a:cs typeface="Calibri" pitchFamily="34" charset="-120"/>
              </a:rPr>
              <a:t>Test 3 — Multiple Users</a:t>
            </a:r>
            <a:endParaRPr lang="en-US" sz="1450" dirty="0"/>
          </a:p>
        </p:txBody>
      </p:sp>
      <p:sp>
        <p:nvSpPr>
          <p:cNvPr id="18" name="Text 13"/>
          <p:cNvSpPr txBox="1"/>
          <p:nvPr/>
        </p:nvSpPr>
        <p:spPr>
          <a:xfrm>
            <a:off x="868680" y="4754880"/>
            <a:ext cx="4754880" cy="1097280"/>
          </a:xfrm>
          <a:prstGeom prst="rect">
            <a:avLst/>
          </a:prstGeom>
          <a:noFill/>
          <a:ln/>
        </p:spPr>
        <p:txBody>
          <a:bodyPr wrap="square" rtlCol="0" anchor="ctr"/>
          <a:lstStyle/>
          <a:p>
            <a:pPr marL="0" indent="0">
              <a:lnSpc>
                <a:spcPct val="115000"/>
              </a:lnSpc>
              <a:buNone/>
            </a:pPr>
            <a:r>
              <a:rPr lang="en-US" sz="1100" dirty="0">
                <a:solidFill>
                  <a:srgbClr val="6B6F9E"/>
                </a:solidFill>
                <a:latin typeface="Calibri" pitchFamily="34" charset="0"/>
                <a:ea typeface="Calibri" pitchFamily="34" charset="-122"/>
                <a:cs typeface="Calibri" pitchFamily="34" charset="-120"/>
              </a:rPr>
              <a:t>User A prefers Java. User B has no stored preference — memories never cross between users.</a:t>
            </a:r>
            <a:endParaRPr lang="en-US" sz="1100" dirty="0"/>
          </a:p>
        </p:txBody>
      </p:sp>
      <p:sp>
        <p:nvSpPr>
          <p:cNvPr id="19" name="Shape 14"/>
          <p:cNvSpPr/>
          <p:nvPr/>
        </p:nvSpPr>
        <p:spPr>
          <a:xfrm>
            <a:off x="6217920" y="3840480"/>
            <a:ext cx="5394960" cy="2148840"/>
          </a:xfrm>
          <a:prstGeom prst="roundRect">
            <a:avLst>
              <a:gd name="adj" fmla="val 4255"/>
            </a:avLst>
          </a:prstGeom>
          <a:solidFill>
            <a:srgbClr val="FFFFFF"/>
          </a:solidFill>
          <a:ln w="9525">
            <a:solidFill>
              <a:srgbClr val="DCDCF0"/>
            </a:solidFill>
            <a:prstDash val="solid"/>
          </a:ln>
          <a:effectLst>
            <a:outerShdw blurRad="101600" dist="38100" dir="5400000" algn="bl" rotWithShape="0">
              <a:srgbClr val="14163A">
                <a:alpha val="12000"/>
              </a:srgbClr>
            </a:outerShdw>
          </a:effectLst>
        </p:spPr>
      </p:sp>
      <p:sp>
        <p:nvSpPr>
          <p:cNvPr id="20" name="Shape 15"/>
          <p:cNvSpPr/>
          <p:nvPr/>
        </p:nvSpPr>
        <p:spPr>
          <a:xfrm>
            <a:off x="6469380" y="4046220"/>
            <a:ext cx="594360" cy="594360"/>
          </a:xfrm>
          <a:prstGeom prst="ellipse">
            <a:avLst/>
          </a:prstGeom>
          <a:solidFill>
            <a:srgbClr val="14163A"/>
          </a:solidFill>
          <a:ln/>
        </p:spPr>
      </p:sp>
      <p:pic>
        <p:nvPicPr>
          <p:cNvPr id="21" name="Image 3" descr="preencoded.png"/>
          <p:cNvPicPr>
            <a:picLocks noChangeAspect="1"/>
          </p:cNvPicPr>
          <p:nvPr/>
        </p:nvPicPr>
        <p:blipFill>
          <a:blip r:embed="rId6"/>
          <a:stretch>
            <a:fillRect/>
          </a:stretch>
        </p:blipFill>
        <p:spPr>
          <a:xfrm>
            <a:off x="6617970" y="4194810"/>
            <a:ext cx="297180" cy="297180"/>
          </a:xfrm>
          <a:prstGeom prst="rect">
            <a:avLst/>
          </a:prstGeom>
        </p:spPr>
      </p:pic>
      <p:sp>
        <p:nvSpPr>
          <p:cNvPr id="22" name="Text 16"/>
          <p:cNvSpPr txBox="1"/>
          <p:nvPr/>
        </p:nvSpPr>
        <p:spPr>
          <a:xfrm>
            <a:off x="7178040" y="4069080"/>
            <a:ext cx="4206240" cy="502920"/>
          </a:xfrm>
          <a:prstGeom prst="rect">
            <a:avLst/>
          </a:prstGeom>
          <a:noFill/>
          <a:ln/>
        </p:spPr>
        <p:txBody>
          <a:bodyPr wrap="square" rtlCol="0" anchor="ctr"/>
          <a:lstStyle/>
          <a:p>
            <a:pPr marL="0" indent="0">
              <a:buNone/>
            </a:pPr>
            <a:r>
              <a:rPr lang="en-US" sz="1450" b="1" dirty="0">
                <a:solidFill>
                  <a:srgbClr val="14163A"/>
                </a:solidFill>
                <a:latin typeface="Calibri" pitchFamily="34" charset="0"/>
                <a:ea typeface="Calibri" pitchFamily="34" charset="-122"/>
                <a:cs typeface="Calibri" pitchFamily="34" charset="-120"/>
              </a:rPr>
              <a:t>Test 4 — Explainability</a:t>
            </a:r>
            <a:endParaRPr lang="en-US" sz="1450" dirty="0"/>
          </a:p>
        </p:txBody>
      </p:sp>
      <p:sp>
        <p:nvSpPr>
          <p:cNvPr id="23" name="Text 17"/>
          <p:cNvSpPr txBox="1"/>
          <p:nvPr/>
        </p:nvSpPr>
        <p:spPr>
          <a:xfrm>
            <a:off x="6537960" y="4754880"/>
            <a:ext cx="4754880" cy="1097280"/>
          </a:xfrm>
          <a:prstGeom prst="rect">
            <a:avLst/>
          </a:prstGeom>
          <a:noFill/>
          <a:ln/>
        </p:spPr>
        <p:txBody>
          <a:bodyPr wrap="square" rtlCol="0" anchor="ctr"/>
          <a:lstStyle/>
          <a:p>
            <a:pPr marL="0" indent="0">
              <a:lnSpc>
                <a:spcPct val="115000"/>
              </a:lnSpc>
              <a:buNone/>
            </a:pPr>
            <a:r>
              <a:rPr lang="en-US" sz="1100" dirty="0">
                <a:solidFill>
                  <a:srgbClr val="6B6F9E"/>
                </a:solidFill>
                <a:latin typeface="Calibri" pitchFamily="34" charset="0"/>
                <a:ea typeface="Calibri" pitchFamily="34" charset="-122"/>
                <a:cs typeface="Calibri" pitchFamily="34" charset="-120"/>
              </a:rPr>
              <a:t>Answer → Memory ID → Version → Memory Status, shown for every memory-grounded reply.</a:t>
            </a:r>
            <a:endParaRPr lang="en-US" sz="1100" dirty="0"/>
          </a:p>
        </p:txBody>
      </p:sp>
      <p:sp>
        <p:nvSpPr>
          <p:cNvPr id="24" name="Text 18"/>
          <p:cNvSpPr txBox="1"/>
          <p:nvPr/>
        </p:nvSpPr>
        <p:spPr>
          <a:xfrm>
            <a:off x="11475720" y="6473952"/>
            <a:ext cx="548640" cy="274320"/>
          </a:xfrm>
          <a:prstGeom prst="rect">
            <a:avLst/>
          </a:prstGeom>
          <a:noFill/>
          <a:ln/>
        </p:spPr>
        <p:txBody>
          <a:bodyPr wrap="square" rtlCol="0" anchor="ctr"/>
          <a:lstStyle/>
          <a:p>
            <a:pPr marL="0" indent="0" algn="r">
              <a:buNone/>
            </a:pPr>
            <a:r>
              <a:rPr lang="en-US" sz="900" dirty="0">
                <a:solidFill>
                  <a:srgbClr val="6B6F9E"/>
                </a:solidFill>
                <a:latin typeface="Calibri" pitchFamily="34" charset="0"/>
                <a:ea typeface="Calibri" pitchFamily="34" charset="-122"/>
                <a:cs typeface="Calibri" pitchFamily="34" charset="-120"/>
              </a:rPr>
              <a:t>15</a:t>
            </a:r>
            <a:endParaRPr lang="en-US" sz="900" dirty="0"/>
          </a:p>
        </p:txBody>
      </p:sp>
      <p:sp>
        <p:nvSpPr>
          <p:cNvPr id="25" name="Text 19"/>
          <p:cNvSpPr txBox="1"/>
          <p:nvPr/>
        </p:nvSpPr>
        <p:spPr>
          <a:xfrm>
            <a:off x="548640" y="6473952"/>
            <a:ext cx="2743200" cy="274320"/>
          </a:xfrm>
          <a:prstGeom prst="rect">
            <a:avLst/>
          </a:prstGeom>
          <a:noFill/>
          <a:ln/>
        </p:spPr>
        <p:txBody>
          <a:bodyPr wrap="square" rtlCol="0" anchor="ctr"/>
          <a:lstStyle/>
          <a:p>
            <a:pPr marL="0" indent="0">
              <a:buNone/>
            </a:pPr>
            <a:r>
              <a:rPr lang="en-US" sz="900" kern="0" spc="100" dirty="0">
                <a:solidFill>
                  <a:srgbClr val="6B6F9E"/>
                </a:solidFill>
                <a:latin typeface="Calibri" pitchFamily="34" charset="0"/>
                <a:ea typeface="Calibri" pitchFamily="34" charset="-122"/>
                <a:cs typeface="Calibri" pitchFamily="34" charset="-120"/>
              </a:rPr>
              <a:t>MEMORA</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6FC"/>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rtlCol="0" anchor="ctr"/>
          <a:lstStyle/>
          <a:p>
            <a:pPr marL="0" indent="0">
              <a:buNone/>
            </a:pPr>
            <a:r>
              <a:rPr lang="en-US" sz="1250" b="1" kern="0" spc="200" dirty="0">
                <a:solidFill>
                  <a:srgbClr val="5B4FE9"/>
                </a:solidFill>
                <a:latin typeface="Calibri" pitchFamily="34" charset="0"/>
                <a:ea typeface="Calibri" pitchFamily="34" charset="-122"/>
                <a:cs typeface="Calibri" pitchFamily="34" charset="-120"/>
              </a:rPr>
              <a:t>WHY IT MATTERS</a:t>
            </a:r>
            <a:endParaRPr lang="en-US" sz="1250" dirty="0"/>
          </a:p>
        </p:txBody>
      </p:sp>
      <p:sp>
        <p:nvSpPr>
          <p:cNvPr id="3" name="Text 1"/>
          <p:cNvSpPr txBox="1"/>
          <p:nvPr/>
        </p:nvSpPr>
        <p:spPr>
          <a:xfrm>
            <a:off x="548640" y="566928"/>
            <a:ext cx="10515600" cy="640080"/>
          </a:xfrm>
          <a:prstGeom prst="rect">
            <a:avLst/>
          </a:prstGeom>
          <a:noFill/>
          <a:ln/>
        </p:spPr>
        <p:txBody>
          <a:bodyPr wrap="square" rtlCol="0" anchor="ctr"/>
          <a:lstStyle/>
          <a:p>
            <a:pPr marL="0" indent="0">
              <a:buNone/>
            </a:pPr>
            <a:r>
              <a:rPr lang="en-US" sz="3000" b="1" dirty="0">
                <a:solidFill>
                  <a:srgbClr val="14163A"/>
                </a:solidFill>
                <a:latin typeface="Cambria" pitchFamily="34" charset="0"/>
                <a:ea typeface="Cambria" pitchFamily="34" charset="-122"/>
                <a:cs typeface="Cambria" pitchFamily="34" charset="-120"/>
              </a:rPr>
              <a:t>Advantages of MEMORA</a:t>
            </a:r>
            <a:endParaRPr lang="en-US" sz="3000" dirty="0"/>
          </a:p>
        </p:txBody>
      </p:sp>
      <p:sp>
        <p:nvSpPr>
          <p:cNvPr id="4" name="Shape 2"/>
          <p:cNvSpPr/>
          <p:nvPr/>
        </p:nvSpPr>
        <p:spPr>
          <a:xfrm>
            <a:off x="548640" y="1554480"/>
            <a:ext cx="2084832" cy="2194560"/>
          </a:xfrm>
          <a:prstGeom prst="roundRect">
            <a:avLst>
              <a:gd name="adj" fmla="val 5263"/>
            </a:avLst>
          </a:prstGeom>
          <a:solidFill>
            <a:srgbClr val="FFFFFF"/>
          </a:solidFill>
          <a:ln w="9525">
            <a:solidFill>
              <a:srgbClr val="DCDCF0"/>
            </a:solidFill>
            <a:prstDash val="solid"/>
          </a:ln>
          <a:effectLst>
            <a:outerShdw blurRad="101600" dist="38100" dir="5400000" algn="bl" rotWithShape="0">
              <a:srgbClr val="14163A">
                <a:alpha val="12000"/>
              </a:srgbClr>
            </a:outerShdw>
          </a:effectLst>
        </p:spPr>
      </p:sp>
      <p:sp>
        <p:nvSpPr>
          <p:cNvPr id="5" name="Shape 3"/>
          <p:cNvSpPr/>
          <p:nvPr/>
        </p:nvSpPr>
        <p:spPr>
          <a:xfrm>
            <a:off x="1280160" y="2020824"/>
            <a:ext cx="621792" cy="621792"/>
          </a:xfrm>
          <a:prstGeom prst="ellipse">
            <a:avLst/>
          </a:prstGeom>
          <a:solidFill>
            <a:srgbClr val="2ECC87"/>
          </a:solidFill>
          <a:ln/>
        </p:spPr>
      </p:sp>
      <p:pic>
        <p:nvPicPr>
          <p:cNvPr id="6" name="Image 0" descr="preencoded.png"/>
          <p:cNvPicPr>
            <a:picLocks noChangeAspect="1"/>
          </p:cNvPicPr>
          <p:nvPr/>
        </p:nvPicPr>
        <p:blipFill>
          <a:blip r:embed="rId3"/>
          <a:stretch>
            <a:fillRect/>
          </a:stretch>
        </p:blipFill>
        <p:spPr>
          <a:xfrm>
            <a:off x="1435608" y="2176272"/>
            <a:ext cx="310896" cy="310896"/>
          </a:xfrm>
          <a:prstGeom prst="rect">
            <a:avLst/>
          </a:prstGeom>
        </p:spPr>
      </p:pic>
      <p:sp>
        <p:nvSpPr>
          <p:cNvPr id="7" name="Text 4"/>
          <p:cNvSpPr txBox="1"/>
          <p:nvPr/>
        </p:nvSpPr>
        <p:spPr>
          <a:xfrm>
            <a:off x="685800" y="2926080"/>
            <a:ext cx="1810512" cy="777240"/>
          </a:xfrm>
          <a:prstGeom prst="rect">
            <a:avLst/>
          </a:prstGeom>
          <a:noFill/>
          <a:ln/>
        </p:spPr>
        <p:txBody>
          <a:bodyPr wrap="square" rtlCol="0" anchor="t"/>
          <a:lstStyle/>
          <a:p>
            <a:pPr marL="0" indent="0" algn="ctr">
              <a:buNone/>
            </a:pPr>
            <a:r>
              <a:rPr lang="en-US" sz="1200" b="1" dirty="0">
                <a:solidFill>
                  <a:srgbClr val="14163A"/>
                </a:solidFill>
                <a:latin typeface="Calibri" pitchFamily="34" charset="0"/>
                <a:ea typeface="Calibri" pitchFamily="34" charset="-122"/>
                <a:cs typeface="Calibri" pitchFamily="34" charset="-120"/>
              </a:rPr>
              <a:t>Persistent cross-session memory</a:t>
            </a:r>
            <a:endParaRPr lang="en-US" sz="1200" dirty="0"/>
          </a:p>
        </p:txBody>
      </p:sp>
      <p:sp>
        <p:nvSpPr>
          <p:cNvPr id="8" name="Shape 5"/>
          <p:cNvSpPr/>
          <p:nvPr/>
        </p:nvSpPr>
        <p:spPr>
          <a:xfrm>
            <a:off x="2770632" y="1554480"/>
            <a:ext cx="2084832" cy="2194560"/>
          </a:xfrm>
          <a:prstGeom prst="roundRect">
            <a:avLst>
              <a:gd name="adj" fmla="val 5263"/>
            </a:avLst>
          </a:prstGeom>
          <a:solidFill>
            <a:srgbClr val="FFFFFF"/>
          </a:solidFill>
          <a:ln w="9525">
            <a:solidFill>
              <a:srgbClr val="DCDCF0"/>
            </a:solidFill>
            <a:prstDash val="solid"/>
          </a:ln>
          <a:effectLst>
            <a:outerShdw blurRad="101600" dist="38100" dir="5400000" algn="bl" rotWithShape="0">
              <a:srgbClr val="14163A">
                <a:alpha val="12000"/>
              </a:srgbClr>
            </a:outerShdw>
          </a:effectLst>
        </p:spPr>
      </p:sp>
      <p:sp>
        <p:nvSpPr>
          <p:cNvPr id="9" name="Shape 6"/>
          <p:cNvSpPr/>
          <p:nvPr/>
        </p:nvSpPr>
        <p:spPr>
          <a:xfrm>
            <a:off x="3502152" y="2020824"/>
            <a:ext cx="621792" cy="621792"/>
          </a:xfrm>
          <a:prstGeom prst="ellipse">
            <a:avLst/>
          </a:prstGeom>
          <a:solidFill>
            <a:srgbClr val="2ECC87"/>
          </a:solidFill>
          <a:ln/>
        </p:spPr>
      </p:sp>
      <p:pic>
        <p:nvPicPr>
          <p:cNvPr id="10" name="Image 1" descr="preencoded.png"/>
          <p:cNvPicPr>
            <a:picLocks noChangeAspect="1"/>
          </p:cNvPicPr>
          <p:nvPr/>
        </p:nvPicPr>
        <p:blipFill>
          <a:blip r:embed="rId3"/>
          <a:stretch>
            <a:fillRect/>
          </a:stretch>
        </p:blipFill>
        <p:spPr>
          <a:xfrm>
            <a:off x="3657600" y="2176272"/>
            <a:ext cx="310896" cy="310896"/>
          </a:xfrm>
          <a:prstGeom prst="rect">
            <a:avLst/>
          </a:prstGeom>
        </p:spPr>
      </p:pic>
      <p:sp>
        <p:nvSpPr>
          <p:cNvPr id="11" name="Text 7"/>
          <p:cNvSpPr txBox="1"/>
          <p:nvPr/>
        </p:nvSpPr>
        <p:spPr>
          <a:xfrm>
            <a:off x="2907792" y="2926080"/>
            <a:ext cx="1810512" cy="777240"/>
          </a:xfrm>
          <a:prstGeom prst="rect">
            <a:avLst/>
          </a:prstGeom>
          <a:noFill/>
          <a:ln/>
        </p:spPr>
        <p:txBody>
          <a:bodyPr wrap="square" rtlCol="0" anchor="t"/>
          <a:lstStyle/>
          <a:p>
            <a:pPr marL="0" indent="0" algn="ctr">
              <a:buNone/>
            </a:pPr>
            <a:r>
              <a:rPr lang="en-US" sz="1200" b="1" dirty="0">
                <a:solidFill>
                  <a:srgbClr val="14163A"/>
                </a:solidFill>
                <a:latin typeface="Calibri" pitchFamily="34" charset="0"/>
                <a:ea typeface="Calibri" pitchFamily="34" charset="-122"/>
                <a:cs typeface="Calibri" pitchFamily="34" charset="-120"/>
              </a:rPr>
              <a:t>Automatic memory extraction</a:t>
            </a:r>
            <a:endParaRPr lang="en-US" sz="1200" dirty="0"/>
          </a:p>
        </p:txBody>
      </p:sp>
      <p:sp>
        <p:nvSpPr>
          <p:cNvPr id="12" name="Shape 8"/>
          <p:cNvSpPr/>
          <p:nvPr/>
        </p:nvSpPr>
        <p:spPr>
          <a:xfrm>
            <a:off x="4992624" y="1554480"/>
            <a:ext cx="2084832" cy="2194560"/>
          </a:xfrm>
          <a:prstGeom prst="roundRect">
            <a:avLst>
              <a:gd name="adj" fmla="val 5263"/>
            </a:avLst>
          </a:prstGeom>
          <a:solidFill>
            <a:srgbClr val="FFFFFF"/>
          </a:solidFill>
          <a:ln w="9525">
            <a:solidFill>
              <a:srgbClr val="DCDCF0"/>
            </a:solidFill>
            <a:prstDash val="solid"/>
          </a:ln>
          <a:effectLst>
            <a:outerShdw blurRad="101600" dist="38100" dir="5400000" algn="bl" rotWithShape="0">
              <a:srgbClr val="14163A">
                <a:alpha val="12000"/>
              </a:srgbClr>
            </a:outerShdw>
          </a:effectLst>
        </p:spPr>
      </p:sp>
      <p:sp>
        <p:nvSpPr>
          <p:cNvPr id="13" name="Shape 9"/>
          <p:cNvSpPr/>
          <p:nvPr/>
        </p:nvSpPr>
        <p:spPr>
          <a:xfrm>
            <a:off x="5724144" y="2020824"/>
            <a:ext cx="621792" cy="621792"/>
          </a:xfrm>
          <a:prstGeom prst="ellipse">
            <a:avLst/>
          </a:prstGeom>
          <a:solidFill>
            <a:srgbClr val="2ECC87"/>
          </a:solidFill>
          <a:ln/>
        </p:spPr>
      </p:sp>
      <p:pic>
        <p:nvPicPr>
          <p:cNvPr id="14" name="Image 2" descr="preencoded.png"/>
          <p:cNvPicPr>
            <a:picLocks noChangeAspect="1"/>
          </p:cNvPicPr>
          <p:nvPr/>
        </p:nvPicPr>
        <p:blipFill>
          <a:blip r:embed="rId3"/>
          <a:stretch>
            <a:fillRect/>
          </a:stretch>
        </p:blipFill>
        <p:spPr>
          <a:xfrm>
            <a:off x="5879592" y="2176272"/>
            <a:ext cx="310896" cy="310896"/>
          </a:xfrm>
          <a:prstGeom prst="rect">
            <a:avLst/>
          </a:prstGeom>
        </p:spPr>
      </p:pic>
      <p:sp>
        <p:nvSpPr>
          <p:cNvPr id="15" name="Text 10"/>
          <p:cNvSpPr txBox="1"/>
          <p:nvPr/>
        </p:nvSpPr>
        <p:spPr>
          <a:xfrm>
            <a:off x="5129784" y="2926080"/>
            <a:ext cx="1810512" cy="777240"/>
          </a:xfrm>
          <a:prstGeom prst="rect">
            <a:avLst/>
          </a:prstGeom>
          <a:noFill/>
          <a:ln/>
        </p:spPr>
        <p:txBody>
          <a:bodyPr wrap="square" rtlCol="0" anchor="t"/>
          <a:lstStyle/>
          <a:p>
            <a:pPr marL="0" indent="0" algn="ctr">
              <a:buNone/>
            </a:pPr>
            <a:r>
              <a:rPr lang="en-US" sz="1200" b="1" dirty="0">
                <a:solidFill>
                  <a:srgbClr val="14163A"/>
                </a:solidFill>
                <a:latin typeface="Calibri" pitchFamily="34" charset="0"/>
                <a:ea typeface="Calibri" pitchFamily="34" charset="-122"/>
                <a:cs typeface="Calibri" pitchFamily="34" charset="-120"/>
              </a:rPr>
              <a:t>Contradiction detection</a:t>
            </a:r>
            <a:endParaRPr lang="en-US" sz="1200" dirty="0"/>
          </a:p>
        </p:txBody>
      </p:sp>
      <p:sp>
        <p:nvSpPr>
          <p:cNvPr id="16" name="Shape 11"/>
          <p:cNvSpPr/>
          <p:nvPr/>
        </p:nvSpPr>
        <p:spPr>
          <a:xfrm>
            <a:off x="7214616" y="1554480"/>
            <a:ext cx="2084832" cy="2194560"/>
          </a:xfrm>
          <a:prstGeom prst="roundRect">
            <a:avLst>
              <a:gd name="adj" fmla="val 5263"/>
            </a:avLst>
          </a:prstGeom>
          <a:solidFill>
            <a:srgbClr val="FFFFFF"/>
          </a:solidFill>
          <a:ln w="9525">
            <a:solidFill>
              <a:srgbClr val="DCDCF0"/>
            </a:solidFill>
            <a:prstDash val="solid"/>
          </a:ln>
          <a:effectLst>
            <a:outerShdw blurRad="101600" dist="38100" dir="5400000" algn="bl" rotWithShape="0">
              <a:srgbClr val="14163A">
                <a:alpha val="12000"/>
              </a:srgbClr>
            </a:outerShdw>
          </a:effectLst>
        </p:spPr>
      </p:sp>
      <p:sp>
        <p:nvSpPr>
          <p:cNvPr id="17" name="Shape 12"/>
          <p:cNvSpPr/>
          <p:nvPr/>
        </p:nvSpPr>
        <p:spPr>
          <a:xfrm>
            <a:off x="7946136" y="2020824"/>
            <a:ext cx="621792" cy="621792"/>
          </a:xfrm>
          <a:prstGeom prst="ellipse">
            <a:avLst/>
          </a:prstGeom>
          <a:solidFill>
            <a:srgbClr val="2ECC87"/>
          </a:solidFill>
          <a:ln/>
        </p:spPr>
      </p:sp>
      <p:pic>
        <p:nvPicPr>
          <p:cNvPr id="18" name="Image 3" descr="preencoded.png"/>
          <p:cNvPicPr>
            <a:picLocks noChangeAspect="1"/>
          </p:cNvPicPr>
          <p:nvPr/>
        </p:nvPicPr>
        <p:blipFill>
          <a:blip r:embed="rId3"/>
          <a:stretch>
            <a:fillRect/>
          </a:stretch>
        </p:blipFill>
        <p:spPr>
          <a:xfrm>
            <a:off x="8101584" y="2176272"/>
            <a:ext cx="310896" cy="310896"/>
          </a:xfrm>
          <a:prstGeom prst="rect">
            <a:avLst/>
          </a:prstGeom>
        </p:spPr>
      </p:pic>
      <p:sp>
        <p:nvSpPr>
          <p:cNvPr id="19" name="Text 13"/>
          <p:cNvSpPr txBox="1"/>
          <p:nvPr/>
        </p:nvSpPr>
        <p:spPr>
          <a:xfrm>
            <a:off x="7351776" y="2926080"/>
            <a:ext cx="1810512" cy="777240"/>
          </a:xfrm>
          <a:prstGeom prst="rect">
            <a:avLst/>
          </a:prstGeom>
          <a:noFill/>
          <a:ln/>
        </p:spPr>
        <p:txBody>
          <a:bodyPr wrap="square" rtlCol="0" anchor="t"/>
          <a:lstStyle/>
          <a:p>
            <a:pPr marL="0" indent="0" algn="ctr">
              <a:buNone/>
            </a:pPr>
            <a:r>
              <a:rPr lang="en-US" sz="1200" b="1" dirty="0">
                <a:solidFill>
                  <a:srgbClr val="14163A"/>
                </a:solidFill>
                <a:latin typeface="Calibri" pitchFamily="34" charset="0"/>
                <a:ea typeface="Calibri" pitchFamily="34" charset="-122"/>
                <a:cs typeface="Calibri" pitchFamily="34" charset="-120"/>
              </a:rPr>
              <a:t>Version-controlled memories</a:t>
            </a:r>
            <a:endParaRPr lang="en-US" sz="1200" dirty="0"/>
          </a:p>
        </p:txBody>
      </p:sp>
      <p:sp>
        <p:nvSpPr>
          <p:cNvPr id="20" name="Shape 14"/>
          <p:cNvSpPr/>
          <p:nvPr/>
        </p:nvSpPr>
        <p:spPr>
          <a:xfrm>
            <a:off x="9436608" y="1554480"/>
            <a:ext cx="2084832" cy="2194560"/>
          </a:xfrm>
          <a:prstGeom prst="roundRect">
            <a:avLst>
              <a:gd name="adj" fmla="val 5263"/>
            </a:avLst>
          </a:prstGeom>
          <a:solidFill>
            <a:srgbClr val="FFFFFF"/>
          </a:solidFill>
          <a:ln w="9525">
            <a:solidFill>
              <a:srgbClr val="DCDCF0"/>
            </a:solidFill>
            <a:prstDash val="solid"/>
          </a:ln>
          <a:effectLst>
            <a:outerShdw blurRad="101600" dist="38100" dir="5400000" algn="bl" rotWithShape="0">
              <a:srgbClr val="14163A">
                <a:alpha val="12000"/>
              </a:srgbClr>
            </a:outerShdw>
          </a:effectLst>
        </p:spPr>
      </p:sp>
      <p:sp>
        <p:nvSpPr>
          <p:cNvPr id="21" name="Shape 15"/>
          <p:cNvSpPr/>
          <p:nvPr/>
        </p:nvSpPr>
        <p:spPr>
          <a:xfrm>
            <a:off x="10168128" y="2020824"/>
            <a:ext cx="621792" cy="621792"/>
          </a:xfrm>
          <a:prstGeom prst="ellipse">
            <a:avLst/>
          </a:prstGeom>
          <a:solidFill>
            <a:srgbClr val="2ECC87"/>
          </a:solidFill>
          <a:ln/>
        </p:spPr>
      </p:sp>
      <p:pic>
        <p:nvPicPr>
          <p:cNvPr id="22" name="Image 4" descr="preencoded.png"/>
          <p:cNvPicPr>
            <a:picLocks noChangeAspect="1"/>
          </p:cNvPicPr>
          <p:nvPr/>
        </p:nvPicPr>
        <p:blipFill>
          <a:blip r:embed="rId3"/>
          <a:stretch>
            <a:fillRect/>
          </a:stretch>
        </p:blipFill>
        <p:spPr>
          <a:xfrm>
            <a:off x="10323576" y="2176272"/>
            <a:ext cx="310896" cy="310896"/>
          </a:xfrm>
          <a:prstGeom prst="rect">
            <a:avLst/>
          </a:prstGeom>
        </p:spPr>
      </p:pic>
      <p:sp>
        <p:nvSpPr>
          <p:cNvPr id="23" name="Text 16"/>
          <p:cNvSpPr txBox="1"/>
          <p:nvPr/>
        </p:nvSpPr>
        <p:spPr>
          <a:xfrm>
            <a:off x="9573768" y="2926080"/>
            <a:ext cx="1810512" cy="777240"/>
          </a:xfrm>
          <a:prstGeom prst="rect">
            <a:avLst/>
          </a:prstGeom>
          <a:noFill/>
          <a:ln/>
        </p:spPr>
        <p:txBody>
          <a:bodyPr wrap="square" rtlCol="0" anchor="t"/>
          <a:lstStyle/>
          <a:p>
            <a:pPr marL="0" indent="0" algn="ctr">
              <a:buNone/>
            </a:pPr>
            <a:r>
              <a:rPr lang="en-US" sz="1200" b="1" dirty="0">
                <a:solidFill>
                  <a:srgbClr val="14163A"/>
                </a:solidFill>
                <a:latin typeface="Calibri" pitchFamily="34" charset="0"/>
                <a:ea typeface="Calibri" pitchFamily="34" charset="-122"/>
                <a:cs typeface="Calibri" pitchFamily="34" charset="-120"/>
              </a:rPr>
              <a:t>Stale-memory handling</a:t>
            </a:r>
            <a:endParaRPr lang="en-US" sz="1200" dirty="0"/>
          </a:p>
        </p:txBody>
      </p:sp>
      <p:sp>
        <p:nvSpPr>
          <p:cNvPr id="24" name="Shape 17"/>
          <p:cNvSpPr/>
          <p:nvPr/>
        </p:nvSpPr>
        <p:spPr>
          <a:xfrm>
            <a:off x="548640" y="3977640"/>
            <a:ext cx="2084832" cy="2194560"/>
          </a:xfrm>
          <a:prstGeom prst="roundRect">
            <a:avLst>
              <a:gd name="adj" fmla="val 5263"/>
            </a:avLst>
          </a:prstGeom>
          <a:solidFill>
            <a:srgbClr val="FFFFFF"/>
          </a:solidFill>
          <a:ln w="9525">
            <a:solidFill>
              <a:srgbClr val="DCDCF0"/>
            </a:solidFill>
            <a:prstDash val="solid"/>
          </a:ln>
          <a:effectLst>
            <a:outerShdw blurRad="101600" dist="38100" dir="5400000" algn="bl" rotWithShape="0">
              <a:srgbClr val="14163A">
                <a:alpha val="12000"/>
              </a:srgbClr>
            </a:outerShdw>
          </a:effectLst>
        </p:spPr>
      </p:sp>
      <p:sp>
        <p:nvSpPr>
          <p:cNvPr id="25" name="Shape 18"/>
          <p:cNvSpPr/>
          <p:nvPr/>
        </p:nvSpPr>
        <p:spPr>
          <a:xfrm>
            <a:off x="1280160" y="4443984"/>
            <a:ext cx="621792" cy="621792"/>
          </a:xfrm>
          <a:prstGeom prst="ellipse">
            <a:avLst/>
          </a:prstGeom>
          <a:solidFill>
            <a:srgbClr val="2ECC87"/>
          </a:solidFill>
          <a:ln/>
        </p:spPr>
      </p:sp>
      <p:pic>
        <p:nvPicPr>
          <p:cNvPr id="26" name="Image 5" descr="preencoded.png"/>
          <p:cNvPicPr>
            <a:picLocks noChangeAspect="1"/>
          </p:cNvPicPr>
          <p:nvPr/>
        </p:nvPicPr>
        <p:blipFill>
          <a:blip r:embed="rId3"/>
          <a:stretch>
            <a:fillRect/>
          </a:stretch>
        </p:blipFill>
        <p:spPr>
          <a:xfrm>
            <a:off x="1435608" y="4599432"/>
            <a:ext cx="310896" cy="310896"/>
          </a:xfrm>
          <a:prstGeom prst="rect">
            <a:avLst/>
          </a:prstGeom>
        </p:spPr>
      </p:pic>
      <p:sp>
        <p:nvSpPr>
          <p:cNvPr id="27" name="Text 19"/>
          <p:cNvSpPr txBox="1"/>
          <p:nvPr/>
        </p:nvSpPr>
        <p:spPr>
          <a:xfrm>
            <a:off x="685800" y="5349240"/>
            <a:ext cx="1810512" cy="777240"/>
          </a:xfrm>
          <a:prstGeom prst="rect">
            <a:avLst/>
          </a:prstGeom>
          <a:noFill/>
          <a:ln/>
        </p:spPr>
        <p:txBody>
          <a:bodyPr wrap="square" rtlCol="0" anchor="t"/>
          <a:lstStyle/>
          <a:p>
            <a:pPr marL="0" indent="0" algn="ctr">
              <a:buNone/>
            </a:pPr>
            <a:r>
              <a:rPr lang="en-US" sz="1200" b="1" dirty="0">
                <a:solidFill>
                  <a:srgbClr val="14163A"/>
                </a:solidFill>
                <a:latin typeface="Calibri" pitchFamily="34" charset="0"/>
                <a:ea typeface="Calibri" pitchFamily="34" charset="-122"/>
                <a:cs typeface="Calibri" pitchFamily="34" charset="-120"/>
              </a:rPr>
              <a:t>Semantic retrieval</a:t>
            </a:r>
            <a:endParaRPr lang="en-US" sz="1200" dirty="0"/>
          </a:p>
        </p:txBody>
      </p:sp>
      <p:sp>
        <p:nvSpPr>
          <p:cNvPr id="28" name="Shape 20"/>
          <p:cNvSpPr/>
          <p:nvPr/>
        </p:nvSpPr>
        <p:spPr>
          <a:xfrm>
            <a:off x="2770632" y="3977640"/>
            <a:ext cx="2084832" cy="2194560"/>
          </a:xfrm>
          <a:prstGeom prst="roundRect">
            <a:avLst>
              <a:gd name="adj" fmla="val 5263"/>
            </a:avLst>
          </a:prstGeom>
          <a:solidFill>
            <a:srgbClr val="FFFFFF"/>
          </a:solidFill>
          <a:ln w="9525">
            <a:solidFill>
              <a:srgbClr val="DCDCF0"/>
            </a:solidFill>
            <a:prstDash val="solid"/>
          </a:ln>
          <a:effectLst>
            <a:outerShdw blurRad="101600" dist="38100" dir="5400000" algn="bl" rotWithShape="0">
              <a:srgbClr val="14163A">
                <a:alpha val="12000"/>
              </a:srgbClr>
            </a:outerShdw>
          </a:effectLst>
        </p:spPr>
      </p:sp>
      <p:sp>
        <p:nvSpPr>
          <p:cNvPr id="29" name="Shape 21"/>
          <p:cNvSpPr/>
          <p:nvPr/>
        </p:nvSpPr>
        <p:spPr>
          <a:xfrm>
            <a:off x="3502152" y="4443984"/>
            <a:ext cx="621792" cy="621792"/>
          </a:xfrm>
          <a:prstGeom prst="ellipse">
            <a:avLst/>
          </a:prstGeom>
          <a:solidFill>
            <a:srgbClr val="2ECC87"/>
          </a:solidFill>
          <a:ln/>
        </p:spPr>
      </p:sp>
      <p:pic>
        <p:nvPicPr>
          <p:cNvPr id="30" name="Image 6" descr="preencoded.png"/>
          <p:cNvPicPr>
            <a:picLocks noChangeAspect="1"/>
          </p:cNvPicPr>
          <p:nvPr/>
        </p:nvPicPr>
        <p:blipFill>
          <a:blip r:embed="rId3"/>
          <a:stretch>
            <a:fillRect/>
          </a:stretch>
        </p:blipFill>
        <p:spPr>
          <a:xfrm>
            <a:off x="3657600" y="4599432"/>
            <a:ext cx="310896" cy="310896"/>
          </a:xfrm>
          <a:prstGeom prst="rect">
            <a:avLst/>
          </a:prstGeom>
        </p:spPr>
      </p:pic>
      <p:sp>
        <p:nvSpPr>
          <p:cNvPr id="31" name="Text 22"/>
          <p:cNvSpPr txBox="1"/>
          <p:nvPr/>
        </p:nvSpPr>
        <p:spPr>
          <a:xfrm>
            <a:off x="2907792" y="5349240"/>
            <a:ext cx="1810512" cy="777240"/>
          </a:xfrm>
          <a:prstGeom prst="rect">
            <a:avLst/>
          </a:prstGeom>
          <a:noFill/>
          <a:ln/>
        </p:spPr>
        <p:txBody>
          <a:bodyPr wrap="square" rtlCol="0" anchor="t"/>
          <a:lstStyle/>
          <a:p>
            <a:pPr marL="0" indent="0" algn="ctr">
              <a:buNone/>
            </a:pPr>
            <a:r>
              <a:rPr lang="en-US" sz="1200" b="1" dirty="0">
                <a:solidFill>
                  <a:srgbClr val="14163A"/>
                </a:solidFill>
                <a:latin typeface="Calibri" pitchFamily="34" charset="0"/>
                <a:ea typeface="Calibri" pitchFamily="34" charset="-122"/>
                <a:cs typeface="Calibri" pitchFamily="34" charset="-120"/>
              </a:rPr>
              <a:t>Multi-user memory isolation</a:t>
            </a:r>
            <a:endParaRPr lang="en-US" sz="1200" dirty="0"/>
          </a:p>
        </p:txBody>
      </p:sp>
      <p:sp>
        <p:nvSpPr>
          <p:cNvPr id="32" name="Shape 23"/>
          <p:cNvSpPr/>
          <p:nvPr/>
        </p:nvSpPr>
        <p:spPr>
          <a:xfrm>
            <a:off x="4992624" y="3977640"/>
            <a:ext cx="2084832" cy="2194560"/>
          </a:xfrm>
          <a:prstGeom prst="roundRect">
            <a:avLst>
              <a:gd name="adj" fmla="val 5263"/>
            </a:avLst>
          </a:prstGeom>
          <a:solidFill>
            <a:srgbClr val="FFFFFF"/>
          </a:solidFill>
          <a:ln w="9525">
            <a:solidFill>
              <a:srgbClr val="DCDCF0"/>
            </a:solidFill>
            <a:prstDash val="solid"/>
          </a:ln>
          <a:effectLst>
            <a:outerShdw blurRad="101600" dist="38100" dir="5400000" algn="bl" rotWithShape="0">
              <a:srgbClr val="14163A">
                <a:alpha val="12000"/>
              </a:srgbClr>
            </a:outerShdw>
          </a:effectLst>
        </p:spPr>
      </p:sp>
      <p:sp>
        <p:nvSpPr>
          <p:cNvPr id="33" name="Shape 24"/>
          <p:cNvSpPr/>
          <p:nvPr/>
        </p:nvSpPr>
        <p:spPr>
          <a:xfrm>
            <a:off x="5724144" y="4443984"/>
            <a:ext cx="621792" cy="621792"/>
          </a:xfrm>
          <a:prstGeom prst="ellipse">
            <a:avLst/>
          </a:prstGeom>
          <a:solidFill>
            <a:srgbClr val="2ECC87"/>
          </a:solidFill>
          <a:ln/>
        </p:spPr>
      </p:sp>
      <p:pic>
        <p:nvPicPr>
          <p:cNvPr id="34" name="Image 7" descr="preencoded.png"/>
          <p:cNvPicPr>
            <a:picLocks noChangeAspect="1"/>
          </p:cNvPicPr>
          <p:nvPr/>
        </p:nvPicPr>
        <p:blipFill>
          <a:blip r:embed="rId3"/>
          <a:stretch>
            <a:fillRect/>
          </a:stretch>
        </p:blipFill>
        <p:spPr>
          <a:xfrm>
            <a:off x="5879592" y="4599432"/>
            <a:ext cx="310896" cy="310896"/>
          </a:xfrm>
          <a:prstGeom prst="rect">
            <a:avLst/>
          </a:prstGeom>
        </p:spPr>
      </p:pic>
      <p:sp>
        <p:nvSpPr>
          <p:cNvPr id="35" name="Text 25"/>
          <p:cNvSpPr txBox="1"/>
          <p:nvPr/>
        </p:nvSpPr>
        <p:spPr>
          <a:xfrm>
            <a:off x="5129784" y="5349240"/>
            <a:ext cx="1810512" cy="777240"/>
          </a:xfrm>
          <a:prstGeom prst="rect">
            <a:avLst/>
          </a:prstGeom>
          <a:noFill/>
          <a:ln/>
        </p:spPr>
        <p:txBody>
          <a:bodyPr wrap="square" rtlCol="0" anchor="t"/>
          <a:lstStyle/>
          <a:p>
            <a:pPr marL="0" indent="0" algn="ctr">
              <a:buNone/>
            </a:pPr>
            <a:r>
              <a:rPr lang="en-US" sz="1200" b="1" dirty="0">
                <a:solidFill>
                  <a:srgbClr val="14163A"/>
                </a:solidFill>
                <a:latin typeface="Calibri" pitchFamily="34" charset="0"/>
                <a:ea typeface="Calibri" pitchFamily="34" charset="-122"/>
                <a:cs typeface="Calibri" pitchFamily="34" charset="-120"/>
              </a:rPr>
              <a:t>Explainable memory sources</a:t>
            </a:r>
            <a:endParaRPr lang="en-US" sz="1200" dirty="0"/>
          </a:p>
        </p:txBody>
      </p:sp>
      <p:sp>
        <p:nvSpPr>
          <p:cNvPr id="36" name="Shape 26"/>
          <p:cNvSpPr/>
          <p:nvPr/>
        </p:nvSpPr>
        <p:spPr>
          <a:xfrm>
            <a:off x="7214616" y="3977640"/>
            <a:ext cx="2084832" cy="2194560"/>
          </a:xfrm>
          <a:prstGeom prst="roundRect">
            <a:avLst>
              <a:gd name="adj" fmla="val 5263"/>
            </a:avLst>
          </a:prstGeom>
          <a:solidFill>
            <a:srgbClr val="FFFFFF"/>
          </a:solidFill>
          <a:ln w="9525">
            <a:solidFill>
              <a:srgbClr val="DCDCF0"/>
            </a:solidFill>
            <a:prstDash val="solid"/>
          </a:ln>
          <a:effectLst>
            <a:outerShdw blurRad="101600" dist="38100" dir="5400000" algn="bl" rotWithShape="0">
              <a:srgbClr val="14163A">
                <a:alpha val="12000"/>
              </a:srgbClr>
            </a:outerShdw>
          </a:effectLst>
        </p:spPr>
      </p:sp>
      <p:sp>
        <p:nvSpPr>
          <p:cNvPr id="37" name="Shape 27"/>
          <p:cNvSpPr/>
          <p:nvPr/>
        </p:nvSpPr>
        <p:spPr>
          <a:xfrm>
            <a:off x="7946136" y="4443984"/>
            <a:ext cx="621792" cy="621792"/>
          </a:xfrm>
          <a:prstGeom prst="ellipse">
            <a:avLst/>
          </a:prstGeom>
          <a:solidFill>
            <a:srgbClr val="2ECC87"/>
          </a:solidFill>
          <a:ln/>
        </p:spPr>
      </p:sp>
      <p:pic>
        <p:nvPicPr>
          <p:cNvPr id="38" name="Image 8" descr="preencoded.png"/>
          <p:cNvPicPr>
            <a:picLocks noChangeAspect="1"/>
          </p:cNvPicPr>
          <p:nvPr/>
        </p:nvPicPr>
        <p:blipFill>
          <a:blip r:embed="rId3"/>
          <a:stretch>
            <a:fillRect/>
          </a:stretch>
        </p:blipFill>
        <p:spPr>
          <a:xfrm>
            <a:off x="8101584" y="4599432"/>
            <a:ext cx="310896" cy="310896"/>
          </a:xfrm>
          <a:prstGeom prst="rect">
            <a:avLst/>
          </a:prstGeom>
        </p:spPr>
      </p:pic>
      <p:sp>
        <p:nvSpPr>
          <p:cNvPr id="39" name="Text 28"/>
          <p:cNvSpPr txBox="1"/>
          <p:nvPr/>
        </p:nvSpPr>
        <p:spPr>
          <a:xfrm>
            <a:off x="7351776" y="5349240"/>
            <a:ext cx="1810512" cy="777240"/>
          </a:xfrm>
          <a:prstGeom prst="rect">
            <a:avLst/>
          </a:prstGeom>
          <a:noFill/>
          <a:ln/>
        </p:spPr>
        <p:txBody>
          <a:bodyPr wrap="square" rtlCol="0" anchor="t"/>
          <a:lstStyle/>
          <a:p>
            <a:pPr marL="0" indent="0" algn="ctr">
              <a:buNone/>
            </a:pPr>
            <a:r>
              <a:rPr lang="en-US" sz="1200" b="1" dirty="0">
                <a:solidFill>
                  <a:srgbClr val="14163A"/>
                </a:solidFill>
                <a:latin typeface="Calibri" pitchFamily="34" charset="0"/>
                <a:ea typeface="Calibri" pitchFamily="34" charset="-122"/>
                <a:cs typeface="Calibri" pitchFamily="34" charset="-120"/>
              </a:rPr>
              <a:t>Historical memory preservation</a:t>
            </a:r>
            <a:endParaRPr lang="en-US" sz="1200" dirty="0"/>
          </a:p>
        </p:txBody>
      </p:sp>
      <p:sp>
        <p:nvSpPr>
          <p:cNvPr id="40" name="Shape 29"/>
          <p:cNvSpPr/>
          <p:nvPr/>
        </p:nvSpPr>
        <p:spPr>
          <a:xfrm>
            <a:off x="9436608" y="3977640"/>
            <a:ext cx="2084832" cy="2194560"/>
          </a:xfrm>
          <a:prstGeom prst="roundRect">
            <a:avLst>
              <a:gd name="adj" fmla="val 5263"/>
            </a:avLst>
          </a:prstGeom>
          <a:solidFill>
            <a:srgbClr val="FFFFFF"/>
          </a:solidFill>
          <a:ln w="9525">
            <a:solidFill>
              <a:srgbClr val="DCDCF0"/>
            </a:solidFill>
            <a:prstDash val="solid"/>
          </a:ln>
          <a:effectLst>
            <a:outerShdw blurRad="101600" dist="38100" dir="5400000" algn="bl" rotWithShape="0">
              <a:srgbClr val="14163A">
                <a:alpha val="12000"/>
              </a:srgbClr>
            </a:outerShdw>
          </a:effectLst>
        </p:spPr>
      </p:sp>
      <p:sp>
        <p:nvSpPr>
          <p:cNvPr id="41" name="Shape 30"/>
          <p:cNvSpPr/>
          <p:nvPr/>
        </p:nvSpPr>
        <p:spPr>
          <a:xfrm>
            <a:off x="10168128" y="4443984"/>
            <a:ext cx="621792" cy="621792"/>
          </a:xfrm>
          <a:prstGeom prst="ellipse">
            <a:avLst/>
          </a:prstGeom>
          <a:solidFill>
            <a:srgbClr val="2ECC87"/>
          </a:solidFill>
          <a:ln/>
        </p:spPr>
      </p:sp>
      <p:pic>
        <p:nvPicPr>
          <p:cNvPr id="42" name="Image 9" descr="preencoded.png"/>
          <p:cNvPicPr>
            <a:picLocks noChangeAspect="1"/>
          </p:cNvPicPr>
          <p:nvPr/>
        </p:nvPicPr>
        <p:blipFill>
          <a:blip r:embed="rId3"/>
          <a:stretch>
            <a:fillRect/>
          </a:stretch>
        </p:blipFill>
        <p:spPr>
          <a:xfrm>
            <a:off x="10323576" y="4599432"/>
            <a:ext cx="310896" cy="310896"/>
          </a:xfrm>
          <a:prstGeom prst="rect">
            <a:avLst/>
          </a:prstGeom>
        </p:spPr>
      </p:pic>
      <p:sp>
        <p:nvSpPr>
          <p:cNvPr id="43" name="Text 31"/>
          <p:cNvSpPr txBox="1"/>
          <p:nvPr/>
        </p:nvSpPr>
        <p:spPr>
          <a:xfrm>
            <a:off x="9573768" y="5349240"/>
            <a:ext cx="1810512" cy="777240"/>
          </a:xfrm>
          <a:prstGeom prst="rect">
            <a:avLst/>
          </a:prstGeom>
          <a:noFill/>
          <a:ln/>
        </p:spPr>
        <p:txBody>
          <a:bodyPr wrap="square" rtlCol="0" anchor="t"/>
          <a:lstStyle/>
          <a:p>
            <a:pPr marL="0" indent="0" algn="ctr">
              <a:buNone/>
            </a:pPr>
            <a:r>
              <a:rPr lang="en-US" sz="1200" b="1" dirty="0">
                <a:solidFill>
                  <a:srgbClr val="14163A"/>
                </a:solidFill>
                <a:latin typeface="Calibri" pitchFamily="34" charset="0"/>
                <a:ea typeface="Calibri" pitchFamily="34" charset="-122"/>
                <a:cs typeface="Calibri" pitchFamily="34" charset="-120"/>
              </a:rPr>
              <a:t>Personalized responses</a:t>
            </a:r>
            <a:endParaRPr lang="en-US" sz="1200" dirty="0"/>
          </a:p>
        </p:txBody>
      </p:sp>
      <p:sp>
        <p:nvSpPr>
          <p:cNvPr id="44" name="Text 32"/>
          <p:cNvSpPr txBox="1"/>
          <p:nvPr/>
        </p:nvSpPr>
        <p:spPr>
          <a:xfrm>
            <a:off x="11475720" y="6473952"/>
            <a:ext cx="548640" cy="274320"/>
          </a:xfrm>
          <a:prstGeom prst="rect">
            <a:avLst/>
          </a:prstGeom>
          <a:noFill/>
          <a:ln/>
        </p:spPr>
        <p:txBody>
          <a:bodyPr wrap="square" rtlCol="0" anchor="ctr"/>
          <a:lstStyle/>
          <a:p>
            <a:pPr marL="0" indent="0" algn="r">
              <a:buNone/>
            </a:pPr>
            <a:r>
              <a:rPr lang="en-US" sz="900" dirty="0">
                <a:solidFill>
                  <a:srgbClr val="6B6F9E"/>
                </a:solidFill>
                <a:latin typeface="Calibri" pitchFamily="34" charset="0"/>
                <a:ea typeface="Calibri" pitchFamily="34" charset="-122"/>
                <a:cs typeface="Calibri" pitchFamily="34" charset="-120"/>
              </a:rPr>
              <a:t>16</a:t>
            </a:r>
            <a:endParaRPr lang="en-US" sz="900" dirty="0"/>
          </a:p>
        </p:txBody>
      </p:sp>
      <p:sp>
        <p:nvSpPr>
          <p:cNvPr id="45" name="Text 33"/>
          <p:cNvSpPr txBox="1"/>
          <p:nvPr/>
        </p:nvSpPr>
        <p:spPr>
          <a:xfrm>
            <a:off x="548640" y="6473952"/>
            <a:ext cx="2743200" cy="274320"/>
          </a:xfrm>
          <a:prstGeom prst="rect">
            <a:avLst/>
          </a:prstGeom>
          <a:noFill/>
          <a:ln/>
        </p:spPr>
        <p:txBody>
          <a:bodyPr wrap="square" rtlCol="0" anchor="ctr"/>
          <a:lstStyle/>
          <a:p>
            <a:pPr marL="0" indent="0">
              <a:buNone/>
            </a:pPr>
            <a:r>
              <a:rPr lang="en-US" sz="900" kern="0" spc="100" dirty="0">
                <a:solidFill>
                  <a:srgbClr val="6B6F9E"/>
                </a:solidFill>
                <a:latin typeface="Calibri" pitchFamily="34" charset="0"/>
                <a:ea typeface="Calibri" pitchFamily="34" charset="-122"/>
                <a:cs typeface="Calibri" pitchFamily="34" charset="-120"/>
              </a:rPr>
              <a:t>MEMORA</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6FC"/>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rtlCol="0" anchor="ctr"/>
          <a:lstStyle/>
          <a:p>
            <a:pPr marL="0" indent="0">
              <a:buNone/>
            </a:pPr>
            <a:r>
              <a:rPr lang="en-US" sz="1250" b="1" kern="0" spc="200" dirty="0">
                <a:solidFill>
                  <a:srgbClr val="5B4FE9"/>
                </a:solidFill>
                <a:latin typeface="Calibri" pitchFamily="34" charset="0"/>
                <a:ea typeface="Calibri" pitchFamily="34" charset="-122"/>
                <a:cs typeface="Calibri" pitchFamily="34" charset="-120"/>
              </a:rPr>
              <a:t>WHAT'S NEXT</a:t>
            </a:r>
            <a:endParaRPr lang="en-US" sz="1250" dirty="0"/>
          </a:p>
        </p:txBody>
      </p:sp>
      <p:sp>
        <p:nvSpPr>
          <p:cNvPr id="3" name="Text 1"/>
          <p:cNvSpPr txBox="1"/>
          <p:nvPr/>
        </p:nvSpPr>
        <p:spPr>
          <a:xfrm>
            <a:off x="548640" y="566928"/>
            <a:ext cx="10515600" cy="640080"/>
          </a:xfrm>
          <a:prstGeom prst="rect">
            <a:avLst/>
          </a:prstGeom>
          <a:noFill/>
          <a:ln/>
        </p:spPr>
        <p:txBody>
          <a:bodyPr wrap="square" rtlCol="0" anchor="ctr"/>
          <a:lstStyle/>
          <a:p>
            <a:pPr marL="0" indent="0">
              <a:buNone/>
            </a:pPr>
            <a:r>
              <a:rPr lang="en-US" sz="3000" b="1" dirty="0">
                <a:solidFill>
                  <a:srgbClr val="14163A"/>
                </a:solidFill>
                <a:latin typeface="Cambria" pitchFamily="34" charset="0"/>
                <a:ea typeface="Cambria" pitchFamily="34" charset="-122"/>
                <a:cs typeface="Cambria" pitchFamily="34" charset="-120"/>
              </a:rPr>
              <a:t>Future Enhancements</a:t>
            </a:r>
            <a:endParaRPr lang="en-US" sz="3000" dirty="0"/>
          </a:p>
        </p:txBody>
      </p:sp>
      <p:sp>
        <p:nvSpPr>
          <p:cNvPr id="4" name="Shape 2"/>
          <p:cNvSpPr/>
          <p:nvPr/>
        </p:nvSpPr>
        <p:spPr>
          <a:xfrm>
            <a:off x="548640" y="1463040"/>
            <a:ext cx="3520440" cy="1417320"/>
          </a:xfrm>
          <a:prstGeom prst="roundRect">
            <a:avLst>
              <a:gd name="adj" fmla="val 6452"/>
            </a:avLst>
          </a:prstGeom>
          <a:solidFill>
            <a:srgbClr val="FFFFFF"/>
          </a:solidFill>
          <a:ln w="9525">
            <a:solidFill>
              <a:srgbClr val="DCDCF0"/>
            </a:solidFill>
            <a:prstDash val="solid"/>
          </a:ln>
          <a:effectLst>
            <a:outerShdw blurRad="101600" dist="38100" dir="5400000" algn="bl" rotWithShape="0">
              <a:srgbClr val="14163A">
                <a:alpha val="12000"/>
              </a:srgbClr>
            </a:outerShdw>
          </a:effectLst>
        </p:spPr>
      </p:sp>
      <p:sp>
        <p:nvSpPr>
          <p:cNvPr id="5" name="Shape 3"/>
          <p:cNvSpPr/>
          <p:nvPr/>
        </p:nvSpPr>
        <p:spPr>
          <a:xfrm>
            <a:off x="800100" y="1920240"/>
            <a:ext cx="502920" cy="502920"/>
          </a:xfrm>
          <a:prstGeom prst="ellipse">
            <a:avLst/>
          </a:prstGeom>
          <a:solidFill>
            <a:srgbClr val="5B4FE9"/>
          </a:solidFill>
          <a:ln/>
        </p:spPr>
      </p:sp>
      <p:pic>
        <p:nvPicPr>
          <p:cNvPr id="6" name="Image 0" descr="preencoded.png"/>
          <p:cNvPicPr>
            <a:picLocks noChangeAspect="1"/>
          </p:cNvPicPr>
          <p:nvPr/>
        </p:nvPicPr>
        <p:blipFill>
          <a:blip r:embed="rId3"/>
          <a:stretch>
            <a:fillRect/>
          </a:stretch>
        </p:blipFill>
        <p:spPr>
          <a:xfrm>
            <a:off x="925830" y="2045970"/>
            <a:ext cx="251460" cy="251460"/>
          </a:xfrm>
          <a:prstGeom prst="rect">
            <a:avLst/>
          </a:prstGeom>
        </p:spPr>
      </p:pic>
      <p:sp>
        <p:nvSpPr>
          <p:cNvPr id="7" name="Text 4"/>
          <p:cNvSpPr txBox="1"/>
          <p:nvPr/>
        </p:nvSpPr>
        <p:spPr>
          <a:xfrm>
            <a:off x="1508760" y="1463040"/>
            <a:ext cx="2377440" cy="1417320"/>
          </a:xfrm>
          <a:prstGeom prst="rect">
            <a:avLst/>
          </a:prstGeom>
          <a:noFill/>
          <a:ln/>
        </p:spPr>
        <p:txBody>
          <a:bodyPr wrap="square" rtlCol="0" anchor="ctr"/>
          <a:lstStyle/>
          <a:p>
            <a:pPr marL="0" indent="0">
              <a:buNone/>
            </a:pPr>
            <a:r>
              <a:rPr lang="en-US" sz="1200" b="1" dirty="0">
                <a:solidFill>
                  <a:srgbClr val="14163A"/>
                </a:solidFill>
                <a:latin typeface="Calibri" pitchFamily="34" charset="0"/>
                <a:ea typeface="Calibri" pitchFamily="34" charset="-122"/>
                <a:cs typeface="Calibri" pitchFamily="34" charset="-120"/>
              </a:rPr>
              <a:t>Voice-based long-term memory</a:t>
            </a:r>
            <a:endParaRPr lang="en-US" sz="1200" dirty="0"/>
          </a:p>
        </p:txBody>
      </p:sp>
      <p:sp>
        <p:nvSpPr>
          <p:cNvPr id="8" name="Shape 5"/>
          <p:cNvSpPr/>
          <p:nvPr/>
        </p:nvSpPr>
        <p:spPr>
          <a:xfrm>
            <a:off x="4297680" y="1463040"/>
            <a:ext cx="3520440" cy="1417320"/>
          </a:xfrm>
          <a:prstGeom prst="roundRect">
            <a:avLst>
              <a:gd name="adj" fmla="val 6452"/>
            </a:avLst>
          </a:prstGeom>
          <a:solidFill>
            <a:srgbClr val="FFFFFF"/>
          </a:solidFill>
          <a:ln w="9525">
            <a:solidFill>
              <a:srgbClr val="DCDCF0"/>
            </a:solidFill>
            <a:prstDash val="solid"/>
          </a:ln>
          <a:effectLst>
            <a:outerShdw blurRad="101600" dist="38100" dir="5400000" algn="bl" rotWithShape="0">
              <a:srgbClr val="14163A">
                <a:alpha val="12000"/>
              </a:srgbClr>
            </a:outerShdw>
          </a:effectLst>
        </p:spPr>
      </p:sp>
      <p:sp>
        <p:nvSpPr>
          <p:cNvPr id="9" name="Shape 6"/>
          <p:cNvSpPr/>
          <p:nvPr/>
        </p:nvSpPr>
        <p:spPr>
          <a:xfrm>
            <a:off x="4549140" y="1920240"/>
            <a:ext cx="502920" cy="502920"/>
          </a:xfrm>
          <a:prstGeom prst="ellipse">
            <a:avLst/>
          </a:prstGeom>
          <a:solidFill>
            <a:srgbClr val="00D9C0"/>
          </a:solidFill>
          <a:ln/>
        </p:spPr>
      </p:sp>
      <p:pic>
        <p:nvPicPr>
          <p:cNvPr id="10" name="Image 1" descr="preencoded.png"/>
          <p:cNvPicPr>
            <a:picLocks noChangeAspect="1"/>
          </p:cNvPicPr>
          <p:nvPr/>
        </p:nvPicPr>
        <p:blipFill>
          <a:blip r:embed="rId4"/>
          <a:stretch>
            <a:fillRect/>
          </a:stretch>
        </p:blipFill>
        <p:spPr>
          <a:xfrm>
            <a:off x="4674870" y="2045970"/>
            <a:ext cx="251460" cy="251460"/>
          </a:xfrm>
          <a:prstGeom prst="rect">
            <a:avLst/>
          </a:prstGeom>
        </p:spPr>
      </p:pic>
      <p:sp>
        <p:nvSpPr>
          <p:cNvPr id="11" name="Text 7"/>
          <p:cNvSpPr txBox="1"/>
          <p:nvPr/>
        </p:nvSpPr>
        <p:spPr>
          <a:xfrm>
            <a:off x="5257800" y="1463040"/>
            <a:ext cx="2377440" cy="1417320"/>
          </a:xfrm>
          <a:prstGeom prst="rect">
            <a:avLst/>
          </a:prstGeom>
          <a:noFill/>
          <a:ln/>
        </p:spPr>
        <p:txBody>
          <a:bodyPr wrap="square" rtlCol="0" anchor="ctr"/>
          <a:lstStyle/>
          <a:p>
            <a:pPr marL="0" indent="0">
              <a:buNone/>
            </a:pPr>
            <a:r>
              <a:rPr lang="en-US" sz="1200" b="1" dirty="0">
                <a:solidFill>
                  <a:srgbClr val="14163A"/>
                </a:solidFill>
                <a:latin typeface="Calibri" pitchFamily="34" charset="0"/>
                <a:ea typeface="Calibri" pitchFamily="34" charset="-122"/>
                <a:cs typeface="Calibri" pitchFamily="34" charset="-120"/>
              </a:rPr>
              <a:t>Personalized memory graphs</a:t>
            </a:r>
            <a:endParaRPr lang="en-US" sz="1200" dirty="0"/>
          </a:p>
        </p:txBody>
      </p:sp>
      <p:sp>
        <p:nvSpPr>
          <p:cNvPr id="12" name="Shape 8"/>
          <p:cNvSpPr/>
          <p:nvPr/>
        </p:nvSpPr>
        <p:spPr>
          <a:xfrm>
            <a:off x="8046720" y="1463040"/>
            <a:ext cx="3520440" cy="1417320"/>
          </a:xfrm>
          <a:prstGeom prst="roundRect">
            <a:avLst>
              <a:gd name="adj" fmla="val 6452"/>
            </a:avLst>
          </a:prstGeom>
          <a:solidFill>
            <a:srgbClr val="FFFFFF"/>
          </a:solidFill>
          <a:ln w="9525">
            <a:solidFill>
              <a:srgbClr val="DCDCF0"/>
            </a:solidFill>
            <a:prstDash val="solid"/>
          </a:ln>
          <a:effectLst>
            <a:outerShdw blurRad="101600" dist="38100" dir="5400000" algn="bl" rotWithShape="0">
              <a:srgbClr val="14163A">
                <a:alpha val="12000"/>
              </a:srgbClr>
            </a:outerShdw>
          </a:effectLst>
        </p:spPr>
      </p:sp>
      <p:sp>
        <p:nvSpPr>
          <p:cNvPr id="13" name="Shape 9"/>
          <p:cNvSpPr/>
          <p:nvPr/>
        </p:nvSpPr>
        <p:spPr>
          <a:xfrm>
            <a:off x="8298180" y="1920240"/>
            <a:ext cx="502920" cy="502920"/>
          </a:xfrm>
          <a:prstGeom prst="ellipse">
            <a:avLst/>
          </a:prstGeom>
          <a:solidFill>
            <a:srgbClr val="14163A"/>
          </a:solidFill>
          <a:ln/>
        </p:spPr>
      </p:sp>
      <p:pic>
        <p:nvPicPr>
          <p:cNvPr id="14" name="Image 2" descr="preencoded.png"/>
          <p:cNvPicPr>
            <a:picLocks noChangeAspect="1"/>
          </p:cNvPicPr>
          <p:nvPr/>
        </p:nvPicPr>
        <p:blipFill>
          <a:blip r:embed="rId5"/>
          <a:stretch>
            <a:fillRect/>
          </a:stretch>
        </p:blipFill>
        <p:spPr>
          <a:xfrm>
            <a:off x="8423910" y="2045970"/>
            <a:ext cx="251460" cy="251460"/>
          </a:xfrm>
          <a:prstGeom prst="rect">
            <a:avLst/>
          </a:prstGeom>
        </p:spPr>
      </p:pic>
      <p:sp>
        <p:nvSpPr>
          <p:cNvPr id="15" name="Text 10"/>
          <p:cNvSpPr txBox="1"/>
          <p:nvPr/>
        </p:nvSpPr>
        <p:spPr>
          <a:xfrm>
            <a:off x="9006840" y="1463040"/>
            <a:ext cx="2377440" cy="1417320"/>
          </a:xfrm>
          <a:prstGeom prst="rect">
            <a:avLst/>
          </a:prstGeom>
          <a:noFill/>
          <a:ln/>
        </p:spPr>
        <p:txBody>
          <a:bodyPr wrap="square" rtlCol="0" anchor="ctr"/>
          <a:lstStyle/>
          <a:p>
            <a:pPr marL="0" indent="0">
              <a:buNone/>
            </a:pPr>
            <a:r>
              <a:rPr lang="en-US" sz="1200" b="1" dirty="0">
                <a:solidFill>
                  <a:srgbClr val="14163A"/>
                </a:solidFill>
                <a:latin typeface="Calibri" pitchFamily="34" charset="0"/>
                <a:ea typeface="Calibri" pitchFamily="34" charset="-122"/>
                <a:cs typeface="Calibri" pitchFamily="34" charset="-120"/>
              </a:rPr>
              <a:t>User-controlled memory editing</a:t>
            </a:r>
            <a:endParaRPr lang="en-US" sz="1200" dirty="0"/>
          </a:p>
        </p:txBody>
      </p:sp>
      <p:sp>
        <p:nvSpPr>
          <p:cNvPr id="16" name="Shape 11"/>
          <p:cNvSpPr/>
          <p:nvPr/>
        </p:nvSpPr>
        <p:spPr>
          <a:xfrm>
            <a:off x="548640" y="3108960"/>
            <a:ext cx="3520440" cy="1417320"/>
          </a:xfrm>
          <a:prstGeom prst="roundRect">
            <a:avLst>
              <a:gd name="adj" fmla="val 6452"/>
            </a:avLst>
          </a:prstGeom>
          <a:solidFill>
            <a:srgbClr val="FFFFFF"/>
          </a:solidFill>
          <a:ln w="9525">
            <a:solidFill>
              <a:srgbClr val="DCDCF0"/>
            </a:solidFill>
            <a:prstDash val="solid"/>
          </a:ln>
          <a:effectLst>
            <a:outerShdw blurRad="101600" dist="38100" dir="5400000" algn="bl" rotWithShape="0">
              <a:srgbClr val="14163A">
                <a:alpha val="12000"/>
              </a:srgbClr>
            </a:outerShdw>
          </a:effectLst>
        </p:spPr>
      </p:sp>
      <p:sp>
        <p:nvSpPr>
          <p:cNvPr id="17" name="Shape 12"/>
          <p:cNvSpPr/>
          <p:nvPr/>
        </p:nvSpPr>
        <p:spPr>
          <a:xfrm>
            <a:off x="800100" y="3566160"/>
            <a:ext cx="502920" cy="502920"/>
          </a:xfrm>
          <a:prstGeom prst="ellipse">
            <a:avLst/>
          </a:prstGeom>
          <a:solidFill>
            <a:srgbClr val="F5A623"/>
          </a:solidFill>
          <a:ln/>
        </p:spPr>
      </p:sp>
      <p:pic>
        <p:nvPicPr>
          <p:cNvPr id="18" name="Image 3" descr="preencoded.png"/>
          <p:cNvPicPr>
            <a:picLocks noChangeAspect="1"/>
          </p:cNvPicPr>
          <p:nvPr/>
        </p:nvPicPr>
        <p:blipFill>
          <a:blip r:embed="rId6"/>
          <a:stretch>
            <a:fillRect/>
          </a:stretch>
        </p:blipFill>
        <p:spPr>
          <a:xfrm>
            <a:off x="925830" y="3691890"/>
            <a:ext cx="251460" cy="251460"/>
          </a:xfrm>
          <a:prstGeom prst="rect">
            <a:avLst/>
          </a:prstGeom>
        </p:spPr>
      </p:pic>
      <p:sp>
        <p:nvSpPr>
          <p:cNvPr id="19" name="Text 13"/>
          <p:cNvSpPr txBox="1"/>
          <p:nvPr/>
        </p:nvSpPr>
        <p:spPr>
          <a:xfrm>
            <a:off x="1508760" y="3108960"/>
            <a:ext cx="2377440" cy="1417320"/>
          </a:xfrm>
          <a:prstGeom prst="rect">
            <a:avLst/>
          </a:prstGeom>
          <a:noFill/>
          <a:ln/>
        </p:spPr>
        <p:txBody>
          <a:bodyPr wrap="square" rtlCol="0" anchor="ctr"/>
          <a:lstStyle/>
          <a:p>
            <a:pPr marL="0" indent="0">
              <a:buNone/>
            </a:pPr>
            <a:r>
              <a:rPr lang="en-US" sz="1200" b="1" dirty="0">
                <a:solidFill>
                  <a:srgbClr val="14163A"/>
                </a:solidFill>
                <a:latin typeface="Calibri" pitchFamily="34" charset="0"/>
                <a:ea typeface="Calibri" pitchFamily="34" charset="-122"/>
                <a:cs typeface="Calibri" pitchFamily="34" charset="-120"/>
              </a:rPr>
              <a:t>Advanced forgetting policies</a:t>
            </a:r>
            <a:endParaRPr lang="en-US" sz="1200" dirty="0"/>
          </a:p>
        </p:txBody>
      </p:sp>
      <p:sp>
        <p:nvSpPr>
          <p:cNvPr id="20" name="Shape 14"/>
          <p:cNvSpPr/>
          <p:nvPr/>
        </p:nvSpPr>
        <p:spPr>
          <a:xfrm>
            <a:off x="4297680" y="3108960"/>
            <a:ext cx="3520440" cy="1417320"/>
          </a:xfrm>
          <a:prstGeom prst="roundRect">
            <a:avLst>
              <a:gd name="adj" fmla="val 6452"/>
            </a:avLst>
          </a:prstGeom>
          <a:solidFill>
            <a:srgbClr val="FFFFFF"/>
          </a:solidFill>
          <a:ln w="9525">
            <a:solidFill>
              <a:srgbClr val="DCDCF0"/>
            </a:solidFill>
            <a:prstDash val="solid"/>
          </a:ln>
          <a:effectLst>
            <a:outerShdw blurRad="101600" dist="38100" dir="5400000" algn="bl" rotWithShape="0">
              <a:srgbClr val="14163A">
                <a:alpha val="12000"/>
              </a:srgbClr>
            </a:outerShdw>
          </a:effectLst>
        </p:spPr>
      </p:sp>
      <p:sp>
        <p:nvSpPr>
          <p:cNvPr id="21" name="Shape 15"/>
          <p:cNvSpPr/>
          <p:nvPr/>
        </p:nvSpPr>
        <p:spPr>
          <a:xfrm>
            <a:off x="4549140" y="3566160"/>
            <a:ext cx="502920" cy="502920"/>
          </a:xfrm>
          <a:prstGeom prst="ellipse">
            <a:avLst/>
          </a:prstGeom>
          <a:solidFill>
            <a:srgbClr val="5B4FE9"/>
          </a:solidFill>
          <a:ln/>
        </p:spPr>
      </p:sp>
      <p:pic>
        <p:nvPicPr>
          <p:cNvPr id="22" name="Image 4" descr="preencoded.png"/>
          <p:cNvPicPr>
            <a:picLocks noChangeAspect="1"/>
          </p:cNvPicPr>
          <p:nvPr/>
        </p:nvPicPr>
        <p:blipFill>
          <a:blip r:embed="rId7"/>
          <a:stretch>
            <a:fillRect/>
          </a:stretch>
        </p:blipFill>
        <p:spPr>
          <a:xfrm>
            <a:off x="4674870" y="3691890"/>
            <a:ext cx="251460" cy="251460"/>
          </a:xfrm>
          <a:prstGeom prst="rect">
            <a:avLst/>
          </a:prstGeom>
        </p:spPr>
      </p:pic>
      <p:sp>
        <p:nvSpPr>
          <p:cNvPr id="23" name="Text 16"/>
          <p:cNvSpPr txBox="1"/>
          <p:nvPr/>
        </p:nvSpPr>
        <p:spPr>
          <a:xfrm>
            <a:off x="5257800" y="3108960"/>
            <a:ext cx="2377440" cy="1417320"/>
          </a:xfrm>
          <a:prstGeom prst="rect">
            <a:avLst/>
          </a:prstGeom>
          <a:noFill/>
          <a:ln/>
        </p:spPr>
        <p:txBody>
          <a:bodyPr wrap="square" rtlCol="0" anchor="ctr"/>
          <a:lstStyle/>
          <a:p>
            <a:pPr marL="0" indent="0">
              <a:buNone/>
            </a:pPr>
            <a:r>
              <a:rPr lang="en-US" sz="1200" b="1" dirty="0">
                <a:solidFill>
                  <a:srgbClr val="14163A"/>
                </a:solidFill>
                <a:latin typeface="Calibri" pitchFamily="34" charset="0"/>
                <a:ea typeface="Calibri" pitchFamily="34" charset="-122"/>
                <a:cs typeface="Calibri" pitchFamily="34" charset="-120"/>
              </a:rPr>
              <a:t>Relationship-aware memories</a:t>
            </a:r>
            <a:endParaRPr lang="en-US" sz="1200" dirty="0"/>
          </a:p>
        </p:txBody>
      </p:sp>
      <p:sp>
        <p:nvSpPr>
          <p:cNvPr id="24" name="Shape 17"/>
          <p:cNvSpPr/>
          <p:nvPr/>
        </p:nvSpPr>
        <p:spPr>
          <a:xfrm>
            <a:off x="8046720" y="3108960"/>
            <a:ext cx="3520440" cy="1417320"/>
          </a:xfrm>
          <a:prstGeom prst="roundRect">
            <a:avLst>
              <a:gd name="adj" fmla="val 6452"/>
            </a:avLst>
          </a:prstGeom>
          <a:solidFill>
            <a:srgbClr val="FFFFFF"/>
          </a:solidFill>
          <a:ln w="9525">
            <a:solidFill>
              <a:srgbClr val="DCDCF0"/>
            </a:solidFill>
            <a:prstDash val="solid"/>
          </a:ln>
          <a:effectLst>
            <a:outerShdw blurRad="101600" dist="38100" dir="5400000" algn="bl" rotWithShape="0">
              <a:srgbClr val="14163A">
                <a:alpha val="12000"/>
              </a:srgbClr>
            </a:outerShdw>
          </a:effectLst>
        </p:spPr>
      </p:sp>
      <p:sp>
        <p:nvSpPr>
          <p:cNvPr id="25" name="Shape 18"/>
          <p:cNvSpPr/>
          <p:nvPr/>
        </p:nvSpPr>
        <p:spPr>
          <a:xfrm>
            <a:off x="8298180" y="3566160"/>
            <a:ext cx="502920" cy="502920"/>
          </a:xfrm>
          <a:prstGeom prst="ellipse">
            <a:avLst/>
          </a:prstGeom>
          <a:solidFill>
            <a:srgbClr val="00D9C0"/>
          </a:solidFill>
          <a:ln/>
        </p:spPr>
      </p:sp>
      <p:pic>
        <p:nvPicPr>
          <p:cNvPr id="26" name="Image 5" descr="preencoded.png"/>
          <p:cNvPicPr>
            <a:picLocks noChangeAspect="1"/>
          </p:cNvPicPr>
          <p:nvPr/>
        </p:nvPicPr>
        <p:blipFill>
          <a:blip r:embed="rId8"/>
          <a:stretch>
            <a:fillRect/>
          </a:stretch>
        </p:blipFill>
        <p:spPr>
          <a:xfrm>
            <a:off x="8423910" y="3691890"/>
            <a:ext cx="251460" cy="251460"/>
          </a:xfrm>
          <a:prstGeom prst="rect">
            <a:avLst/>
          </a:prstGeom>
        </p:spPr>
      </p:pic>
      <p:sp>
        <p:nvSpPr>
          <p:cNvPr id="27" name="Text 19"/>
          <p:cNvSpPr txBox="1"/>
          <p:nvPr/>
        </p:nvSpPr>
        <p:spPr>
          <a:xfrm>
            <a:off x="9006840" y="3108960"/>
            <a:ext cx="2377440" cy="1417320"/>
          </a:xfrm>
          <a:prstGeom prst="rect">
            <a:avLst/>
          </a:prstGeom>
          <a:noFill/>
          <a:ln/>
        </p:spPr>
        <p:txBody>
          <a:bodyPr wrap="square" rtlCol="0" anchor="ctr"/>
          <a:lstStyle/>
          <a:p>
            <a:pPr marL="0" indent="0">
              <a:buNone/>
            </a:pPr>
            <a:r>
              <a:rPr lang="en-US" sz="1200" b="1" dirty="0">
                <a:solidFill>
                  <a:srgbClr val="14163A"/>
                </a:solidFill>
                <a:latin typeface="Calibri" pitchFamily="34" charset="0"/>
                <a:ea typeface="Calibri" pitchFamily="34" charset="-122"/>
                <a:cs typeface="Calibri" pitchFamily="34" charset="-120"/>
              </a:rPr>
              <a:t>Cross-device synchronization</a:t>
            </a:r>
            <a:endParaRPr lang="en-US" sz="1200" dirty="0"/>
          </a:p>
        </p:txBody>
      </p:sp>
      <p:sp>
        <p:nvSpPr>
          <p:cNvPr id="28" name="Shape 20"/>
          <p:cNvSpPr/>
          <p:nvPr/>
        </p:nvSpPr>
        <p:spPr>
          <a:xfrm>
            <a:off x="548640" y="4754880"/>
            <a:ext cx="3520440" cy="1417320"/>
          </a:xfrm>
          <a:prstGeom prst="roundRect">
            <a:avLst>
              <a:gd name="adj" fmla="val 6452"/>
            </a:avLst>
          </a:prstGeom>
          <a:solidFill>
            <a:srgbClr val="FFFFFF"/>
          </a:solidFill>
          <a:ln w="9525">
            <a:solidFill>
              <a:srgbClr val="DCDCF0"/>
            </a:solidFill>
            <a:prstDash val="solid"/>
          </a:ln>
          <a:effectLst>
            <a:outerShdw blurRad="101600" dist="38100" dir="5400000" algn="bl" rotWithShape="0">
              <a:srgbClr val="14163A">
                <a:alpha val="12000"/>
              </a:srgbClr>
            </a:outerShdw>
          </a:effectLst>
        </p:spPr>
      </p:sp>
      <p:sp>
        <p:nvSpPr>
          <p:cNvPr id="29" name="Shape 21"/>
          <p:cNvSpPr/>
          <p:nvPr/>
        </p:nvSpPr>
        <p:spPr>
          <a:xfrm>
            <a:off x="800100" y="5212080"/>
            <a:ext cx="502920" cy="502920"/>
          </a:xfrm>
          <a:prstGeom prst="ellipse">
            <a:avLst/>
          </a:prstGeom>
          <a:solidFill>
            <a:srgbClr val="14163A"/>
          </a:solidFill>
          <a:ln/>
        </p:spPr>
      </p:sp>
      <p:pic>
        <p:nvPicPr>
          <p:cNvPr id="30" name="Image 6" descr="preencoded.png"/>
          <p:cNvPicPr>
            <a:picLocks noChangeAspect="1"/>
          </p:cNvPicPr>
          <p:nvPr/>
        </p:nvPicPr>
        <p:blipFill>
          <a:blip r:embed="rId9"/>
          <a:stretch>
            <a:fillRect/>
          </a:stretch>
        </p:blipFill>
        <p:spPr>
          <a:xfrm>
            <a:off x="925830" y="5337810"/>
            <a:ext cx="251460" cy="251460"/>
          </a:xfrm>
          <a:prstGeom prst="rect">
            <a:avLst/>
          </a:prstGeom>
        </p:spPr>
      </p:pic>
      <p:sp>
        <p:nvSpPr>
          <p:cNvPr id="31" name="Text 22"/>
          <p:cNvSpPr txBox="1"/>
          <p:nvPr/>
        </p:nvSpPr>
        <p:spPr>
          <a:xfrm>
            <a:off x="1508760" y="4754880"/>
            <a:ext cx="2377440" cy="1417320"/>
          </a:xfrm>
          <a:prstGeom prst="rect">
            <a:avLst/>
          </a:prstGeom>
          <a:noFill/>
          <a:ln/>
        </p:spPr>
        <p:txBody>
          <a:bodyPr wrap="square" rtlCol="0" anchor="ctr"/>
          <a:lstStyle/>
          <a:p>
            <a:pPr marL="0" indent="0">
              <a:buNone/>
            </a:pPr>
            <a:r>
              <a:rPr lang="en-US" sz="1200" b="1" dirty="0">
                <a:solidFill>
                  <a:srgbClr val="14163A"/>
                </a:solidFill>
                <a:latin typeface="Calibri" pitchFamily="34" charset="0"/>
                <a:ea typeface="Calibri" pitchFamily="34" charset="-122"/>
                <a:cs typeface="Calibri" pitchFamily="34" charset="-120"/>
              </a:rPr>
              <a:t>Stronger privacy &amp; encryption</a:t>
            </a:r>
            <a:endParaRPr lang="en-US" sz="1200" dirty="0"/>
          </a:p>
        </p:txBody>
      </p:sp>
      <p:sp>
        <p:nvSpPr>
          <p:cNvPr id="32" name="Shape 23"/>
          <p:cNvSpPr/>
          <p:nvPr/>
        </p:nvSpPr>
        <p:spPr>
          <a:xfrm>
            <a:off x="4297680" y="4754880"/>
            <a:ext cx="3520440" cy="1417320"/>
          </a:xfrm>
          <a:prstGeom prst="roundRect">
            <a:avLst>
              <a:gd name="adj" fmla="val 6452"/>
            </a:avLst>
          </a:prstGeom>
          <a:solidFill>
            <a:srgbClr val="FFFFFF"/>
          </a:solidFill>
          <a:ln w="9525">
            <a:solidFill>
              <a:srgbClr val="DCDCF0"/>
            </a:solidFill>
            <a:prstDash val="solid"/>
          </a:ln>
          <a:effectLst>
            <a:outerShdw blurRad="101600" dist="38100" dir="5400000" algn="bl" rotWithShape="0">
              <a:srgbClr val="14163A">
                <a:alpha val="12000"/>
              </a:srgbClr>
            </a:outerShdw>
          </a:effectLst>
        </p:spPr>
      </p:sp>
      <p:sp>
        <p:nvSpPr>
          <p:cNvPr id="33" name="Shape 24"/>
          <p:cNvSpPr/>
          <p:nvPr/>
        </p:nvSpPr>
        <p:spPr>
          <a:xfrm>
            <a:off x="4549140" y="5212080"/>
            <a:ext cx="502920" cy="502920"/>
          </a:xfrm>
          <a:prstGeom prst="ellipse">
            <a:avLst/>
          </a:prstGeom>
          <a:solidFill>
            <a:srgbClr val="F5A623"/>
          </a:solidFill>
          <a:ln/>
        </p:spPr>
      </p:sp>
      <p:pic>
        <p:nvPicPr>
          <p:cNvPr id="34" name="Image 7" descr="preencoded.png"/>
          <p:cNvPicPr>
            <a:picLocks noChangeAspect="1"/>
          </p:cNvPicPr>
          <p:nvPr/>
        </p:nvPicPr>
        <p:blipFill>
          <a:blip r:embed="rId10"/>
          <a:stretch>
            <a:fillRect/>
          </a:stretch>
        </p:blipFill>
        <p:spPr>
          <a:xfrm>
            <a:off x="4674870" y="5337810"/>
            <a:ext cx="251460" cy="251460"/>
          </a:xfrm>
          <a:prstGeom prst="rect">
            <a:avLst/>
          </a:prstGeom>
        </p:spPr>
      </p:pic>
      <p:sp>
        <p:nvSpPr>
          <p:cNvPr id="35" name="Text 25"/>
          <p:cNvSpPr txBox="1"/>
          <p:nvPr/>
        </p:nvSpPr>
        <p:spPr>
          <a:xfrm>
            <a:off x="5257800" y="4754880"/>
            <a:ext cx="2377440" cy="1417320"/>
          </a:xfrm>
          <a:prstGeom prst="rect">
            <a:avLst/>
          </a:prstGeom>
          <a:noFill/>
          <a:ln/>
        </p:spPr>
        <p:txBody>
          <a:bodyPr wrap="square" rtlCol="0" anchor="ctr"/>
          <a:lstStyle/>
          <a:p>
            <a:pPr marL="0" indent="0">
              <a:buNone/>
            </a:pPr>
            <a:r>
              <a:rPr lang="en-US" sz="1200" b="1" dirty="0">
                <a:solidFill>
                  <a:srgbClr val="14163A"/>
                </a:solidFill>
                <a:latin typeface="Calibri" pitchFamily="34" charset="0"/>
                <a:ea typeface="Calibri" pitchFamily="34" charset="-122"/>
                <a:cs typeface="Calibri" pitchFamily="34" charset="-120"/>
              </a:rPr>
              <a:t>Importance learned from behavior</a:t>
            </a:r>
            <a:endParaRPr lang="en-US" sz="1200" dirty="0"/>
          </a:p>
        </p:txBody>
      </p:sp>
      <p:sp>
        <p:nvSpPr>
          <p:cNvPr id="36" name="Shape 26"/>
          <p:cNvSpPr/>
          <p:nvPr/>
        </p:nvSpPr>
        <p:spPr>
          <a:xfrm>
            <a:off x="8046720" y="4754880"/>
            <a:ext cx="3520440" cy="1417320"/>
          </a:xfrm>
          <a:prstGeom prst="roundRect">
            <a:avLst>
              <a:gd name="adj" fmla="val 6452"/>
            </a:avLst>
          </a:prstGeom>
          <a:solidFill>
            <a:srgbClr val="FFFFFF"/>
          </a:solidFill>
          <a:ln w="9525">
            <a:solidFill>
              <a:srgbClr val="DCDCF0"/>
            </a:solidFill>
            <a:prstDash val="solid"/>
          </a:ln>
          <a:effectLst>
            <a:outerShdw blurRad="101600" dist="38100" dir="5400000" algn="bl" rotWithShape="0">
              <a:srgbClr val="14163A">
                <a:alpha val="12000"/>
              </a:srgbClr>
            </a:outerShdw>
          </a:effectLst>
        </p:spPr>
      </p:sp>
      <p:sp>
        <p:nvSpPr>
          <p:cNvPr id="37" name="Shape 27"/>
          <p:cNvSpPr/>
          <p:nvPr/>
        </p:nvSpPr>
        <p:spPr>
          <a:xfrm>
            <a:off x="8298180" y="5212080"/>
            <a:ext cx="502920" cy="502920"/>
          </a:xfrm>
          <a:prstGeom prst="ellipse">
            <a:avLst/>
          </a:prstGeom>
          <a:solidFill>
            <a:srgbClr val="5B4FE9"/>
          </a:solidFill>
          <a:ln/>
        </p:spPr>
      </p:sp>
      <p:pic>
        <p:nvPicPr>
          <p:cNvPr id="38" name="Image 8" descr="preencoded.png"/>
          <p:cNvPicPr>
            <a:picLocks noChangeAspect="1"/>
          </p:cNvPicPr>
          <p:nvPr/>
        </p:nvPicPr>
        <p:blipFill>
          <a:blip r:embed="rId11"/>
          <a:stretch>
            <a:fillRect/>
          </a:stretch>
        </p:blipFill>
        <p:spPr>
          <a:xfrm>
            <a:off x="8423910" y="5337810"/>
            <a:ext cx="251460" cy="251460"/>
          </a:xfrm>
          <a:prstGeom prst="rect">
            <a:avLst/>
          </a:prstGeom>
        </p:spPr>
      </p:pic>
      <p:sp>
        <p:nvSpPr>
          <p:cNvPr id="39" name="Text 28"/>
          <p:cNvSpPr txBox="1"/>
          <p:nvPr/>
        </p:nvSpPr>
        <p:spPr>
          <a:xfrm>
            <a:off x="9006840" y="4754880"/>
            <a:ext cx="2377440" cy="1417320"/>
          </a:xfrm>
          <a:prstGeom prst="rect">
            <a:avLst/>
          </a:prstGeom>
          <a:noFill/>
          <a:ln/>
        </p:spPr>
        <p:txBody>
          <a:bodyPr wrap="square" rtlCol="0" anchor="ctr"/>
          <a:lstStyle/>
          <a:p>
            <a:pPr marL="0" indent="0">
              <a:buNone/>
            </a:pPr>
            <a:r>
              <a:rPr lang="en-US" sz="1200" b="1" dirty="0">
                <a:solidFill>
                  <a:srgbClr val="14163A"/>
                </a:solidFill>
                <a:latin typeface="Calibri" pitchFamily="34" charset="0"/>
                <a:ea typeface="Calibri" pitchFamily="34" charset="-122"/>
                <a:cs typeface="Calibri" pitchFamily="34" charset="-120"/>
              </a:rPr>
              <a:t>Human-readable memory timeline</a:t>
            </a:r>
            <a:endParaRPr lang="en-US" sz="1200" dirty="0"/>
          </a:p>
        </p:txBody>
      </p:sp>
      <p:sp>
        <p:nvSpPr>
          <p:cNvPr id="40" name="Text 29"/>
          <p:cNvSpPr txBox="1"/>
          <p:nvPr/>
        </p:nvSpPr>
        <p:spPr>
          <a:xfrm>
            <a:off x="11475720" y="6473952"/>
            <a:ext cx="548640" cy="274320"/>
          </a:xfrm>
          <a:prstGeom prst="rect">
            <a:avLst/>
          </a:prstGeom>
          <a:noFill/>
          <a:ln/>
        </p:spPr>
        <p:txBody>
          <a:bodyPr wrap="square" rtlCol="0" anchor="ctr"/>
          <a:lstStyle/>
          <a:p>
            <a:pPr marL="0" indent="0" algn="r">
              <a:buNone/>
            </a:pPr>
            <a:r>
              <a:rPr lang="en-US" sz="900" dirty="0">
                <a:solidFill>
                  <a:srgbClr val="6B6F9E"/>
                </a:solidFill>
                <a:latin typeface="Calibri" pitchFamily="34" charset="0"/>
                <a:ea typeface="Calibri" pitchFamily="34" charset="-122"/>
                <a:cs typeface="Calibri" pitchFamily="34" charset="-120"/>
              </a:rPr>
              <a:t>17</a:t>
            </a:r>
            <a:endParaRPr lang="en-US" sz="900" dirty="0"/>
          </a:p>
        </p:txBody>
      </p:sp>
      <p:sp>
        <p:nvSpPr>
          <p:cNvPr id="41" name="Text 30"/>
          <p:cNvSpPr txBox="1"/>
          <p:nvPr/>
        </p:nvSpPr>
        <p:spPr>
          <a:xfrm>
            <a:off x="548640" y="6473952"/>
            <a:ext cx="2743200" cy="274320"/>
          </a:xfrm>
          <a:prstGeom prst="rect">
            <a:avLst/>
          </a:prstGeom>
          <a:noFill/>
          <a:ln/>
        </p:spPr>
        <p:txBody>
          <a:bodyPr wrap="square" rtlCol="0" anchor="ctr"/>
          <a:lstStyle/>
          <a:p>
            <a:pPr marL="0" indent="0">
              <a:buNone/>
            </a:pPr>
            <a:r>
              <a:rPr lang="en-US" sz="900" kern="0" spc="100" dirty="0">
                <a:solidFill>
                  <a:srgbClr val="6B6F9E"/>
                </a:solidFill>
                <a:latin typeface="Calibri" pitchFamily="34" charset="0"/>
                <a:ea typeface="Calibri" pitchFamily="34" charset="-122"/>
                <a:cs typeface="Calibri" pitchFamily="34" charset="-120"/>
              </a:rPr>
              <a:t>MEMORA</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163A"/>
        </a:solidFill>
        <a:effectLst/>
      </p:bgPr>
    </p:bg>
    <p:spTree>
      <p:nvGrpSpPr>
        <p:cNvPr id="1" name=""/>
        <p:cNvGrpSpPr/>
        <p:nvPr/>
      </p:nvGrpSpPr>
      <p:grpSpPr>
        <a:xfrm>
          <a:off x="0" y="0"/>
          <a:ext cx="0" cy="0"/>
          <a:chOff x="0" y="0"/>
          <a:chExt cx="0" cy="0"/>
        </a:xfrm>
      </p:grpSpPr>
      <p:sp>
        <p:nvSpPr>
          <p:cNvPr id="2" name="Shape 0"/>
          <p:cNvSpPr/>
          <p:nvPr/>
        </p:nvSpPr>
        <p:spPr>
          <a:xfrm>
            <a:off x="-1463040" y="-1280160"/>
            <a:ext cx="3840480" cy="3840480"/>
          </a:xfrm>
          <a:prstGeom prst="ellipse">
            <a:avLst/>
          </a:prstGeom>
          <a:solidFill>
            <a:srgbClr val="5B4FE9">
              <a:alpha val="22000"/>
            </a:srgbClr>
          </a:solidFill>
          <a:ln/>
        </p:spPr>
      </p:sp>
      <p:sp>
        <p:nvSpPr>
          <p:cNvPr id="3" name="Shape 1"/>
          <p:cNvSpPr/>
          <p:nvPr/>
        </p:nvSpPr>
        <p:spPr>
          <a:xfrm>
            <a:off x="9692640" y="4206240"/>
            <a:ext cx="4206240" cy="4206240"/>
          </a:xfrm>
          <a:prstGeom prst="ellipse">
            <a:avLst/>
          </a:prstGeom>
          <a:solidFill>
            <a:srgbClr val="00D9C0">
              <a:alpha val="16000"/>
            </a:srgbClr>
          </a:solidFill>
          <a:ln/>
        </p:spPr>
      </p:sp>
      <p:sp>
        <p:nvSpPr>
          <p:cNvPr id="4" name="Shape 2"/>
          <p:cNvSpPr/>
          <p:nvPr/>
        </p:nvSpPr>
        <p:spPr>
          <a:xfrm>
            <a:off x="8778240" y="-1645920"/>
            <a:ext cx="2194560" cy="2194560"/>
          </a:xfrm>
          <a:prstGeom prst="ellipse">
            <a:avLst/>
          </a:prstGeom>
          <a:solidFill>
            <a:srgbClr val="00D9C0">
              <a:alpha val="12000"/>
            </a:srgbClr>
          </a:solidFill>
          <a:ln/>
        </p:spPr>
      </p:sp>
      <p:sp>
        <p:nvSpPr>
          <p:cNvPr id="5" name="Text 3"/>
          <p:cNvSpPr txBox="1"/>
          <p:nvPr/>
        </p:nvSpPr>
        <p:spPr>
          <a:xfrm>
            <a:off x="548640" y="457200"/>
            <a:ext cx="5486400" cy="274320"/>
          </a:xfrm>
          <a:prstGeom prst="rect">
            <a:avLst/>
          </a:prstGeom>
          <a:noFill/>
          <a:ln/>
        </p:spPr>
        <p:txBody>
          <a:bodyPr wrap="square" rtlCol="0" anchor="ctr"/>
          <a:lstStyle/>
          <a:p>
            <a:pPr marL="0" indent="0">
              <a:buNone/>
            </a:pPr>
            <a:r>
              <a:rPr lang="en-US" sz="1250" b="1" kern="0" spc="200" dirty="0">
                <a:solidFill>
                  <a:srgbClr val="00D9C0"/>
                </a:solidFill>
                <a:latin typeface="Calibri" pitchFamily="34" charset="0"/>
                <a:ea typeface="Calibri" pitchFamily="34" charset="-122"/>
                <a:cs typeface="Calibri" pitchFamily="34" charset="-120"/>
              </a:rPr>
              <a:t>CONCLUSION</a:t>
            </a:r>
            <a:endParaRPr lang="en-US" sz="1250" dirty="0"/>
          </a:p>
        </p:txBody>
      </p:sp>
      <p:sp>
        <p:nvSpPr>
          <p:cNvPr id="6" name="Text 4"/>
          <p:cNvSpPr txBox="1"/>
          <p:nvPr/>
        </p:nvSpPr>
        <p:spPr>
          <a:xfrm>
            <a:off x="548640" y="731520"/>
            <a:ext cx="10972800" cy="64008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Memory as Evolving Information — Not Static Storage</a:t>
            </a:r>
            <a:endParaRPr lang="en-US" sz="2600" dirty="0"/>
          </a:p>
        </p:txBody>
      </p:sp>
      <p:sp>
        <p:nvSpPr>
          <p:cNvPr id="7" name="Shape 5"/>
          <p:cNvSpPr/>
          <p:nvPr/>
        </p:nvSpPr>
        <p:spPr>
          <a:xfrm>
            <a:off x="883768" y="1645920"/>
            <a:ext cx="1600200" cy="548640"/>
          </a:xfrm>
          <a:prstGeom prst="roundRect">
            <a:avLst>
              <a:gd name="adj" fmla="val 50000"/>
            </a:avLst>
          </a:prstGeom>
          <a:solidFill>
            <a:srgbClr val="1E2166"/>
          </a:solidFill>
          <a:ln w="12700">
            <a:solidFill>
              <a:srgbClr val="5B4FE9"/>
            </a:solidFill>
            <a:prstDash val="solid"/>
          </a:ln>
        </p:spPr>
      </p:sp>
      <p:sp>
        <p:nvSpPr>
          <p:cNvPr id="8" name="Text 6"/>
          <p:cNvSpPr txBox="1"/>
          <p:nvPr/>
        </p:nvSpPr>
        <p:spPr>
          <a:xfrm>
            <a:off x="883768" y="1645920"/>
            <a:ext cx="1600200" cy="548640"/>
          </a:xfrm>
          <a:prstGeom prst="rect">
            <a:avLst/>
          </a:prstGeom>
          <a:noFill/>
          <a:ln/>
        </p:spPr>
        <p:txBody>
          <a:bodyPr wrap="square" rtlCol="0" anchor="ctr"/>
          <a:lstStyle/>
          <a:p>
            <a:pPr marL="0" indent="0" algn="ctr">
              <a:buNone/>
            </a:pPr>
            <a:r>
              <a:rPr lang="en-US" sz="1200" b="1" dirty="0">
                <a:solidFill>
                  <a:srgbClr val="00D9C0"/>
                </a:solidFill>
                <a:latin typeface="Calibri" pitchFamily="34" charset="0"/>
                <a:ea typeface="Calibri" pitchFamily="34" charset="-122"/>
                <a:cs typeface="Calibri" pitchFamily="34" charset="-120"/>
              </a:rPr>
              <a:t>Remember</a:t>
            </a:r>
            <a:endParaRPr lang="en-US" sz="1200" dirty="0"/>
          </a:p>
        </p:txBody>
      </p:sp>
      <p:sp>
        <p:nvSpPr>
          <p:cNvPr id="9" name="Shape 7"/>
          <p:cNvSpPr/>
          <p:nvPr/>
        </p:nvSpPr>
        <p:spPr>
          <a:xfrm>
            <a:off x="2483968" y="1920240"/>
            <a:ext cx="164592" cy="0"/>
          </a:xfrm>
          <a:prstGeom prst="line">
            <a:avLst/>
          </a:prstGeom>
          <a:noFill/>
          <a:ln w="19050">
            <a:solidFill>
              <a:srgbClr val="5B4FE9"/>
            </a:solidFill>
            <a:prstDash val="solid"/>
            <a:tailEnd type="triangle"/>
          </a:ln>
        </p:spPr>
      </p:sp>
      <p:sp>
        <p:nvSpPr>
          <p:cNvPr id="10" name="Shape 8"/>
          <p:cNvSpPr/>
          <p:nvPr/>
        </p:nvSpPr>
        <p:spPr>
          <a:xfrm>
            <a:off x="2648560" y="1645920"/>
            <a:ext cx="1600200" cy="548640"/>
          </a:xfrm>
          <a:prstGeom prst="roundRect">
            <a:avLst>
              <a:gd name="adj" fmla="val 50000"/>
            </a:avLst>
          </a:prstGeom>
          <a:solidFill>
            <a:srgbClr val="1E2166"/>
          </a:solidFill>
          <a:ln w="12700">
            <a:solidFill>
              <a:srgbClr val="5B4FE9"/>
            </a:solidFill>
            <a:prstDash val="solid"/>
          </a:ln>
        </p:spPr>
      </p:sp>
      <p:sp>
        <p:nvSpPr>
          <p:cNvPr id="11" name="Text 9"/>
          <p:cNvSpPr txBox="1"/>
          <p:nvPr/>
        </p:nvSpPr>
        <p:spPr>
          <a:xfrm>
            <a:off x="2648560" y="1645920"/>
            <a:ext cx="1600200" cy="548640"/>
          </a:xfrm>
          <a:prstGeom prst="rect">
            <a:avLst/>
          </a:prstGeom>
          <a:noFill/>
          <a:ln/>
        </p:spPr>
        <p:txBody>
          <a:bodyPr wrap="square" rtlCol="0" anchor="ctr"/>
          <a:lstStyle/>
          <a:p>
            <a:pPr marL="0" indent="0" algn="ctr">
              <a:buNone/>
            </a:pPr>
            <a:r>
              <a:rPr lang="en-US" sz="1200" b="1" dirty="0">
                <a:solidFill>
                  <a:srgbClr val="00D9C0"/>
                </a:solidFill>
                <a:latin typeface="Calibri" pitchFamily="34" charset="0"/>
                <a:ea typeface="Calibri" pitchFamily="34" charset="-122"/>
                <a:cs typeface="Calibri" pitchFamily="34" charset="-120"/>
              </a:rPr>
              <a:t>Retrieve</a:t>
            </a:r>
            <a:endParaRPr lang="en-US" sz="1200" dirty="0"/>
          </a:p>
        </p:txBody>
      </p:sp>
      <p:sp>
        <p:nvSpPr>
          <p:cNvPr id="12" name="Shape 10"/>
          <p:cNvSpPr/>
          <p:nvPr/>
        </p:nvSpPr>
        <p:spPr>
          <a:xfrm>
            <a:off x="4248760" y="1920240"/>
            <a:ext cx="164592" cy="0"/>
          </a:xfrm>
          <a:prstGeom prst="line">
            <a:avLst/>
          </a:prstGeom>
          <a:noFill/>
          <a:ln w="19050">
            <a:solidFill>
              <a:srgbClr val="5B4FE9"/>
            </a:solidFill>
            <a:prstDash val="solid"/>
            <a:tailEnd type="triangle"/>
          </a:ln>
        </p:spPr>
      </p:sp>
      <p:sp>
        <p:nvSpPr>
          <p:cNvPr id="13" name="Shape 11"/>
          <p:cNvSpPr/>
          <p:nvPr/>
        </p:nvSpPr>
        <p:spPr>
          <a:xfrm>
            <a:off x="4413352" y="1645920"/>
            <a:ext cx="1600200" cy="548640"/>
          </a:xfrm>
          <a:prstGeom prst="roundRect">
            <a:avLst>
              <a:gd name="adj" fmla="val 50000"/>
            </a:avLst>
          </a:prstGeom>
          <a:solidFill>
            <a:srgbClr val="1E2166"/>
          </a:solidFill>
          <a:ln w="12700">
            <a:solidFill>
              <a:srgbClr val="5B4FE9"/>
            </a:solidFill>
            <a:prstDash val="solid"/>
          </a:ln>
        </p:spPr>
      </p:sp>
      <p:sp>
        <p:nvSpPr>
          <p:cNvPr id="14" name="Text 12"/>
          <p:cNvSpPr txBox="1"/>
          <p:nvPr/>
        </p:nvSpPr>
        <p:spPr>
          <a:xfrm>
            <a:off x="4413352" y="1645920"/>
            <a:ext cx="1600200" cy="548640"/>
          </a:xfrm>
          <a:prstGeom prst="rect">
            <a:avLst/>
          </a:prstGeom>
          <a:noFill/>
          <a:ln/>
        </p:spPr>
        <p:txBody>
          <a:bodyPr wrap="square" rtlCol="0" anchor="ctr"/>
          <a:lstStyle/>
          <a:p>
            <a:pPr marL="0" indent="0" algn="ctr">
              <a:buNone/>
            </a:pPr>
            <a:r>
              <a:rPr lang="en-US" sz="1200" b="1" dirty="0">
                <a:solidFill>
                  <a:srgbClr val="00D9C0"/>
                </a:solidFill>
                <a:latin typeface="Calibri" pitchFamily="34" charset="0"/>
                <a:ea typeface="Calibri" pitchFamily="34" charset="-122"/>
                <a:cs typeface="Calibri" pitchFamily="34" charset="-120"/>
              </a:rPr>
              <a:t>Reconcile</a:t>
            </a:r>
            <a:endParaRPr lang="en-US" sz="1200" dirty="0"/>
          </a:p>
        </p:txBody>
      </p:sp>
      <p:sp>
        <p:nvSpPr>
          <p:cNvPr id="15" name="Shape 13"/>
          <p:cNvSpPr/>
          <p:nvPr/>
        </p:nvSpPr>
        <p:spPr>
          <a:xfrm>
            <a:off x="6013552" y="1920240"/>
            <a:ext cx="164592" cy="0"/>
          </a:xfrm>
          <a:prstGeom prst="line">
            <a:avLst/>
          </a:prstGeom>
          <a:noFill/>
          <a:ln w="19050">
            <a:solidFill>
              <a:srgbClr val="5B4FE9"/>
            </a:solidFill>
            <a:prstDash val="solid"/>
            <a:tailEnd type="triangle"/>
          </a:ln>
        </p:spPr>
      </p:sp>
      <p:sp>
        <p:nvSpPr>
          <p:cNvPr id="16" name="Shape 14"/>
          <p:cNvSpPr/>
          <p:nvPr/>
        </p:nvSpPr>
        <p:spPr>
          <a:xfrm>
            <a:off x="6178144" y="1645920"/>
            <a:ext cx="1600200" cy="548640"/>
          </a:xfrm>
          <a:prstGeom prst="roundRect">
            <a:avLst>
              <a:gd name="adj" fmla="val 50000"/>
            </a:avLst>
          </a:prstGeom>
          <a:solidFill>
            <a:srgbClr val="1E2166"/>
          </a:solidFill>
          <a:ln w="12700">
            <a:solidFill>
              <a:srgbClr val="5B4FE9"/>
            </a:solidFill>
            <a:prstDash val="solid"/>
          </a:ln>
        </p:spPr>
      </p:sp>
      <p:sp>
        <p:nvSpPr>
          <p:cNvPr id="17" name="Text 15"/>
          <p:cNvSpPr txBox="1"/>
          <p:nvPr/>
        </p:nvSpPr>
        <p:spPr>
          <a:xfrm>
            <a:off x="6178144" y="1645920"/>
            <a:ext cx="1600200" cy="548640"/>
          </a:xfrm>
          <a:prstGeom prst="rect">
            <a:avLst/>
          </a:prstGeom>
          <a:noFill/>
          <a:ln/>
        </p:spPr>
        <p:txBody>
          <a:bodyPr wrap="square" rtlCol="0" anchor="ctr"/>
          <a:lstStyle/>
          <a:p>
            <a:pPr marL="0" indent="0" algn="ctr">
              <a:buNone/>
            </a:pPr>
            <a:r>
              <a:rPr lang="en-US" sz="1200" b="1" dirty="0">
                <a:solidFill>
                  <a:srgbClr val="00D9C0"/>
                </a:solidFill>
                <a:latin typeface="Calibri" pitchFamily="34" charset="0"/>
                <a:ea typeface="Calibri" pitchFamily="34" charset="-122"/>
                <a:cs typeface="Calibri" pitchFamily="34" charset="-120"/>
              </a:rPr>
              <a:t>Update</a:t>
            </a:r>
            <a:endParaRPr lang="en-US" sz="1200" dirty="0"/>
          </a:p>
        </p:txBody>
      </p:sp>
      <p:sp>
        <p:nvSpPr>
          <p:cNvPr id="18" name="Shape 16"/>
          <p:cNvSpPr/>
          <p:nvPr/>
        </p:nvSpPr>
        <p:spPr>
          <a:xfrm>
            <a:off x="7778344" y="1920240"/>
            <a:ext cx="164592" cy="0"/>
          </a:xfrm>
          <a:prstGeom prst="line">
            <a:avLst/>
          </a:prstGeom>
          <a:noFill/>
          <a:ln w="19050">
            <a:solidFill>
              <a:srgbClr val="5B4FE9"/>
            </a:solidFill>
            <a:prstDash val="solid"/>
            <a:tailEnd type="triangle"/>
          </a:ln>
        </p:spPr>
      </p:sp>
      <p:sp>
        <p:nvSpPr>
          <p:cNvPr id="19" name="Shape 17"/>
          <p:cNvSpPr/>
          <p:nvPr/>
        </p:nvSpPr>
        <p:spPr>
          <a:xfrm>
            <a:off x="7942936" y="1645920"/>
            <a:ext cx="1600200" cy="548640"/>
          </a:xfrm>
          <a:prstGeom prst="roundRect">
            <a:avLst>
              <a:gd name="adj" fmla="val 50000"/>
            </a:avLst>
          </a:prstGeom>
          <a:solidFill>
            <a:srgbClr val="1E2166"/>
          </a:solidFill>
          <a:ln w="12700">
            <a:solidFill>
              <a:srgbClr val="5B4FE9"/>
            </a:solidFill>
            <a:prstDash val="solid"/>
          </a:ln>
        </p:spPr>
      </p:sp>
      <p:sp>
        <p:nvSpPr>
          <p:cNvPr id="20" name="Text 18"/>
          <p:cNvSpPr txBox="1"/>
          <p:nvPr/>
        </p:nvSpPr>
        <p:spPr>
          <a:xfrm>
            <a:off x="7942936" y="1645920"/>
            <a:ext cx="1600200" cy="548640"/>
          </a:xfrm>
          <a:prstGeom prst="rect">
            <a:avLst/>
          </a:prstGeom>
          <a:noFill/>
          <a:ln/>
        </p:spPr>
        <p:txBody>
          <a:bodyPr wrap="square" rtlCol="0" anchor="ctr"/>
          <a:lstStyle/>
          <a:p>
            <a:pPr marL="0" indent="0" algn="ctr">
              <a:buNone/>
            </a:pPr>
            <a:r>
              <a:rPr lang="en-US" sz="1200" b="1" dirty="0">
                <a:solidFill>
                  <a:srgbClr val="00D9C0"/>
                </a:solidFill>
                <a:latin typeface="Calibri" pitchFamily="34" charset="0"/>
                <a:ea typeface="Calibri" pitchFamily="34" charset="-122"/>
                <a:cs typeface="Calibri" pitchFamily="34" charset="-120"/>
              </a:rPr>
              <a:t>Decay</a:t>
            </a:r>
            <a:endParaRPr lang="en-US" sz="1200" dirty="0"/>
          </a:p>
        </p:txBody>
      </p:sp>
      <p:sp>
        <p:nvSpPr>
          <p:cNvPr id="21" name="Shape 19"/>
          <p:cNvSpPr/>
          <p:nvPr/>
        </p:nvSpPr>
        <p:spPr>
          <a:xfrm>
            <a:off x="9543136" y="1920240"/>
            <a:ext cx="164592" cy="0"/>
          </a:xfrm>
          <a:prstGeom prst="line">
            <a:avLst/>
          </a:prstGeom>
          <a:noFill/>
          <a:ln w="19050">
            <a:solidFill>
              <a:srgbClr val="5B4FE9"/>
            </a:solidFill>
            <a:prstDash val="solid"/>
            <a:tailEnd type="triangle"/>
          </a:ln>
        </p:spPr>
      </p:sp>
      <p:sp>
        <p:nvSpPr>
          <p:cNvPr id="22" name="Shape 20"/>
          <p:cNvSpPr/>
          <p:nvPr/>
        </p:nvSpPr>
        <p:spPr>
          <a:xfrm>
            <a:off x="9707728" y="1645920"/>
            <a:ext cx="1600200" cy="548640"/>
          </a:xfrm>
          <a:prstGeom prst="roundRect">
            <a:avLst>
              <a:gd name="adj" fmla="val 50000"/>
            </a:avLst>
          </a:prstGeom>
          <a:solidFill>
            <a:srgbClr val="1E2166"/>
          </a:solidFill>
          <a:ln w="12700">
            <a:solidFill>
              <a:srgbClr val="5B4FE9"/>
            </a:solidFill>
            <a:prstDash val="solid"/>
          </a:ln>
        </p:spPr>
      </p:sp>
      <p:sp>
        <p:nvSpPr>
          <p:cNvPr id="23" name="Text 21"/>
          <p:cNvSpPr txBox="1"/>
          <p:nvPr/>
        </p:nvSpPr>
        <p:spPr>
          <a:xfrm>
            <a:off x="9707728" y="1645920"/>
            <a:ext cx="1600200" cy="548640"/>
          </a:xfrm>
          <a:prstGeom prst="rect">
            <a:avLst/>
          </a:prstGeom>
          <a:noFill/>
          <a:ln/>
        </p:spPr>
        <p:txBody>
          <a:bodyPr wrap="square" rtlCol="0" anchor="ctr"/>
          <a:lstStyle/>
          <a:p>
            <a:pPr marL="0" indent="0" algn="ctr">
              <a:buNone/>
            </a:pPr>
            <a:r>
              <a:rPr lang="en-US" sz="1200" b="1" dirty="0">
                <a:solidFill>
                  <a:srgbClr val="00D9C0"/>
                </a:solidFill>
                <a:latin typeface="Calibri" pitchFamily="34" charset="0"/>
                <a:ea typeface="Calibri" pitchFamily="34" charset="-122"/>
                <a:cs typeface="Calibri" pitchFamily="34" charset="-120"/>
              </a:rPr>
              <a:t>Explain</a:t>
            </a:r>
            <a:endParaRPr lang="en-US" sz="1200" dirty="0"/>
          </a:p>
        </p:txBody>
      </p:sp>
      <p:sp>
        <p:nvSpPr>
          <p:cNvPr id="24" name="Text 22"/>
          <p:cNvSpPr txBox="1"/>
          <p:nvPr/>
        </p:nvSpPr>
        <p:spPr>
          <a:xfrm>
            <a:off x="1188720" y="2606040"/>
            <a:ext cx="9784080" cy="1280160"/>
          </a:xfrm>
          <a:prstGeom prst="rect">
            <a:avLst/>
          </a:prstGeom>
          <a:noFill/>
          <a:ln/>
        </p:spPr>
        <p:txBody>
          <a:bodyPr wrap="square" rtlCol="0" anchor="ctr"/>
          <a:lstStyle/>
          <a:p>
            <a:pPr marL="0" indent="0" algn="ctr">
              <a:lnSpc>
                <a:spcPct val="120000"/>
              </a:lnSpc>
              <a:buNone/>
            </a:pPr>
            <a:r>
              <a:rPr lang="en-US" sz="1700" i="1" dirty="0">
                <a:solidFill>
                  <a:srgbClr val="FFFFFF"/>
                </a:solidFill>
                <a:latin typeface="Cambria" pitchFamily="34" charset="0"/>
                <a:ea typeface="Cambria" pitchFamily="34" charset="-122"/>
                <a:cs typeface="Cambria" pitchFamily="34" charset="-120"/>
              </a:rPr>
              <a:t>"The goal is not for an AI to remember everything. The goal is for it to remember what matters, know what changed, and know why it believes what it currently knows."</a:t>
            </a:r>
            <a:endParaRPr lang="en-US" sz="1700" dirty="0"/>
          </a:p>
        </p:txBody>
      </p:sp>
      <p:sp>
        <p:nvSpPr>
          <p:cNvPr id="25" name="Shape 23"/>
          <p:cNvSpPr/>
          <p:nvPr/>
        </p:nvSpPr>
        <p:spPr>
          <a:xfrm>
            <a:off x="540868" y="4251960"/>
            <a:ext cx="3520440" cy="1737360"/>
          </a:xfrm>
          <a:prstGeom prst="roundRect">
            <a:avLst>
              <a:gd name="adj" fmla="val 5263"/>
            </a:avLst>
          </a:prstGeom>
          <a:solidFill>
            <a:srgbClr val="FFFFFF">
              <a:alpha val="8000"/>
            </a:srgbClr>
          </a:solidFill>
          <a:ln w="9525">
            <a:solidFill>
              <a:srgbClr val="00D9C0">
                <a:alpha val="60000"/>
              </a:srgbClr>
            </a:solidFill>
            <a:prstDash val="solid"/>
          </a:ln>
        </p:spPr>
      </p:sp>
      <p:sp>
        <p:nvSpPr>
          <p:cNvPr id="26" name="Shape 24"/>
          <p:cNvSpPr/>
          <p:nvPr/>
        </p:nvSpPr>
        <p:spPr>
          <a:xfrm>
            <a:off x="2003908" y="4411980"/>
            <a:ext cx="594360" cy="594360"/>
          </a:xfrm>
          <a:prstGeom prst="ellipse">
            <a:avLst/>
          </a:prstGeom>
          <a:solidFill>
            <a:srgbClr val="00D9C0"/>
          </a:solidFill>
          <a:ln/>
        </p:spPr>
      </p:sp>
      <p:pic>
        <p:nvPicPr>
          <p:cNvPr id="27" name="Image 0" descr="preencoded.png"/>
          <p:cNvPicPr>
            <a:picLocks noChangeAspect="1"/>
          </p:cNvPicPr>
          <p:nvPr/>
        </p:nvPicPr>
        <p:blipFill>
          <a:blip r:embed="rId3"/>
          <a:stretch>
            <a:fillRect/>
          </a:stretch>
        </p:blipFill>
        <p:spPr>
          <a:xfrm>
            <a:off x="2152498" y="4560570"/>
            <a:ext cx="297180" cy="297180"/>
          </a:xfrm>
          <a:prstGeom prst="rect">
            <a:avLst/>
          </a:prstGeom>
        </p:spPr>
      </p:pic>
      <p:sp>
        <p:nvSpPr>
          <p:cNvPr id="28" name="Text 25"/>
          <p:cNvSpPr txBox="1"/>
          <p:nvPr/>
        </p:nvSpPr>
        <p:spPr>
          <a:xfrm>
            <a:off x="723748" y="5074920"/>
            <a:ext cx="3154680" cy="36576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Persistent Memory</a:t>
            </a:r>
            <a:endParaRPr lang="en-US" sz="1350" dirty="0"/>
          </a:p>
        </p:txBody>
      </p:sp>
      <p:sp>
        <p:nvSpPr>
          <p:cNvPr id="29" name="Text 26"/>
          <p:cNvSpPr txBox="1"/>
          <p:nvPr/>
        </p:nvSpPr>
        <p:spPr>
          <a:xfrm>
            <a:off x="815188" y="5440680"/>
            <a:ext cx="2971800" cy="502920"/>
          </a:xfrm>
          <a:prstGeom prst="rect">
            <a:avLst/>
          </a:prstGeom>
          <a:noFill/>
          <a:ln/>
        </p:spPr>
        <p:txBody>
          <a:bodyPr wrap="square" rtlCol="0" anchor="ctr"/>
          <a:lstStyle/>
          <a:p>
            <a:pPr marL="0" indent="0" algn="ctr">
              <a:buNone/>
            </a:pPr>
            <a:r>
              <a:rPr lang="en-US" sz="1050" dirty="0">
                <a:solidFill>
                  <a:srgbClr val="CADCFC"/>
                </a:solidFill>
                <a:latin typeface="Calibri" pitchFamily="34" charset="0"/>
                <a:ea typeface="Calibri" pitchFamily="34" charset="-122"/>
                <a:cs typeface="Calibri" pitchFamily="34" charset="-120"/>
              </a:rPr>
              <a:t>Remembers across sessions</a:t>
            </a:r>
            <a:endParaRPr lang="en-US" sz="1050" dirty="0"/>
          </a:p>
        </p:txBody>
      </p:sp>
      <p:sp>
        <p:nvSpPr>
          <p:cNvPr id="30" name="Shape 27"/>
          <p:cNvSpPr/>
          <p:nvPr/>
        </p:nvSpPr>
        <p:spPr>
          <a:xfrm>
            <a:off x="4335628" y="4251960"/>
            <a:ext cx="3520440" cy="1737360"/>
          </a:xfrm>
          <a:prstGeom prst="roundRect">
            <a:avLst>
              <a:gd name="adj" fmla="val 5263"/>
            </a:avLst>
          </a:prstGeom>
          <a:solidFill>
            <a:srgbClr val="FFFFFF">
              <a:alpha val="8000"/>
            </a:srgbClr>
          </a:solidFill>
          <a:ln w="9525">
            <a:solidFill>
              <a:srgbClr val="00D9C0">
                <a:alpha val="60000"/>
              </a:srgbClr>
            </a:solidFill>
            <a:prstDash val="solid"/>
          </a:ln>
        </p:spPr>
      </p:sp>
      <p:sp>
        <p:nvSpPr>
          <p:cNvPr id="31" name="Shape 28"/>
          <p:cNvSpPr/>
          <p:nvPr/>
        </p:nvSpPr>
        <p:spPr>
          <a:xfrm>
            <a:off x="5798668" y="4411980"/>
            <a:ext cx="594360" cy="594360"/>
          </a:xfrm>
          <a:prstGeom prst="ellipse">
            <a:avLst/>
          </a:prstGeom>
          <a:solidFill>
            <a:srgbClr val="00D9C0"/>
          </a:solidFill>
          <a:ln/>
        </p:spPr>
      </p:sp>
      <p:pic>
        <p:nvPicPr>
          <p:cNvPr id="32" name="Image 1" descr="preencoded.png"/>
          <p:cNvPicPr>
            <a:picLocks noChangeAspect="1"/>
          </p:cNvPicPr>
          <p:nvPr/>
        </p:nvPicPr>
        <p:blipFill>
          <a:blip r:embed="rId4"/>
          <a:stretch>
            <a:fillRect/>
          </a:stretch>
        </p:blipFill>
        <p:spPr>
          <a:xfrm>
            <a:off x="5947258" y="4560570"/>
            <a:ext cx="297180" cy="297180"/>
          </a:xfrm>
          <a:prstGeom prst="rect">
            <a:avLst/>
          </a:prstGeom>
        </p:spPr>
      </p:pic>
      <p:sp>
        <p:nvSpPr>
          <p:cNvPr id="33" name="Text 29"/>
          <p:cNvSpPr txBox="1"/>
          <p:nvPr/>
        </p:nvSpPr>
        <p:spPr>
          <a:xfrm>
            <a:off x="4518508" y="5074920"/>
            <a:ext cx="3154680" cy="36576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Contradiction Resolution</a:t>
            </a:r>
            <a:endParaRPr lang="en-US" sz="1350" dirty="0"/>
          </a:p>
        </p:txBody>
      </p:sp>
      <p:sp>
        <p:nvSpPr>
          <p:cNvPr id="34" name="Text 30"/>
          <p:cNvSpPr txBox="1"/>
          <p:nvPr/>
        </p:nvSpPr>
        <p:spPr>
          <a:xfrm>
            <a:off x="4609948" y="5440680"/>
            <a:ext cx="2971800" cy="502920"/>
          </a:xfrm>
          <a:prstGeom prst="rect">
            <a:avLst/>
          </a:prstGeom>
          <a:noFill/>
          <a:ln/>
        </p:spPr>
        <p:txBody>
          <a:bodyPr wrap="square" rtlCol="0" anchor="ctr"/>
          <a:lstStyle/>
          <a:p>
            <a:pPr marL="0" indent="0" algn="ctr">
              <a:buNone/>
            </a:pPr>
            <a:r>
              <a:rPr lang="en-US" sz="1050" dirty="0">
                <a:solidFill>
                  <a:srgbClr val="CADCFC"/>
                </a:solidFill>
                <a:latin typeface="Calibri" pitchFamily="34" charset="0"/>
                <a:ea typeface="Calibri" pitchFamily="34" charset="-122"/>
                <a:cs typeface="Calibri" pitchFamily="34" charset="-120"/>
              </a:rPr>
              <a:t>Knows when old information is no longer true</a:t>
            </a:r>
            <a:endParaRPr lang="en-US" sz="1050" dirty="0"/>
          </a:p>
        </p:txBody>
      </p:sp>
      <p:sp>
        <p:nvSpPr>
          <p:cNvPr id="35" name="Shape 31"/>
          <p:cNvSpPr/>
          <p:nvPr/>
        </p:nvSpPr>
        <p:spPr>
          <a:xfrm>
            <a:off x="8130388" y="4251960"/>
            <a:ext cx="3520440" cy="1737360"/>
          </a:xfrm>
          <a:prstGeom prst="roundRect">
            <a:avLst>
              <a:gd name="adj" fmla="val 5263"/>
            </a:avLst>
          </a:prstGeom>
          <a:solidFill>
            <a:srgbClr val="FFFFFF">
              <a:alpha val="8000"/>
            </a:srgbClr>
          </a:solidFill>
          <a:ln w="9525">
            <a:solidFill>
              <a:srgbClr val="00D9C0">
                <a:alpha val="60000"/>
              </a:srgbClr>
            </a:solidFill>
            <a:prstDash val="solid"/>
          </a:ln>
        </p:spPr>
      </p:sp>
      <p:sp>
        <p:nvSpPr>
          <p:cNvPr id="36" name="Shape 32"/>
          <p:cNvSpPr/>
          <p:nvPr/>
        </p:nvSpPr>
        <p:spPr>
          <a:xfrm>
            <a:off x="9593428" y="4411980"/>
            <a:ext cx="594360" cy="594360"/>
          </a:xfrm>
          <a:prstGeom prst="ellipse">
            <a:avLst/>
          </a:prstGeom>
          <a:solidFill>
            <a:srgbClr val="00D9C0"/>
          </a:solidFill>
          <a:ln/>
        </p:spPr>
      </p:sp>
      <p:pic>
        <p:nvPicPr>
          <p:cNvPr id="37" name="Image 2" descr="preencoded.png"/>
          <p:cNvPicPr>
            <a:picLocks noChangeAspect="1"/>
          </p:cNvPicPr>
          <p:nvPr/>
        </p:nvPicPr>
        <p:blipFill>
          <a:blip r:embed="rId5"/>
          <a:stretch>
            <a:fillRect/>
          </a:stretch>
        </p:blipFill>
        <p:spPr>
          <a:xfrm>
            <a:off x="9742018" y="4560570"/>
            <a:ext cx="297180" cy="297180"/>
          </a:xfrm>
          <a:prstGeom prst="rect">
            <a:avLst/>
          </a:prstGeom>
        </p:spPr>
      </p:pic>
      <p:sp>
        <p:nvSpPr>
          <p:cNvPr id="38" name="Text 33"/>
          <p:cNvSpPr txBox="1"/>
          <p:nvPr/>
        </p:nvSpPr>
        <p:spPr>
          <a:xfrm>
            <a:off x="8313268" y="5074920"/>
            <a:ext cx="3154680" cy="36576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Explainable Memory</a:t>
            </a:r>
            <a:endParaRPr lang="en-US" sz="1350" dirty="0"/>
          </a:p>
        </p:txBody>
      </p:sp>
      <p:sp>
        <p:nvSpPr>
          <p:cNvPr id="39" name="Text 34"/>
          <p:cNvSpPr txBox="1"/>
          <p:nvPr/>
        </p:nvSpPr>
        <p:spPr>
          <a:xfrm>
            <a:off x="8404708" y="5440680"/>
            <a:ext cx="2971800" cy="502920"/>
          </a:xfrm>
          <a:prstGeom prst="rect">
            <a:avLst/>
          </a:prstGeom>
          <a:noFill/>
          <a:ln/>
        </p:spPr>
        <p:txBody>
          <a:bodyPr wrap="square" rtlCol="0" anchor="ctr"/>
          <a:lstStyle/>
          <a:p>
            <a:pPr marL="0" indent="0" algn="ctr">
              <a:buNone/>
            </a:pPr>
            <a:r>
              <a:rPr lang="en-US" sz="1050" dirty="0">
                <a:solidFill>
                  <a:srgbClr val="CADCFC"/>
                </a:solidFill>
                <a:latin typeface="Calibri" pitchFamily="34" charset="0"/>
                <a:ea typeface="Calibri" pitchFamily="34" charset="-122"/>
                <a:cs typeface="Calibri" pitchFamily="34" charset="-120"/>
              </a:rPr>
              <a:t>Shows exactly which memory produced an answer</a:t>
            </a:r>
            <a:endParaRPr lang="en-US" sz="1050" dirty="0"/>
          </a:p>
        </p:txBody>
      </p:sp>
      <p:sp>
        <p:nvSpPr>
          <p:cNvPr id="40" name="Text 35"/>
          <p:cNvSpPr txBox="1"/>
          <p:nvPr/>
        </p:nvSpPr>
        <p:spPr>
          <a:xfrm>
            <a:off x="0" y="6446520"/>
            <a:ext cx="12191695" cy="274320"/>
          </a:xfrm>
          <a:prstGeom prst="rect">
            <a:avLst/>
          </a:prstGeom>
          <a:noFill/>
          <a:ln/>
        </p:spPr>
        <p:txBody>
          <a:bodyPr wrap="square" rtlCol="0" anchor="ctr"/>
          <a:lstStyle/>
          <a:p>
            <a:pPr marL="0" indent="0" algn="ctr">
              <a:buNone/>
            </a:pPr>
            <a:r>
              <a:rPr lang="en-US" sz="1000" b="1" kern="0" spc="300" dirty="0">
                <a:solidFill>
                  <a:srgbClr val="6B6F9E"/>
                </a:solidFill>
                <a:latin typeface="Calibri" pitchFamily="34" charset="0"/>
                <a:ea typeface="Calibri" pitchFamily="34" charset="-122"/>
                <a:cs typeface="Calibri" pitchFamily="34" charset="-120"/>
              </a:rPr>
              <a:t>MEMORA</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1160</Words>
  <Application>Microsoft Office PowerPoint</Application>
  <PresentationFormat>Widescreen</PresentationFormat>
  <Paragraphs>345</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Muzakkir Syed Mohammed</cp:lastModifiedBy>
  <cp:revision>2</cp:revision>
  <dcterms:created xsi:type="dcterms:W3CDTF">2026-09-17T10:38:11Z</dcterms:created>
  <dcterms:modified xsi:type="dcterms:W3CDTF">2026-09-18T04:54:24Z</dcterms:modified>
</cp:coreProperties>
</file>